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1"/>
  </p:notesMasterIdLst>
  <p:handoutMasterIdLst>
    <p:handoutMasterId r:id="rId62"/>
  </p:handoutMasterIdLst>
  <p:sldIdLst>
    <p:sldId id="258" r:id="rId5"/>
    <p:sldId id="303" r:id="rId6"/>
    <p:sldId id="318" r:id="rId7"/>
    <p:sldId id="320" r:id="rId8"/>
    <p:sldId id="259" r:id="rId9"/>
    <p:sldId id="319" r:id="rId10"/>
    <p:sldId id="290" r:id="rId11"/>
    <p:sldId id="263" r:id="rId12"/>
    <p:sldId id="307" r:id="rId13"/>
    <p:sldId id="308" r:id="rId14"/>
    <p:sldId id="351" r:id="rId15"/>
    <p:sldId id="309" r:id="rId16"/>
    <p:sldId id="299" r:id="rId17"/>
    <p:sldId id="315" r:id="rId18"/>
    <p:sldId id="301" r:id="rId19"/>
    <p:sldId id="314" r:id="rId20"/>
    <p:sldId id="310" r:id="rId21"/>
    <p:sldId id="269" r:id="rId22"/>
    <p:sldId id="311" r:id="rId23"/>
    <p:sldId id="271" r:id="rId24"/>
    <p:sldId id="313" r:id="rId25"/>
    <p:sldId id="273" r:id="rId26"/>
    <p:sldId id="312" r:id="rId27"/>
    <p:sldId id="275" r:id="rId28"/>
    <p:sldId id="300" r:id="rId29"/>
    <p:sldId id="277" r:id="rId30"/>
    <p:sldId id="316" r:id="rId31"/>
    <p:sldId id="337" r:id="rId32"/>
    <p:sldId id="327" r:id="rId33"/>
    <p:sldId id="321" r:id="rId34"/>
    <p:sldId id="339" r:id="rId35"/>
    <p:sldId id="341" r:id="rId36"/>
    <p:sldId id="328" r:id="rId37"/>
    <p:sldId id="322" r:id="rId38"/>
    <p:sldId id="340" r:id="rId39"/>
    <p:sldId id="323" r:id="rId40"/>
    <p:sldId id="338" r:id="rId41"/>
    <p:sldId id="325" r:id="rId42"/>
    <p:sldId id="329" r:id="rId43"/>
    <p:sldId id="330" r:id="rId44"/>
    <p:sldId id="326" r:id="rId45"/>
    <p:sldId id="331" r:id="rId46"/>
    <p:sldId id="342" r:id="rId47"/>
    <p:sldId id="343" r:id="rId48"/>
    <p:sldId id="344" r:id="rId49"/>
    <p:sldId id="332" r:id="rId50"/>
    <p:sldId id="333" r:id="rId51"/>
    <p:sldId id="346" r:id="rId52"/>
    <p:sldId id="347" r:id="rId53"/>
    <p:sldId id="348" r:id="rId54"/>
    <p:sldId id="349" r:id="rId55"/>
    <p:sldId id="345" r:id="rId56"/>
    <p:sldId id="335" r:id="rId57"/>
    <p:sldId id="336" r:id="rId58"/>
    <p:sldId id="350" r:id="rId59"/>
    <p:sldId id="317"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E7C72C-15F1-AAEF-BDA2-5A2003A70564}" v="109" dt="2026-01-16T19:04:35.5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954" y="102"/>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notesMaster" Target="notesMasters/notesMaster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830E4C-56B7-2443-B370-610F8D1BCD9C}" type="datetimeFigureOut">
              <a:rPr lang="en-US" smtClean="0"/>
              <a:t>1/26/2026</a:t>
            </a:fld>
            <a:endParaRPr lang="en-US"/>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CD2FD1-B169-9B41-A890-0ECD81C3476C}" type="datetimeFigureOut">
              <a:rPr lang="en-US" smtClean="0"/>
              <a:t>1/26/2026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2</a:t>
            </a:fld>
            <a:endParaRPr lang="en-US"/>
          </a:p>
        </p:txBody>
      </p:sp>
    </p:spTree>
    <p:extLst>
      <p:ext uri="{BB962C8B-B14F-4D97-AF65-F5344CB8AC3E}">
        <p14:creationId xmlns:p14="http://schemas.microsoft.com/office/powerpoint/2010/main" val="3574288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stages</a:t>
            </a:r>
          </a:p>
        </p:txBody>
      </p:sp>
      <p:sp>
        <p:nvSpPr>
          <p:cNvPr id="4" name="Slide Number Placeholder 3"/>
          <p:cNvSpPr>
            <a:spLocks noGrp="1"/>
          </p:cNvSpPr>
          <p:nvPr>
            <p:ph type="sldNum" sz="quarter" idx="5"/>
          </p:nvPr>
        </p:nvSpPr>
        <p:spPr/>
        <p:txBody>
          <a:bodyPr/>
          <a:lstStyle/>
          <a:p>
            <a:fld id="{769943EA-69D9-7E49-97CD-A49926F617C9}" type="slidenum">
              <a:rPr lang="en-US" smtClean="0"/>
              <a:t>3</a:t>
            </a:fld>
            <a:endParaRPr lang="en-US"/>
          </a:p>
        </p:txBody>
      </p:sp>
    </p:spTree>
    <p:extLst>
      <p:ext uri="{BB962C8B-B14F-4D97-AF65-F5344CB8AC3E}">
        <p14:creationId xmlns:p14="http://schemas.microsoft.com/office/powerpoint/2010/main" val="13169414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https://www.extremenetworks.com/resources/blogs/confronting-ai-growing-energy-appetite-part-1</a:t>
            </a:r>
          </a:p>
          <a:p>
            <a:endParaRPr lang="en-US"/>
          </a:p>
          <a:p>
            <a:r>
              <a:rPr lang="en-US" sz="1200" b="0" i="0" kern="1200">
                <a:solidFill>
                  <a:schemeClr val="tx1"/>
                </a:solidFill>
                <a:effectLst/>
                <a:latin typeface="+mn-lt"/>
                <a:ea typeface="+mn-ea"/>
                <a:cs typeface="+mn-cs"/>
              </a:rPr>
              <a:t>Artificial Intelligence (AI) has emerged as an energy-intense application. AI energy usage is growing exponentially, far outpacing hardware efficiency gains. Without advances in "Green AI," this trend drives toward unprecedented high levels of computational energy and carbon emissions. Forecasting suggests computing could consume a substantial </a:t>
            </a:r>
            <a:r>
              <a:rPr lang="en-US" sz="1200" b="1" i="0" kern="1200">
                <a:solidFill>
                  <a:schemeClr val="tx1"/>
                </a:solidFill>
                <a:effectLst/>
                <a:latin typeface="+mn-lt"/>
                <a:ea typeface="+mn-ea"/>
                <a:cs typeface="+mn-cs"/>
              </a:rPr>
              <a:t>20.9% of the world’s total electricity demand by 2030</a:t>
            </a:r>
          </a:p>
          <a:p>
            <a:endParaRPr lang="en-US" sz="1200" b="1" i="0" kern="1200">
              <a:solidFill>
                <a:schemeClr val="tx1"/>
              </a:solidFill>
              <a:effectLst/>
              <a:latin typeface="+mn-lt"/>
              <a:ea typeface="+mn-ea"/>
              <a:cs typeface="+mn-cs"/>
            </a:endParaRPr>
          </a:p>
          <a:p>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The training energy of state-of-the-art AI models continues to </a:t>
            </a:r>
            <a:r>
              <a:rPr lang="en-US" sz="1200" b="1" i="0" kern="1200">
                <a:solidFill>
                  <a:schemeClr val="tx1"/>
                </a:solidFill>
                <a:effectLst/>
                <a:latin typeface="+mn-lt"/>
                <a:ea typeface="+mn-ea"/>
                <a:cs typeface="+mn-cs"/>
              </a:rPr>
              <a:t>double in both CO2 emissions and energy consumption every four to six months</a:t>
            </a:r>
            <a:r>
              <a:rPr lang="en-US" sz="1200" b="0" i="0" kern="1200">
                <a:solidFill>
                  <a:schemeClr val="tx1"/>
                </a:solidFill>
                <a:effectLst/>
                <a:latin typeface="+mn-lt"/>
                <a:ea typeface="+mn-ea"/>
                <a:cs typeface="+mn-cs"/>
              </a:rPr>
              <a:t>. Increasing parameter counts, topological complexity, and training data aim for improved accuracy, but these gains come at the cost of higher energy use, greater carbon emissions, and longer development times</a:t>
            </a:r>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5</a:t>
            </a:fld>
            <a:endParaRPr lang="en-US"/>
          </a:p>
        </p:txBody>
      </p:sp>
    </p:spTree>
    <p:extLst>
      <p:ext uri="{BB962C8B-B14F-4D97-AF65-F5344CB8AC3E}">
        <p14:creationId xmlns:p14="http://schemas.microsoft.com/office/powerpoint/2010/main" val="132035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D8CEC-D181-8C4D-B084-231477BF0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6742B1-1279-27CA-73B1-24FE3EB84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E7ADB-B2F6-56A4-501A-150901FC2422}"/>
              </a:ext>
            </a:extLst>
          </p:cNvPr>
          <p:cNvSpPr>
            <a:spLocks noGrp="1"/>
          </p:cNvSpPr>
          <p:nvPr>
            <p:ph type="body" idx="1"/>
          </p:nvPr>
        </p:nvSpPr>
        <p:spPr/>
        <p:txBody>
          <a:bodyPr/>
          <a:lstStyle/>
          <a:p>
            <a:r>
              <a:rPr lang="en-US"/>
              <a:t>SUP: Sparse matrix representation</a:t>
            </a:r>
          </a:p>
        </p:txBody>
      </p:sp>
      <p:sp>
        <p:nvSpPr>
          <p:cNvPr id="4" name="Slide Number Placeholder 3">
            <a:extLst>
              <a:ext uri="{FF2B5EF4-FFF2-40B4-BE49-F238E27FC236}">
                <a16:creationId xmlns:a16="http://schemas.microsoft.com/office/drawing/2014/main" id="{93A30590-4035-F45D-3684-732D531D9A20}"/>
              </a:ext>
            </a:extLst>
          </p:cNvPr>
          <p:cNvSpPr>
            <a:spLocks noGrp="1"/>
          </p:cNvSpPr>
          <p:nvPr>
            <p:ph type="sldNum" sz="quarter" idx="5"/>
          </p:nvPr>
        </p:nvSpPr>
        <p:spPr/>
        <p:txBody>
          <a:bodyPr/>
          <a:lstStyle/>
          <a:p>
            <a:fld id="{769943EA-69D9-7E49-97CD-A49926F617C9}" type="slidenum">
              <a:rPr lang="en-US" smtClean="0"/>
              <a:t>9</a:t>
            </a:fld>
            <a:endParaRPr lang="en-US"/>
          </a:p>
        </p:txBody>
      </p:sp>
    </p:spTree>
    <p:extLst>
      <p:ext uri="{BB962C8B-B14F-4D97-AF65-F5344CB8AC3E}">
        <p14:creationId xmlns:p14="http://schemas.microsoft.com/office/powerpoint/2010/main" val="22230639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299A-16B5-9D6F-5CBE-1B29739E9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7D4D8-10EC-180C-B81B-AE9ADFD6F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E1EB4-D061-5B43-B195-D726E0D4F653}"/>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A8B8940A-4AF4-BAE1-4F51-7B2A62217FB1}"/>
              </a:ext>
            </a:extLst>
          </p:cNvPr>
          <p:cNvSpPr>
            <a:spLocks noGrp="1"/>
          </p:cNvSpPr>
          <p:nvPr>
            <p:ph type="sldNum" sz="quarter" idx="5"/>
          </p:nvPr>
        </p:nvSpPr>
        <p:spPr/>
        <p:txBody>
          <a:bodyPr/>
          <a:lstStyle/>
          <a:p>
            <a:fld id="{769943EA-69D9-7E49-97CD-A49926F617C9}" type="slidenum">
              <a:rPr lang="en-US" smtClean="0"/>
              <a:t>10</a:t>
            </a:fld>
            <a:endParaRPr lang="en-US"/>
          </a:p>
        </p:txBody>
      </p:sp>
    </p:spTree>
    <p:extLst>
      <p:ext uri="{BB962C8B-B14F-4D97-AF65-F5344CB8AC3E}">
        <p14:creationId xmlns:p14="http://schemas.microsoft.com/office/powerpoint/2010/main" val="337249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show similar groupings</a:t>
            </a:r>
          </a:p>
        </p:txBody>
      </p:sp>
      <p:sp>
        <p:nvSpPr>
          <p:cNvPr id="4" name="Slide Number Placeholder 3"/>
          <p:cNvSpPr>
            <a:spLocks noGrp="1"/>
          </p:cNvSpPr>
          <p:nvPr>
            <p:ph type="sldNum" sz="quarter" idx="5"/>
          </p:nvPr>
        </p:nvSpPr>
        <p:spPr/>
        <p:txBody>
          <a:bodyPr/>
          <a:lstStyle/>
          <a:p>
            <a:fld id="{769943EA-69D9-7E49-97CD-A49926F617C9}" type="slidenum">
              <a:rPr lang="en-US" smtClean="0"/>
              <a:t>13</a:t>
            </a:fld>
            <a:endParaRPr lang="en-US"/>
          </a:p>
        </p:txBody>
      </p:sp>
    </p:spTree>
    <p:extLst>
      <p:ext uri="{BB962C8B-B14F-4D97-AF65-F5344CB8AC3E}">
        <p14:creationId xmlns:p14="http://schemas.microsoft.com/office/powerpoint/2010/main" val="228281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SUP: model vs NN</a:t>
            </a:r>
          </a:p>
        </p:txBody>
      </p:sp>
      <p:sp>
        <p:nvSpPr>
          <p:cNvPr id="4" name="Slide Number Placeholder 3"/>
          <p:cNvSpPr>
            <a:spLocks noGrp="1"/>
          </p:cNvSpPr>
          <p:nvPr>
            <p:ph type="sldNum" sz="quarter" idx="5"/>
          </p:nvPr>
        </p:nvSpPr>
        <p:spPr/>
        <p:txBody>
          <a:bodyPr/>
          <a:lstStyle/>
          <a:p>
            <a:fld id="{769943EA-69D9-7E49-97CD-A49926F617C9}" type="slidenum">
              <a:rPr lang="en-US" smtClean="0"/>
              <a:t>15</a:t>
            </a:fld>
            <a:endParaRPr lang="en-US"/>
          </a:p>
        </p:txBody>
      </p:sp>
    </p:spTree>
    <p:extLst>
      <p:ext uri="{BB962C8B-B14F-4D97-AF65-F5344CB8AC3E}">
        <p14:creationId xmlns:p14="http://schemas.microsoft.com/office/powerpoint/2010/main" val="98591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annotation</a:t>
            </a:r>
          </a:p>
        </p:txBody>
      </p:sp>
      <p:sp>
        <p:nvSpPr>
          <p:cNvPr id="4" name="Slide Number Placeholder 3"/>
          <p:cNvSpPr>
            <a:spLocks noGrp="1"/>
          </p:cNvSpPr>
          <p:nvPr>
            <p:ph type="sldNum" sz="quarter" idx="5"/>
          </p:nvPr>
        </p:nvSpPr>
        <p:spPr/>
        <p:txBody>
          <a:bodyPr/>
          <a:lstStyle/>
          <a:p>
            <a:fld id="{769943EA-69D9-7E49-97CD-A49926F617C9}" type="slidenum">
              <a:rPr lang="en-US" smtClean="0"/>
              <a:t>18</a:t>
            </a:fld>
            <a:endParaRPr lang="en-US"/>
          </a:p>
        </p:txBody>
      </p:sp>
    </p:spTree>
    <p:extLst>
      <p:ext uri="{BB962C8B-B14F-4D97-AF65-F5344CB8AC3E}">
        <p14:creationId xmlns:p14="http://schemas.microsoft.com/office/powerpoint/2010/main" val="30115169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22</a:t>
            </a:fld>
            <a:endParaRPr lang="en-US"/>
          </a:p>
        </p:txBody>
      </p:sp>
    </p:spTree>
    <p:extLst>
      <p:ext uri="{BB962C8B-B14F-4D97-AF65-F5344CB8AC3E}">
        <p14:creationId xmlns:p14="http://schemas.microsoft.com/office/powerpoint/2010/main" val="672098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AFD6-0FAB-A0DC-35C9-E573304B45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13E44-F439-FFAC-BDCC-0E0D9DC8F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92634-E6DD-3AEC-C510-36A3806104D0}"/>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EB827E66-2B92-8EE6-F37E-62A48B5A4998}"/>
              </a:ext>
            </a:extLst>
          </p:cNvPr>
          <p:cNvSpPr>
            <a:spLocks noGrp="1"/>
          </p:cNvSpPr>
          <p:nvPr>
            <p:ph type="sldNum" sz="quarter" idx="5"/>
          </p:nvPr>
        </p:nvSpPr>
        <p:spPr/>
        <p:txBody>
          <a:bodyPr/>
          <a:lstStyle/>
          <a:p>
            <a:fld id="{769943EA-69D9-7E49-97CD-A49926F617C9}" type="slidenum">
              <a:rPr lang="en-US" smtClean="0"/>
              <a:t>27</a:t>
            </a:fld>
            <a:endParaRPr lang="en-US"/>
          </a:p>
        </p:txBody>
      </p:sp>
    </p:spTree>
    <p:extLst>
      <p:ext uri="{BB962C8B-B14F-4D97-AF65-F5344CB8AC3E}">
        <p14:creationId xmlns:p14="http://schemas.microsoft.com/office/powerpoint/2010/main" val="32577198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10354360" cy="1843238"/>
          </a:xfrm>
        </p:spPr>
        <p:txBody>
          <a:bodyPr lIns="0" tIns="0" rIns="0" bIns="0" anchor="t" anchorCtr="0">
            <a:normAutofit/>
          </a:bodyPr>
          <a:lstStyle>
            <a:lvl1pPr algn="l">
              <a:defRPr sz="6000" b="1">
                <a:solidFill>
                  <a:schemeClr val="bg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a:t>
            </a:r>
            <a:br>
              <a:rPr lang="en-US"/>
            </a:br>
            <a:r>
              <a:rPr lang="en-US"/>
              <a:t>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10354360" cy="407460"/>
          </a:xfrm>
        </p:spPr>
        <p:txBody>
          <a:bodyPr lIns="0" tIns="0" rIns="0" bIns="0"/>
          <a:lstStyle>
            <a:lvl1pPr marL="0" indent="0" algn="l">
              <a:buNone/>
              <a:defRPr sz="2400" b="1">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148794"/>
            <a:ext cx="10354360" cy="463108"/>
          </a:xfrm>
        </p:spPr>
        <p:txBody>
          <a:bodyPr lIns="0" tIns="0" rIns="0" bIns="0">
            <a:normAutofit/>
          </a:bodyPr>
          <a:lstStyle>
            <a:lvl1pPr marL="0" indent="0">
              <a:buNone/>
              <a:defRPr sz="2400">
                <a:solidFill>
                  <a:schemeClr val="bg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10376585" cy="365125"/>
          </a:xfrm>
          <a:prstGeom prst="rect">
            <a:avLst/>
          </a:prstGeom>
          <a:noFill/>
        </p:spPr>
        <p:txBody>
          <a:bodyPr vert="horz" lIns="0" tIns="0" rIns="0" bIns="0" rtlCol="0" anchor="ctr"/>
          <a:lstStyle>
            <a:lvl1pPr algn="l">
              <a:defRPr sz="22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2" name="Picture 11" descr="The University of Iowa">
            <a:extLst>
              <a:ext uri="{FF2B5EF4-FFF2-40B4-BE49-F238E27FC236}">
                <a16:creationId xmlns:a16="http://schemas.microsoft.com/office/drawing/2014/main" id="{A096FDD2-3609-3C49-9ED5-616F9E36DB07}"/>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3" name="Slide Number Placeholder 2">
            <a:extLst>
              <a:ext uri="{FF2B5EF4-FFF2-40B4-BE49-F238E27FC236}">
                <a16:creationId xmlns:a16="http://schemas.microsoft.com/office/drawing/2014/main" id="{DBEEDFE2-0F2F-5B5E-EF0E-1C268052549B}"/>
              </a:ext>
            </a:extLst>
          </p:cNvPr>
          <p:cNvSpPr>
            <a:spLocks noGrp="1"/>
          </p:cNvSpPr>
          <p:nvPr>
            <p:ph type="sldNum" sz="quarter" idx="11"/>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35599010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60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9144000" cy="1843238"/>
          </a:xfrm>
        </p:spPr>
        <p:txBody>
          <a:bodyPr lIns="0" tIns="0" rIns="0" bIns="0" anchor="t" anchorCtr="0">
            <a:normAutofit/>
          </a:bodyPr>
          <a:lstStyle>
            <a:lvl1pPr algn="l">
              <a:defRPr sz="6000" b="1">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9144000" cy="407460"/>
          </a:xfrm>
        </p:spPr>
        <p:txBody>
          <a:bodyPr lIns="0" tIns="0" rIns="0" bIns="0"/>
          <a:lstStyle>
            <a:lvl1pPr marL="0" indent="0" algn="l">
              <a:buNone/>
              <a:defRPr sz="2400" b="1">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087150"/>
            <a:ext cx="9144000" cy="463108"/>
          </a:xfrm>
        </p:spPr>
        <p:txBody>
          <a:bodyPr lIns="0" tIns="0" rIns="0" bIns="0">
            <a:normAutofit/>
          </a:bodyPr>
          <a:lstStyle>
            <a:lvl1pPr marL="0" indent="0">
              <a:buNone/>
              <a:defRPr sz="2400">
                <a:solidFill>
                  <a:schemeClr val="tx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9166225" cy="365125"/>
          </a:xfrm>
          <a:prstGeom prst="rect">
            <a:avLst/>
          </a:prstGeom>
          <a:noFill/>
        </p:spPr>
        <p:txBody>
          <a:bodyPr vert="horz" lIns="0" tIns="0" rIns="0" bIns="0" rtlCol="0" anchor="ctr"/>
          <a:lstStyle>
            <a:lvl1pPr algn="l">
              <a:defRPr sz="22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0" name="Picture 9">
            <a:extLst>
              <a:ext uri="{FF2B5EF4-FFF2-40B4-BE49-F238E27FC236}">
                <a16:creationId xmlns:a16="http://schemas.microsoft.com/office/drawing/2014/main" id="{4A685527-7A8C-3647-9D96-6D076FA7A7CE}"/>
              </a:ext>
            </a:extLst>
          </p:cNvPr>
          <p:cNvPicPr>
            <a:picLocks noChangeAspect="1"/>
          </p:cNvPicPr>
          <p:nvPr userDrawn="1"/>
        </p:nvPicPr>
        <p:blipFill>
          <a:blip r:embed="rId2"/>
          <a:srcRect/>
          <a:stretch/>
        </p:blipFill>
        <p:spPr>
          <a:xfrm>
            <a:off x="8628383" y="0"/>
            <a:ext cx="2687038" cy="1279542"/>
          </a:xfrm>
          <a:prstGeom prst="rect">
            <a:avLst/>
          </a:prstGeom>
        </p:spPr>
      </p:pic>
      <p:sp>
        <p:nvSpPr>
          <p:cNvPr id="3" name="Slide Number Placeholder 2">
            <a:extLst>
              <a:ext uri="{FF2B5EF4-FFF2-40B4-BE49-F238E27FC236}">
                <a16:creationId xmlns:a16="http://schemas.microsoft.com/office/drawing/2014/main" id="{981548D1-6E27-E627-6E48-03CB3EE838E3}"/>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1" orient="horz" pos="2160">
          <p15:clr>
            <a:srgbClr val="FBAE40"/>
          </p15:clr>
        </p15:guide>
        <p15:guide id="2" pos="60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Image–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431224"/>
          </a:xfrm>
        </p:spPr>
        <p:txBody>
          <a:bodyPr anchor="ctr" anchorCtr="0">
            <a:normAutofit/>
          </a:bodyPr>
          <a:lstStyle>
            <a:lvl1pPr algn="l">
              <a:defRPr sz="5500" b="1">
                <a:solidFill>
                  <a:schemeClr val="bg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12" name="Subtitle 2">
            <a:extLst>
              <a:ext uri="{FF2B5EF4-FFF2-40B4-BE49-F238E27FC236}">
                <a16:creationId xmlns:a16="http://schemas.microsoft.com/office/drawing/2014/main" id="{114C79AA-0B96-2A43-86A1-A71A1D4C8E7A}"/>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4" name="Text Placeholder 15">
            <a:extLst>
              <a:ext uri="{FF2B5EF4-FFF2-40B4-BE49-F238E27FC236}">
                <a16:creationId xmlns:a16="http://schemas.microsoft.com/office/drawing/2014/main" id="{A7101AB8-54F7-4A4E-9611-F4F2ECFBD1D2}"/>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9" name="Footer Placeholder 4">
            <a:extLst>
              <a:ext uri="{FF2B5EF4-FFF2-40B4-BE49-F238E27FC236}">
                <a16:creationId xmlns:a16="http://schemas.microsoft.com/office/drawing/2014/main" id="{3BDD4F96-5BFE-3049-B4E0-9CDD4F5C3615}"/>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endParaRPr lang="en-US">
              <a:solidFill>
                <a:schemeClr val="bg1"/>
              </a:solidFill>
            </a:endParaRPr>
          </a:p>
        </p:txBody>
      </p:sp>
      <p:pic>
        <p:nvPicPr>
          <p:cNvPr id="13" name="Picture 12">
            <a:extLst>
              <a:ext uri="{FF2B5EF4-FFF2-40B4-BE49-F238E27FC236}">
                <a16:creationId xmlns:a16="http://schemas.microsoft.com/office/drawing/2014/main" id="{F49CB936-90E7-D144-B9DC-7CF3F98E2FF4}"/>
              </a:ext>
            </a:extLst>
          </p:cNvPr>
          <p:cNvPicPr>
            <a:picLocks noChangeAspect="1"/>
          </p:cNvPicPr>
          <p:nvPr userDrawn="1"/>
        </p:nvPicPr>
        <p:blipFill>
          <a:blip r:embed="rId2"/>
          <a:srcRect/>
          <a:stretch/>
        </p:blipFill>
        <p:spPr>
          <a:xfrm>
            <a:off x="947738" y="1599"/>
            <a:ext cx="2687038" cy="1276343"/>
          </a:xfrm>
          <a:prstGeom prst="rect">
            <a:avLst/>
          </a:prstGeom>
        </p:spPr>
      </p:pic>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bg1"/>
                </a:solidFill>
                <a:latin typeface="Arial" panose="020B0604020202020204" pitchFamily="34" charset="0"/>
              </a:defRPr>
            </a:lvl1pPr>
          </a:lstStyle>
          <a:p>
            <a:r>
              <a:rPr lang="en-US"/>
              <a:t>Click icon to add picture</a:t>
            </a:r>
          </a:p>
        </p:txBody>
      </p:sp>
      <p:sp>
        <p:nvSpPr>
          <p:cNvPr id="3" name="Slide Number Placeholder 2">
            <a:extLst>
              <a:ext uri="{FF2B5EF4-FFF2-40B4-BE49-F238E27FC236}">
                <a16:creationId xmlns:a16="http://schemas.microsoft.com/office/drawing/2014/main" id="{EDAB83F4-9689-9B2B-AC0B-A64F1ADA154E}"/>
              </a:ext>
            </a:extLst>
          </p:cNvPr>
          <p:cNvSpPr>
            <a:spLocks noGrp="1"/>
          </p:cNvSpPr>
          <p:nvPr>
            <p:ph type="sldNum" sz="quarter" idx="12"/>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1509413788"/>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Image–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561760"/>
          </a:xfrm>
        </p:spPr>
        <p:txBody>
          <a:bodyPr anchor="ctr" anchorCtr="0">
            <a:normAutofit/>
          </a:bodyPr>
          <a:lstStyle>
            <a:lvl1pPr algn="l">
              <a:defRPr sz="5500" b="1">
                <a:solidFill>
                  <a:schemeClr val="tx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3" name="Subtitle 2">
            <a:extLst>
              <a:ext uri="{FF2B5EF4-FFF2-40B4-BE49-F238E27FC236}">
                <a16:creationId xmlns:a16="http://schemas.microsoft.com/office/drawing/2014/main" id="{95B3A797-13D4-A243-B1AE-4498B36D475C}"/>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7" name="Text Placeholder 15">
            <a:extLst>
              <a:ext uri="{FF2B5EF4-FFF2-40B4-BE49-F238E27FC236}">
                <a16:creationId xmlns:a16="http://schemas.microsoft.com/office/drawing/2014/main" id="{884DA5E7-4B71-0543-8E46-EC2A81EAE3C1}"/>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8" name="Footer Placeholder 4">
            <a:extLst>
              <a:ext uri="{FF2B5EF4-FFF2-40B4-BE49-F238E27FC236}">
                <a16:creationId xmlns:a16="http://schemas.microsoft.com/office/drawing/2014/main" id="{6EBCADCB-4DBB-9C43-A696-780C05775738}"/>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pic>
        <p:nvPicPr>
          <p:cNvPr id="13" name="Picture 12">
            <a:extLst>
              <a:ext uri="{FF2B5EF4-FFF2-40B4-BE49-F238E27FC236}">
                <a16:creationId xmlns:a16="http://schemas.microsoft.com/office/drawing/2014/main" id="{D73F5E00-2329-6246-A2BB-7BCD46F83907}"/>
              </a:ext>
            </a:extLst>
          </p:cNvPr>
          <p:cNvPicPr>
            <a:picLocks noChangeAspect="1"/>
          </p:cNvPicPr>
          <p:nvPr userDrawn="1"/>
        </p:nvPicPr>
        <p:blipFill>
          <a:blip r:embed="rId2"/>
          <a:srcRect/>
          <a:stretch/>
        </p:blipFill>
        <p:spPr>
          <a:xfrm>
            <a:off x="947738" y="0"/>
            <a:ext cx="2687038" cy="1279542"/>
          </a:xfrm>
          <a:prstGeom prst="rect">
            <a:avLst/>
          </a:prstGeom>
        </p:spPr>
      </p:pic>
      <p:sp>
        <p:nvSpPr>
          <p:cNvPr id="4" name="Slide Number Placeholder 3">
            <a:extLst>
              <a:ext uri="{FF2B5EF4-FFF2-40B4-BE49-F238E27FC236}">
                <a16:creationId xmlns:a16="http://schemas.microsoft.com/office/drawing/2014/main" id="{3D7DE2A5-3721-D434-DA10-719B0240A26C}"/>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39209882"/>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rm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288E68DF-CD6D-A951-12EF-C2EDB59174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7"/>
          </a:xfrm>
        </p:spPr>
        <p:txBody>
          <a:bodyPr lIns="0" tIns="0" rIns="0" bIns="0" anchor="t" anchorCtr="0">
            <a:norm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noProof="0"/>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Subtitle 2">
            <a:extLst>
              <a:ext uri="{FF2B5EF4-FFF2-40B4-BE49-F238E27FC236}">
                <a16:creationId xmlns:a16="http://schemas.microsoft.com/office/drawing/2014/main" id="{8FB54BE8-0526-614C-A06E-8C6258999B24}"/>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EB3DB1A8-F3AB-2B22-9BF2-99C42B89CE78}"/>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5092828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600">
          <p15:clr>
            <a:srgbClr val="FBAE40"/>
          </p15:clr>
        </p15:guide>
        <p15:guide id="4" pos="70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 Photo">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2C17923A-4119-CF48-9F2D-05B0A69EBAD5}"/>
              </a:ext>
            </a:extLst>
          </p:cNvPr>
          <p:cNvSpPr>
            <a:spLocks noGrp="1"/>
          </p:cNvSpPr>
          <p:nvPr>
            <p:ph type="pic" sz="quarter" idx="11"/>
          </p:nvPr>
        </p:nvSpPr>
        <p:spPr>
          <a:xfrm>
            <a:off x="0" y="0"/>
            <a:ext cx="12192000" cy="6858000"/>
          </a:xfrm>
        </p:spPr>
        <p:txBody>
          <a:bodyPr anchor="ctr" anchorCtr="0"/>
          <a:lstStyle>
            <a:lvl1pPr marL="0" indent="0" algn="ctr">
              <a:buNone/>
              <a:defRPr>
                <a:solidFill>
                  <a:schemeClr val="accent3"/>
                </a:solidFill>
              </a:defRPr>
            </a:lvl1pPr>
          </a:lstStyle>
          <a:p>
            <a:r>
              <a:rPr lang="en-US"/>
              <a:t>Click icon to add picture</a:t>
            </a:r>
          </a:p>
        </p:txBody>
      </p:sp>
      <p:sp>
        <p:nvSpPr>
          <p:cNvPr id="2" name="Title 1">
            <a:extLst>
              <a:ext uri="{FF2B5EF4-FFF2-40B4-BE49-F238E27FC236}">
                <a16:creationId xmlns:a16="http://schemas.microsoft.com/office/drawing/2014/main" id="{D8224488-0ADE-1843-91C1-1CA371373F2D}"/>
              </a:ext>
            </a:extLst>
          </p:cNvPr>
          <p:cNvSpPr>
            <a:spLocks noGrp="1"/>
          </p:cNvSpPr>
          <p:nvPr>
            <p:ph type="title" hasCustomPrompt="1"/>
          </p:nvPr>
        </p:nvSpPr>
        <p:spPr>
          <a:xfrm>
            <a:off x="1027661" y="2215171"/>
            <a:ext cx="4368798" cy="646331"/>
          </a:xfrm>
          <a:solidFill>
            <a:schemeClr val="accent1"/>
          </a:solidFill>
        </p:spPr>
        <p:txBody>
          <a:bodyPr wrap="square" lIns="91440" tIns="91440" bIns="0">
            <a:spAutoFit/>
          </a:bodyPr>
          <a:lstStyle/>
          <a:p>
            <a:r>
              <a:rPr lang="en-US"/>
              <a:t>SECTION HEADER</a:t>
            </a:r>
          </a:p>
        </p:txBody>
      </p:sp>
      <p:sp>
        <p:nvSpPr>
          <p:cNvPr id="3" name="Slide Number Placeholder 2">
            <a:extLst>
              <a:ext uri="{FF2B5EF4-FFF2-40B4-BE49-F238E27FC236}">
                <a16:creationId xmlns:a16="http://schemas.microsoft.com/office/drawing/2014/main" id="{46F3B462-4517-FB3A-2DBB-733BF997B535}"/>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88073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070F21D-F194-034E-812B-69D1C6CDD0D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4" name="Straight Connector 23">
            <a:extLst>
              <a:ext uri="{FF2B5EF4-FFF2-40B4-BE49-F238E27FC236}">
                <a16:creationId xmlns:a16="http://schemas.microsoft.com/office/drawing/2014/main" id="{9BA13FBC-A4AA-9B4F-8E9B-12CD6600150E}"/>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22C1D3A-9762-7F4D-AB5C-A3F0114B67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6" name="Picture 15" descr="The University of Iowa">
            <a:extLst>
              <a:ext uri="{FF2B5EF4-FFF2-40B4-BE49-F238E27FC236}">
                <a16:creationId xmlns:a16="http://schemas.microsoft.com/office/drawing/2014/main" id="{7148CCDA-64E4-6A4E-A6A7-D2AB55159A1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FAE079D-23CF-2543-B543-90A5EB0D2C2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6C1AE5E7-F95C-862E-7E40-048B067529C1}"/>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833841"/>
      </p:ext>
    </p:extLst>
  </p:cSld>
  <p:clrMapOvr>
    <a:masterClrMapping/>
  </p:clrMapOvr>
  <p:extLst>
    <p:ext uri="{DCECCB84-F9BA-43D5-87BE-67443E8EF086}">
      <p15:sldGuideLst xmlns:p15="http://schemas.microsoft.com/office/powerpoint/2012/main">
        <p15:guide id="1" orient="horz" pos="696">
          <p15:clr>
            <a:srgbClr val="FBAE40"/>
          </p15:clr>
        </p15:guide>
        <p15:guide id="2" pos="600">
          <p15:clr>
            <a:srgbClr val="FBAE40"/>
          </p15:clr>
        </p15:guide>
        <p15:guide id="3" pos="7080">
          <p15:clr>
            <a:srgbClr val="FBAE40"/>
          </p15:clr>
        </p15:guide>
        <p15:guide id="4" pos="3840">
          <p15:clr>
            <a:srgbClr val="FBAE40"/>
          </p15:clr>
        </p15:guide>
        <p15:guide id="5" orient="horz" pos="1056">
          <p15:clr>
            <a:srgbClr val="FBAE40"/>
          </p15:clr>
        </p15:guide>
        <p15:guide id="7" orient="horz" pos="2400" userDrawn="1">
          <p15:clr>
            <a:srgbClr val="FBAE40"/>
          </p15:clr>
        </p15:guide>
        <p15:guide id="8" orient="horz" pos="3744"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0" name="Straight Connector 19">
            <a:extLst>
              <a:ext uri="{FF2B5EF4-FFF2-40B4-BE49-F238E27FC236}">
                <a16:creationId xmlns:a16="http://schemas.microsoft.com/office/drawing/2014/main" id="{88200BB2-D6D1-6642-8F66-9B4F37EC8187}"/>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F35C2BC9-7AF3-6D49-8036-36D81872E84B}"/>
              </a:ext>
            </a:extLst>
          </p:cNvPr>
          <p:cNvSpPr>
            <a:spLocks noGrp="1"/>
          </p:cNvSpPr>
          <p:nvPr>
            <p:ph idx="10"/>
          </p:nvPr>
        </p:nvSpPr>
        <p:spPr>
          <a:xfrm>
            <a:off x="952498" y="1686757"/>
            <a:ext cx="10251527"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80937044-371D-C149-9F72-3D8FBA4605C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DC5F3A3D-928C-F445-ACB3-2C38F21F6DA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52F140A7-DF6E-3245-BC22-1F0E9CFEE8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EDDAD99-4BCE-9D39-BA82-E284BE9177AF}"/>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696" userDrawn="1">
          <p15:clr>
            <a:srgbClr val="FBAE40"/>
          </p15:clr>
        </p15:guide>
        <p15:guide id="2" pos="600" userDrawn="1">
          <p15:clr>
            <a:srgbClr val="FBAE40"/>
          </p15:clr>
        </p15:guide>
        <p15:guide id="3" pos="7080" userDrawn="1">
          <p15:clr>
            <a:srgbClr val="FBAE40"/>
          </p15:clr>
        </p15:guide>
        <p15:guide id="4" pos="3840" userDrawn="1">
          <p15:clr>
            <a:srgbClr val="FBAE40"/>
          </p15:clr>
        </p15:guide>
        <p15:guide id="5" orient="horz" pos="1056" userDrawn="1">
          <p15:clr>
            <a:srgbClr val="FBAE40"/>
          </p15:clr>
        </p15:guide>
        <p15:guide id="7" orient="horz" pos="3744" userDrawn="1">
          <p15:clr>
            <a:srgbClr val="FBAE40"/>
          </p15:clr>
        </p15:guide>
        <p15:guide id="8" orient="horz" pos="240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Bullet Slide - 2 Lin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hasCustomPrompt="1"/>
          </p:nvPr>
        </p:nvSpPr>
        <p:spPr>
          <a:xfrm>
            <a:off x="952500" y="389509"/>
            <a:ext cx="10287000" cy="1331865"/>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 </a:t>
            </a:r>
            <a:br>
              <a:rPr lang="en-US"/>
            </a:br>
            <a:r>
              <a:rPr lang="en-US"/>
              <a:t>that runs to two lines</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ACD2525-98F9-924C-B8E5-083B38E28238}"/>
              </a:ext>
            </a:extLst>
          </p:cNvPr>
          <p:cNvSpPr>
            <a:spLocks noGrp="1"/>
          </p:cNvSpPr>
          <p:nvPr>
            <p:ph idx="1"/>
          </p:nvPr>
        </p:nvSpPr>
        <p:spPr>
          <a:xfrm>
            <a:off x="952500" y="2050741"/>
            <a:ext cx="10287000" cy="3892859"/>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7995AAAF-3BA6-4445-BF32-09164447961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0AA5F87C-9826-7441-9CF2-6F364BF7D9C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8678EF36-A6E8-DB4E-8C3A-B3624ECEE498}"/>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4" name="Slide Number Placeholder 3">
            <a:extLst>
              <a:ext uri="{FF2B5EF4-FFF2-40B4-BE49-F238E27FC236}">
                <a16:creationId xmlns:a16="http://schemas.microsoft.com/office/drawing/2014/main" id="{E5984168-1890-42B7-2F95-65F2396EFB2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796336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3840" userDrawn="1">
          <p15:clr>
            <a:srgbClr val="FBAE40"/>
          </p15:clr>
        </p15:guide>
        <p15:guide id="3" pos="600" userDrawn="1">
          <p15:clr>
            <a:srgbClr val="FBAE40"/>
          </p15:clr>
        </p15:guide>
        <p15:guide id="4" pos="7080" userDrawn="1">
          <p15:clr>
            <a:srgbClr val="FBAE40"/>
          </p15:clr>
        </p15:guide>
        <p15:guide id="8"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Text Layou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4800219"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664346"/>
            <a:ext cx="4800224"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86758"/>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C8B99253-B000-1442-A7D2-EB536C15CBCB}"/>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8" name="Picture 17" descr="The University of Iowa">
            <a:extLst>
              <a:ext uri="{FF2B5EF4-FFF2-40B4-BE49-F238E27FC236}">
                <a16:creationId xmlns:a16="http://schemas.microsoft.com/office/drawing/2014/main" id="{A96F9427-B9C2-6F44-ADD6-28635EDF4B2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45D918E3-A228-4F47-B892-288E22CD6CB2}"/>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953AA63-24A7-BA03-FD7C-51EFC52A9F84}"/>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 Text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1686756"/>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2674396"/>
            <a:ext cx="2973372"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168675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2674396"/>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2944143A-0CC6-6041-BD38-4C994DA8E0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3" name="Picture 22" descr="The University of Iowa">
            <a:extLst>
              <a:ext uri="{FF2B5EF4-FFF2-40B4-BE49-F238E27FC236}">
                <a16:creationId xmlns:a16="http://schemas.microsoft.com/office/drawing/2014/main" id="{529638AC-0ED3-DE46-BC83-28B1D845EE0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642FB62D-41EB-7A41-B0D2-60C8BB6A316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10CF93-D03B-C8A5-E03C-C72C92252EDC}"/>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51774748"/>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guide id="4" pos="3840" userDrawn="1">
          <p15:clr>
            <a:srgbClr val="FBAE40"/>
          </p15:clr>
        </p15:guide>
        <p15:guide id="5" orient="horz" pos="1054" userDrawn="1">
          <p15:clr>
            <a:srgbClr val="FBAE40"/>
          </p15:clr>
        </p15:guide>
        <p15:guide id="7" orient="horz" pos="3744" userDrawn="1">
          <p15:clr>
            <a:srgbClr val="FBAE40"/>
          </p15:clr>
        </p15:guide>
        <p15:guide id="8" orient="horz" pos="697" userDrawn="1">
          <p15:clr>
            <a:srgbClr val="FBAE40"/>
          </p15:clr>
        </p15:guide>
        <p15:guide id="9" orient="horz" pos="240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 Text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52425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3737133"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3737134"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6306107"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6306108"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6741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8875080" y="167670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8875081" y="2664346"/>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55DF11BA-BD6E-E14D-A115-587308DBF4A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178B6A3E-B578-0F40-9695-2E975D126F8E}"/>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3" name="Footer Placeholder 4">
            <a:extLst>
              <a:ext uri="{FF2B5EF4-FFF2-40B4-BE49-F238E27FC236}">
                <a16:creationId xmlns:a16="http://schemas.microsoft.com/office/drawing/2014/main" id="{9253C989-F49D-8D4D-BFD5-ECCB6E59B78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98EC01FB-4DA9-0B14-9E50-CF05E633BCA0}"/>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261473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 Text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1835088"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850484"/>
            <a:ext cx="1835088"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301186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ACA73044-ABA5-4A68-81D4-75723F104CFB}"/>
              </a:ext>
            </a:extLst>
          </p:cNvPr>
          <p:cNvSpPr>
            <a:spLocks noGrp="1"/>
          </p:cNvSpPr>
          <p:nvPr>
            <p:ph idx="11" hasCustomPrompt="1"/>
          </p:nvPr>
        </p:nvSpPr>
        <p:spPr>
          <a:xfrm>
            <a:off x="3229003" y="1686758"/>
            <a:ext cx="1624302"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5" name="Content Placeholder 2">
            <a:extLst>
              <a:ext uri="{FF2B5EF4-FFF2-40B4-BE49-F238E27FC236}">
                <a16:creationId xmlns:a16="http://schemas.microsoft.com/office/drawing/2014/main" id="{D69FEDBA-37CD-4D7E-A729-6821E598E67D}"/>
              </a:ext>
            </a:extLst>
          </p:cNvPr>
          <p:cNvSpPr>
            <a:spLocks noGrp="1"/>
          </p:cNvSpPr>
          <p:nvPr>
            <p:ph idx="12" hasCustomPrompt="1"/>
          </p:nvPr>
        </p:nvSpPr>
        <p:spPr>
          <a:xfrm>
            <a:off x="322900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66192"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Content Placeholder 2">
            <a:extLst>
              <a:ext uri="{FF2B5EF4-FFF2-40B4-BE49-F238E27FC236}">
                <a16:creationId xmlns:a16="http://schemas.microsoft.com/office/drawing/2014/main" id="{B96DFA0C-E450-4893-8C79-6243F5697984}"/>
              </a:ext>
            </a:extLst>
          </p:cNvPr>
          <p:cNvSpPr>
            <a:spLocks noGrp="1"/>
          </p:cNvSpPr>
          <p:nvPr>
            <p:ph idx="13" hasCustomPrompt="1"/>
          </p:nvPr>
        </p:nvSpPr>
        <p:spPr>
          <a:xfrm>
            <a:off x="528122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7" name="Content Placeholder 2">
            <a:extLst>
              <a:ext uri="{FF2B5EF4-FFF2-40B4-BE49-F238E27FC236}">
                <a16:creationId xmlns:a16="http://schemas.microsoft.com/office/drawing/2014/main" id="{E9D9C274-DDDD-4725-8A7B-113147DD7832}"/>
              </a:ext>
            </a:extLst>
          </p:cNvPr>
          <p:cNvSpPr>
            <a:spLocks noGrp="1"/>
          </p:cNvSpPr>
          <p:nvPr>
            <p:ph idx="14" hasCustomPrompt="1"/>
          </p:nvPr>
        </p:nvSpPr>
        <p:spPr>
          <a:xfrm>
            <a:off x="528122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3190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F93742B6-D009-4AB4-BBDC-24522E901BB5}"/>
              </a:ext>
            </a:extLst>
          </p:cNvPr>
          <p:cNvSpPr>
            <a:spLocks noGrp="1"/>
          </p:cNvSpPr>
          <p:nvPr>
            <p:ph idx="15" hasCustomPrompt="1"/>
          </p:nvPr>
        </p:nvSpPr>
        <p:spPr>
          <a:xfrm>
            <a:off x="734904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9" name="Content Placeholder 2">
            <a:extLst>
              <a:ext uri="{FF2B5EF4-FFF2-40B4-BE49-F238E27FC236}">
                <a16:creationId xmlns:a16="http://schemas.microsoft.com/office/drawing/2014/main" id="{90357619-5F6A-4C63-90C3-32B37CE73C91}"/>
              </a:ext>
            </a:extLst>
          </p:cNvPr>
          <p:cNvSpPr>
            <a:spLocks noGrp="1"/>
          </p:cNvSpPr>
          <p:nvPr>
            <p:ph idx="16" hasCustomPrompt="1"/>
          </p:nvPr>
        </p:nvSpPr>
        <p:spPr>
          <a:xfrm>
            <a:off x="734904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1841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Content Placeholder 2">
            <a:extLst>
              <a:ext uri="{FF2B5EF4-FFF2-40B4-BE49-F238E27FC236}">
                <a16:creationId xmlns:a16="http://schemas.microsoft.com/office/drawing/2014/main" id="{035F8812-D495-478D-828C-D8CF0753EEB5}"/>
              </a:ext>
            </a:extLst>
          </p:cNvPr>
          <p:cNvSpPr>
            <a:spLocks noGrp="1"/>
          </p:cNvSpPr>
          <p:nvPr>
            <p:ph idx="17" hasCustomPrompt="1"/>
          </p:nvPr>
        </p:nvSpPr>
        <p:spPr>
          <a:xfrm>
            <a:off x="9401266" y="1686758"/>
            <a:ext cx="1835087"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1" name="Content Placeholder 2">
            <a:extLst>
              <a:ext uri="{FF2B5EF4-FFF2-40B4-BE49-F238E27FC236}">
                <a16:creationId xmlns:a16="http://schemas.microsoft.com/office/drawing/2014/main" id="{338FA747-D085-4909-A6FE-575A5C652420}"/>
              </a:ext>
            </a:extLst>
          </p:cNvPr>
          <p:cNvSpPr>
            <a:spLocks noGrp="1"/>
          </p:cNvSpPr>
          <p:nvPr>
            <p:ph idx="18" hasCustomPrompt="1"/>
          </p:nvPr>
        </p:nvSpPr>
        <p:spPr>
          <a:xfrm>
            <a:off x="9401267" y="2850484"/>
            <a:ext cx="183823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2" name="Rectangle 31">
            <a:extLst>
              <a:ext uri="{FF2B5EF4-FFF2-40B4-BE49-F238E27FC236}">
                <a16:creationId xmlns:a16="http://schemas.microsoft.com/office/drawing/2014/main" id="{8A4AB6F8-D05F-8E40-A637-083D1274FB35}"/>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8" name="Picture 37" descr="The University of Iowa">
            <a:extLst>
              <a:ext uri="{FF2B5EF4-FFF2-40B4-BE49-F238E27FC236}">
                <a16:creationId xmlns:a16="http://schemas.microsoft.com/office/drawing/2014/main" id="{03F28A08-B979-7F4D-A857-AE155CAB0EE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6" name="Footer Placeholder 4">
            <a:extLst>
              <a:ext uri="{FF2B5EF4-FFF2-40B4-BE49-F238E27FC236}">
                <a16:creationId xmlns:a16="http://schemas.microsoft.com/office/drawing/2014/main" id="{48092FCE-E544-874D-A440-7B68904C34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39FE5E-4A90-5813-1573-1DA16021FE74}"/>
              </a:ext>
            </a:extLst>
          </p:cNvPr>
          <p:cNvSpPr>
            <a:spLocks noGrp="1"/>
          </p:cNvSpPr>
          <p:nvPr>
            <p:ph type="sldNum" sz="quarter" idx="1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43937131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x1 Grid Layou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83F529D-C880-45A0-81D8-FD2CC04E07D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2" y="3291760"/>
            <a:ext cx="10288587"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10288586"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4" y="4753992"/>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15" name="Rectangle 14">
            <a:extLst>
              <a:ext uri="{FF2B5EF4-FFF2-40B4-BE49-F238E27FC236}">
                <a16:creationId xmlns:a16="http://schemas.microsoft.com/office/drawing/2014/main" id="{55E76717-4761-EC4B-BDB1-C130638E59C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40242CE7-09BD-8143-AE27-4BF193790A81}"/>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AF415A2A-5C4A-BE45-8CAF-820EC97BED1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CA7339-7939-E23B-1AB4-605809F53063}"/>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4087886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A9A771B-4FFF-4EBF-A07A-0D6292AC2FE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3" y="3291760"/>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5" y="475399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28" name="Straight Connector 27">
            <a:extLst>
              <a:ext uri="{FF2B5EF4-FFF2-40B4-BE49-F238E27FC236}">
                <a16:creationId xmlns:a16="http://schemas.microsoft.com/office/drawing/2014/main" id="{AA23041F-D604-4688-B75A-90D37AFDDB0E}"/>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F7B91F83-8428-4E5A-9C88-17829B687B77}"/>
              </a:ext>
            </a:extLst>
          </p:cNvPr>
          <p:cNvSpPr>
            <a:spLocks noGrp="1"/>
          </p:cNvSpPr>
          <p:nvPr>
            <p:ph idx="15" hasCustomPrompt="1"/>
          </p:nvPr>
        </p:nvSpPr>
        <p:spPr>
          <a:xfrm>
            <a:off x="6483696" y="168851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ADB1D581-6D4C-4716-AE96-DBB4F953B95C}"/>
              </a:ext>
            </a:extLst>
          </p:cNvPr>
          <p:cNvSpPr>
            <a:spLocks noGrp="1"/>
          </p:cNvSpPr>
          <p:nvPr>
            <p:ph idx="16" hasCustomPrompt="1"/>
          </p:nvPr>
        </p:nvSpPr>
        <p:spPr>
          <a:xfrm>
            <a:off x="6483697" y="212176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4" name="Content Placeholder 2">
            <a:extLst>
              <a:ext uri="{FF2B5EF4-FFF2-40B4-BE49-F238E27FC236}">
                <a16:creationId xmlns:a16="http://schemas.microsoft.com/office/drawing/2014/main" id="{279BA4B0-A083-4A1F-9D3B-A041B59E7C22}"/>
              </a:ext>
            </a:extLst>
          </p:cNvPr>
          <p:cNvSpPr>
            <a:spLocks noGrp="1"/>
          </p:cNvSpPr>
          <p:nvPr>
            <p:ph idx="17" hasCustomPrompt="1"/>
          </p:nvPr>
        </p:nvSpPr>
        <p:spPr>
          <a:xfrm>
            <a:off x="6483698" y="3293514"/>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8FDD4A4D-E1FC-4E83-A8AA-A324B6B0E441}"/>
              </a:ext>
            </a:extLst>
          </p:cNvPr>
          <p:cNvSpPr>
            <a:spLocks noGrp="1"/>
          </p:cNvSpPr>
          <p:nvPr>
            <p:ph idx="18" hasCustomPrompt="1"/>
          </p:nvPr>
        </p:nvSpPr>
        <p:spPr>
          <a:xfrm>
            <a:off x="6483699" y="3726766"/>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DE8E7D5C-ACCB-47E6-A3F5-6F3F51A0F37F}"/>
              </a:ext>
            </a:extLst>
          </p:cNvPr>
          <p:cNvSpPr>
            <a:spLocks noGrp="1"/>
          </p:cNvSpPr>
          <p:nvPr>
            <p:ph idx="19" hasCustomPrompt="1"/>
          </p:nvPr>
        </p:nvSpPr>
        <p:spPr>
          <a:xfrm>
            <a:off x="6483700" y="4755746"/>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659D9DC4-BB53-4441-9B74-84922B369948}"/>
              </a:ext>
            </a:extLst>
          </p:cNvPr>
          <p:cNvSpPr>
            <a:spLocks noGrp="1"/>
          </p:cNvSpPr>
          <p:nvPr>
            <p:ph idx="20" hasCustomPrompt="1"/>
          </p:nvPr>
        </p:nvSpPr>
        <p:spPr>
          <a:xfrm>
            <a:off x="6483701" y="5188998"/>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9" name="Rectangle 28">
            <a:extLst>
              <a:ext uri="{FF2B5EF4-FFF2-40B4-BE49-F238E27FC236}">
                <a16:creationId xmlns:a16="http://schemas.microsoft.com/office/drawing/2014/main" id="{A774845D-2BF0-2740-9880-8D2B0EBB22B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0BB6734F-670C-234F-9B83-4953BF83CF18}"/>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4" name="Footer Placeholder 4">
            <a:extLst>
              <a:ext uri="{FF2B5EF4-FFF2-40B4-BE49-F238E27FC236}">
                <a16:creationId xmlns:a16="http://schemas.microsoft.com/office/drawing/2014/main" id="{7695749F-B8A1-694A-8E96-E3DE4B0E92E9}"/>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3994544A-570C-586E-7EDE-44CFCEF04942}"/>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43582995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1EE2C71-E6FD-4A5F-BC00-7290049C4471}"/>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2760956"/>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5FC9698A-599E-4227-BA19-18EFBBF3E0DD}"/>
              </a:ext>
            </a:extLst>
          </p:cNvPr>
          <p:cNvSpPr>
            <a:spLocks noGrp="1"/>
          </p:cNvSpPr>
          <p:nvPr>
            <p:ph idx="11" hasCustomPrompt="1"/>
          </p:nvPr>
        </p:nvSpPr>
        <p:spPr>
          <a:xfrm>
            <a:off x="954094" y="2904080"/>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8" name="Content Placeholder 2">
            <a:extLst>
              <a:ext uri="{FF2B5EF4-FFF2-40B4-BE49-F238E27FC236}">
                <a16:creationId xmlns:a16="http://schemas.microsoft.com/office/drawing/2014/main" id="{C4B470A9-B821-4D01-8FB4-31DF303421A9}"/>
              </a:ext>
            </a:extLst>
          </p:cNvPr>
          <p:cNvSpPr>
            <a:spLocks noGrp="1"/>
          </p:cNvSpPr>
          <p:nvPr>
            <p:ph idx="12" hasCustomPrompt="1"/>
          </p:nvPr>
        </p:nvSpPr>
        <p:spPr>
          <a:xfrm>
            <a:off x="954096" y="3337333"/>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3792244"/>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0C507C81-6817-4069-BC84-0CE4705AE16C}"/>
              </a:ext>
            </a:extLst>
          </p:cNvPr>
          <p:cNvSpPr>
            <a:spLocks noGrp="1"/>
          </p:cNvSpPr>
          <p:nvPr>
            <p:ph idx="15" hasCustomPrompt="1"/>
          </p:nvPr>
        </p:nvSpPr>
        <p:spPr>
          <a:xfrm>
            <a:off x="954098" y="3970621"/>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94103820-8C7A-497C-BCBA-2CFEB4549C83}"/>
              </a:ext>
            </a:extLst>
          </p:cNvPr>
          <p:cNvSpPr>
            <a:spLocks noGrp="1"/>
          </p:cNvSpPr>
          <p:nvPr>
            <p:ph idx="16" hasCustomPrompt="1"/>
          </p:nvPr>
        </p:nvSpPr>
        <p:spPr>
          <a:xfrm>
            <a:off x="954100" y="4403874"/>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16" name="Straight Connector 15">
            <a:extLst>
              <a:ext uri="{FF2B5EF4-FFF2-40B4-BE49-F238E27FC236}">
                <a16:creationId xmlns:a16="http://schemas.microsoft.com/office/drawing/2014/main" id="{1F1CE437-6AD8-4170-8DC8-66894266CE06}"/>
              </a:ext>
            </a:extLst>
          </p:cNvPr>
          <p:cNvCxnSpPr/>
          <p:nvPr userDrawn="1"/>
        </p:nvCxnSpPr>
        <p:spPr>
          <a:xfrm>
            <a:off x="952506" y="488567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0C02F409-DCF5-4241-BB5E-6E37CC8D3518}"/>
              </a:ext>
            </a:extLst>
          </p:cNvPr>
          <p:cNvSpPr>
            <a:spLocks noGrp="1"/>
          </p:cNvSpPr>
          <p:nvPr>
            <p:ph idx="13" hasCustomPrompt="1"/>
          </p:nvPr>
        </p:nvSpPr>
        <p:spPr>
          <a:xfrm>
            <a:off x="954096" y="5089029"/>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0" name="Content Placeholder 2">
            <a:extLst>
              <a:ext uri="{FF2B5EF4-FFF2-40B4-BE49-F238E27FC236}">
                <a16:creationId xmlns:a16="http://schemas.microsoft.com/office/drawing/2014/main" id="{2AC426E8-7005-475F-BC32-B5F0BA7A8A4C}"/>
              </a:ext>
            </a:extLst>
          </p:cNvPr>
          <p:cNvSpPr>
            <a:spLocks noGrp="1"/>
          </p:cNvSpPr>
          <p:nvPr>
            <p:ph idx="14" hasCustomPrompt="1"/>
          </p:nvPr>
        </p:nvSpPr>
        <p:spPr>
          <a:xfrm>
            <a:off x="954098" y="5522281"/>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4" name="Straight Connector 33">
            <a:extLst>
              <a:ext uri="{FF2B5EF4-FFF2-40B4-BE49-F238E27FC236}">
                <a16:creationId xmlns:a16="http://schemas.microsoft.com/office/drawing/2014/main" id="{8222804C-AFDD-4E8C-BFDC-31326A2127FA}"/>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66342B0E-1F8B-4D4C-ABA7-E43BC2B3F4AE}"/>
              </a:ext>
            </a:extLst>
          </p:cNvPr>
          <p:cNvSpPr>
            <a:spLocks noGrp="1"/>
          </p:cNvSpPr>
          <p:nvPr>
            <p:ph idx="17" hasCustomPrompt="1"/>
          </p:nvPr>
        </p:nvSpPr>
        <p:spPr>
          <a:xfrm>
            <a:off x="6467495" y="1688232"/>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FCF3285B-83DB-4917-9F24-EC0C964DE403}"/>
              </a:ext>
            </a:extLst>
          </p:cNvPr>
          <p:cNvSpPr>
            <a:spLocks noGrp="1"/>
          </p:cNvSpPr>
          <p:nvPr>
            <p:ph idx="18" hasCustomPrompt="1"/>
          </p:nvPr>
        </p:nvSpPr>
        <p:spPr>
          <a:xfrm>
            <a:off x="6467497" y="2121484"/>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8C88D8B1-0044-4EC5-B4CD-DB1095F378A4}"/>
              </a:ext>
            </a:extLst>
          </p:cNvPr>
          <p:cNvSpPr>
            <a:spLocks noGrp="1"/>
          </p:cNvSpPr>
          <p:nvPr>
            <p:ph idx="19" hasCustomPrompt="1"/>
          </p:nvPr>
        </p:nvSpPr>
        <p:spPr>
          <a:xfrm>
            <a:off x="6469089" y="2905554"/>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9F6100E2-DAE8-4111-AF37-8909AA389FC1}"/>
              </a:ext>
            </a:extLst>
          </p:cNvPr>
          <p:cNvSpPr>
            <a:spLocks noGrp="1"/>
          </p:cNvSpPr>
          <p:nvPr>
            <p:ph idx="20" hasCustomPrompt="1"/>
          </p:nvPr>
        </p:nvSpPr>
        <p:spPr>
          <a:xfrm>
            <a:off x="6469091" y="3338807"/>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0" name="Content Placeholder 2">
            <a:extLst>
              <a:ext uri="{FF2B5EF4-FFF2-40B4-BE49-F238E27FC236}">
                <a16:creationId xmlns:a16="http://schemas.microsoft.com/office/drawing/2014/main" id="{C0B1E9EC-56B4-4514-B189-24BD47F549F3}"/>
              </a:ext>
            </a:extLst>
          </p:cNvPr>
          <p:cNvSpPr>
            <a:spLocks noGrp="1"/>
          </p:cNvSpPr>
          <p:nvPr>
            <p:ph idx="23" hasCustomPrompt="1"/>
          </p:nvPr>
        </p:nvSpPr>
        <p:spPr>
          <a:xfrm>
            <a:off x="6469093" y="3972095"/>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1" name="Content Placeholder 2">
            <a:extLst>
              <a:ext uri="{FF2B5EF4-FFF2-40B4-BE49-F238E27FC236}">
                <a16:creationId xmlns:a16="http://schemas.microsoft.com/office/drawing/2014/main" id="{F685484E-408B-4771-9259-BAAC2A6E6017}"/>
              </a:ext>
            </a:extLst>
          </p:cNvPr>
          <p:cNvSpPr>
            <a:spLocks noGrp="1"/>
          </p:cNvSpPr>
          <p:nvPr>
            <p:ph idx="24" hasCustomPrompt="1"/>
          </p:nvPr>
        </p:nvSpPr>
        <p:spPr>
          <a:xfrm>
            <a:off x="6469095" y="4405348"/>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8" name="Content Placeholder 2">
            <a:extLst>
              <a:ext uri="{FF2B5EF4-FFF2-40B4-BE49-F238E27FC236}">
                <a16:creationId xmlns:a16="http://schemas.microsoft.com/office/drawing/2014/main" id="{0EE05AF1-1486-45F2-B87D-2AE555B8D1CB}"/>
              </a:ext>
            </a:extLst>
          </p:cNvPr>
          <p:cNvSpPr>
            <a:spLocks noGrp="1"/>
          </p:cNvSpPr>
          <p:nvPr>
            <p:ph idx="21" hasCustomPrompt="1"/>
          </p:nvPr>
        </p:nvSpPr>
        <p:spPr>
          <a:xfrm>
            <a:off x="6469091" y="5090503"/>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9" name="Content Placeholder 2">
            <a:extLst>
              <a:ext uri="{FF2B5EF4-FFF2-40B4-BE49-F238E27FC236}">
                <a16:creationId xmlns:a16="http://schemas.microsoft.com/office/drawing/2014/main" id="{52C4B0E5-3C7E-4BC2-AA92-4156C26C91FF}"/>
              </a:ext>
            </a:extLst>
          </p:cNvPr>
          <p:cNvSpPr>
            <a:spLocks noGrp="1"/>
          </p:cNvSpPr>
          <p:nvPr>
            <p:ph idx="22" hasCustomPrompt="1"/>
          </p:nvPr>
        </p:nvSpPr>
        <p:spPr>
          <a:xfrm>
            <a:off x="6469093" y="5523755"/>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3" name="Rectangle 32">
            <a:extLst>
              <a:ext uri="{FF2B5EF4-FFF2-40B4-BE49-F238E27FC236}">
                <a16:creationId xmlns:a16="http://schemas.microsoft.com/office/drawing/2014/main" id="{A5480C56-313A-5C4D-A02B-5C10621A506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58CA1799-4AEA-D247-8458-F8440E40306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7" name="Footer Placeholder 4">
            <a:extLst>
              <a:ext uri="{FF2B5EF4-FFF2-40B4-BE49-F238E27FC236}">
                <a16:creationId xmlns:a16="http://schemas.microsoft.com/office/drawing/2014/main" id="{FFD2AE71-6126-9A49-BF5D-602677416553}"/>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58FBCDAA-5C9D-8BFB-2A94-1926B13A23D5}"/>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68536204"/>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x2 Grid Layout">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F947D672-DDE7-4F36-B79C-4245C5D115ED}"/>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238480"/>
            <a:ext cx="4800219"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8" name="Straight Connector 7">
            <a:extLst>
              <a:ext uri="{FF2B5EF4-FFF2-40B4-BE49-F238E27FC236}">
                <a16:creationId xmlns:a16="http://schemas.microsoft.com/office/drawing/2014/main" id="{69FB9F7B-CC85-4936-BE2A-DF6B8BF46018}"/>
              </a:ext>
            </a:extLst>
          </p:cNvPr>
          <p:cNvCxnSpPr/>
          <p:nvPr userDrawn="1"/>
        </p:nvCxnSpPr>
        <p:spPr>
          <a:xfrm>
            <a:off x="949325" y="3790765"/>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3" name="Content Placeholder 2">
            <a:extLst>
              <a:ext uri="{FF2B5EF4-FFF2-40B4-BE49-F238E27FC236}">
                <a16:creationId xmlns:a16="http://schemas.microsoft.com/office/drawing/2014/main" id="{FDFA8ABE-0B6C-4930-94A9-A2BB4166E51F}"/>
              </a:ext>
            </a:extLst>
          </p:cNvPr>
          <p:cNvSpPr>
            <a:spLocks noGrp="1"/>
          </p:cNvSpPr>
          <p:nvPr>
            <p:ph idx="17" hasCustomPrompt="1"/>
          </p:nvPr>
        </p:nvSpPr>
        <p:spPr>
          <a:xfrm>
            <a:off x="958052" y="4209907"/>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4" name="Content Placeholder 2">
            <a:extLst>
              <a:ext uri="{FF2B5EF4-FFF2-40B4-BE49-F238E27FC236}">
                <a16:creationId xmlns:a16="http://schemas.microsoft.com/office/drawing/2014/main" id="{47E91DB8-4856-4AED-8362-60627F681EE8}"/>
              </a:ext>
            </a:extLst>
          </p:cNvPr>
          <p:cNvSpPr>
            <a:spLocks noGrp="1"/>
          </p:cNvSpPr>
          <p:nvPr>
            <p:ph idx="18" hasCustomPrompt="1"/>
          </p:nvPr>
        </p:nvSpPr>
        <p:spPr>
          <a:xfrm>
            <a:off x="958053" y="4761629"/>
            <a:ext cx="4800219" cy="11819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79384"/>
            <a:ext cx="0" cy="4272765"/>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228428"/>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5" name="Content Placeholder 2">
            <a:extLst>
              <a:ext uri="{FF2B5EF4-FFF2-40B4-BE49-F238E27FC236}">
                <a16:creationId xmlns:a16="http://schemas.microsoft.com/office/drawing/2014/main" id="{76BD4A33-C7CC-4380-A2BB-ECC6C2FB7225}"/>
              </a:ext>
            </a:extLst>
          </p:cNvPr>
          <p:cNvSpPr>
            <a:spLocks noGrp="1"/>
          </p:cNvSpPr>
          <p:nvPr>
            <p:ph idx="19" hasCustomPrompt="1"/>
          </p:nvPr>
        </p:nvSpPr>
        <p:spPr>
          <a:xfrm>
            <a:off x="6439276" y="4199855"/>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6" name="Content Placeholder 2">
            <a:extLst>
              <a:ext uri="{FF2B5EF4-FFF2-40B4-BE49-F238E27FC236}">
                <a16:creationId xmlns:a16="http://schemas.microsoft.com/office/drawing/2014/main" id="{4CD0BB64-6643-42CE-AFE7-372305F21233}"/>
              </a:ext>
            </a:extLst>
          </p:cNvPr>
          <p:cNvSpPr>
            <a:spLocks noGrp="1"/>
          </p:cNvSpPr>
          <p:nvPr>
            <p:ph idx="20" hasCustomPrompt="1"/>
          </p:nvPr>
        </p:nvSpPr>
        <p:spPr>
          <a:xfrm>
            <a:off x="6439277" y="4751577"/>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D8D606F0-071A-A842-B316-9BEBD143AC3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8" name="Picture 27" descr="The University of Iowa">
            <a:extLst>
              <a:ext uri="{FF2B5EF4-FFF2-40B4-BE49-F238E27FC236}">
                <a16:creationId xmlns:a16="http://schemas.microsoft.com/office/drawing/2014/main" id="{9AAD4B2F-0082-B749-BE09-2EC20A6C430D}"/>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7" name="Footer Placeholder 4">
            <a:extLst>
              <a:ext uri="{FF2B5EF4-FFF2-40B4-BE49-F238E27FC236}">
                <a16:creationId xmlns:a16="http://schemas.microsoft.com/office/drawing/2014/main" id="{BD920E71-4E45-E74F-B01A-DC16C3B807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8F8759E5-A182-A437-FFD7-EED0D4133D38}"/>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4841832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2400" userDrawn="1">
          <p15:clr>
            <a:srgbClr val="FBAE40"/>
          </p15:clr>
        </p15:guide>
        <p15:guide id="7" orient="horz" pos="6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Column Stat Layout ">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39080"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52" name="Picture Placeholder 50">
            <a:extLst>
              <a:ext uri="{FF2B5EF4-FFF2-40B4-BE49-F238E27FC236}">
                <a16:creationId xmlns:a16="http://schemas.microsoft.com/office/drawing/2014/main" id="{8D984633-F962-1848-A009-619CB8211633}"/>
              </a:ext>
            </a:extLst>
          </p:cNvPr>
          <p:cNvSpPr>
            <a:spLocks noGrp="1"/>
          </p:cNvSpPr>
          <p:nvPr>
            <p:ph type="pic" sz="quarter" idx="20"/>
          </p:nvPr>
        </p:nvSpPr>
        <p:spPr>
          <a:xfrm>
            <a:off x="3037173" y="2243035"/>
            <a:ext cx="1071841" cy="1095375"/>
          </a:xfrm>
        </p:spPr>
        <p:txBody>
          <a:bodyPr/>
          <a:lstStyle>
            <a:lvl1pPr marL="0" indent="0">
              <a:buNone/>
              <a:defRPr/>
            </a:lvl1pPr>
          </a:lstStyle>
          <a:p>
            <a:endParaRPr lang="en-US"/>
          </a:p>
        </p:txBody>
      </p:sp>
      <p:cxnSp>
        <p:nvCxnSpPr>
          <p:cNvPr id="14" name="Straight Connector 13">
            <a:extLst>
              <a:ext uri="{FF2B5EF4-FFF2-40B4-BE49-F238E27FC236}">
                <a16:creationId xmlns:a16="http://schemas.microsoft.com/office/drawing/2014/main" id="{44DE3AB4-3020-8D45-86B7-592F12CB716B}"/>
              </a:ext>
            </a:extLst>
          </p:cNvPr>
          <p:cNvCxnSpPr>
            <a:cxnSpLocks/>
          </p:cNvCxnSpPr>
          <p:nvPr userDrawn="1"/>
        </p:nvCxnSpPr>
        <p:spPr>
          <a:xfrm>
            <a:off x="896513"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6" name="Content Placeholder 2">
            <a:extLst>
              <a:ext uri="{FF2B5EF4-FFF2-40B4-BE49-F238E27FC236}">
                <a16:creationId xmlns:a16="http://schemas.microsoft.com/office/drawing/2014/main" id="{DC4E94AD-16D9-BE4C-8C57-CFA6654E1BD9}"/>
              </a:ext>
            </a:extLst>
          </p:cNvPr>
          <p:cNvSpPr>
            <a:spLocks noGrp="1"/>
          </p:cNvSpPr>
          <p:nvPr>
            <p:ph idx="14" hasCustomPrompt="1"/>
          </p:nvPr>
        </p:nvSpPr>
        <p:spPr>
          <a:xfrm>
            <a:off x="939080"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Content Placeholder 2">
            <a:extLst>
              <a:ext uri="{FF2B5EF4-FFF2-40B4-BE49-F238E27FC236}">
                <a16:creationId xmlns:a16="http://schemas.microsoft.com/office/drawing/2014/main" id="{E64293C0-60B2-3341-9C38-86DF7ACA51DC}"/>
              </a:ext>
            </a:extLst>
          </p:cNvPr>
          <p:cNvSpPr>
            <a:spLocks noGrp="1"/>
          </p:cNvSpPr>
          <p:nvPr>
            <p:ph idx="21" hasCustomPrompt="1"/>
          </p:nvPr>
        </p:nvSpPr>
        <p:spPr>
          <a:xfrm>
            <a:off x="4582471"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5" name="Picture Placeholder 50">
            <a:extLst>
              <a:ext uri="{FF2B5EF4-FFF2-40B4-BE49-F238E27FC236}">
                <a16:creationId xmlns:a16="http://schemas.microsoft.com/office/drawing/2014/main" id="{3ED87A8B-0573-474F-94C0-2F7E344853F2}"/>
              </a:ext>
            </a:extLst>
          </p:cNvPr>
          <p:cNvSpPr>
            <a:spLocks noGrp="1"/>
          </p:cNvSpPr>
          <p:nvPr>
            <p:ph type="pic" sz="quarter" idx="23"/>
          </p:nvPr>
        </p:nvSpPr>
        <p:spPr>
          <a:xfrm>
            <a:off x="6680564" y="2243035"/>
            <a:ext cx="1071841" cy="1095375"/>
          </a:xfrm>
        </p:spPr>
        <p:txBody>
          <a:bodyPr/>
          <a:lstStyle>
            <a:lvl1pPr marL="0" indent="0">
              <a:buNone/>
              <a:defRPr/>
            </a:lvl1pPr>
          </a:lstStyle>
          <a:p>
            <a:endParaRPr lang="en-US"/>
          </a:p>
        </p:txBody>
      </p:sp>
      <p:cxnSp>
        <p:nvCxnSpPr>
          <p:cNvPr id="20" name="Straight Connector 19">
            <a:extLst>
              <a:ext uri="{FF2B5EF4-FFF2-40B4-BE49-F238E27FC236}">
                <a16:creationId xmlns:a16="http://schemas.microsoft.com/office/drawing/2014/main" id="{1799B91B-7CDD-284B-99CF-8408146B2C0D}"/>
              </a:ext>
            </a:extLst>
          </p:cNvPr>
          <p:cNvCxnSpPr>
            <a:cxnSpLocks/>
          </p:cNvCxnSpPr>
          <p:nvPr userDrawn="1"/>
        </p:nvCxnSpPr>
        <p:spPr>
          <a:xfrm>
            <a:off x="4539904"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8BB67D17-F456-FC43-9C41-9344D6EEB07B}"/>
              </a:ext>
            </a:extLst>
          </p:cNvPr>
          <p:cNvSpPr>
            <a:spLocks noGrp="1"/>
          </p:cNvSpPr>
          <p:nvPr>
            <p:ph idx="22" hasCustomPrompt="1"/>
          </p:nvPr>
        </p:nvSpPr>
        <p:spPr>
          <a:xfrm>
            <a:off x="4582471"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6" name="Content Placeholder 2">
            <a:extLst>
              <a:ext uri="{FF2B5EF4-FFF2-40B4-BE49-F238E27FC236}">
                <a16:creationId xmlns:a16="http://schemas.microsoft.com/office/drawing/2014/main" id="{60F6E28A-AB38-A64F-9481-C9F0437BFEA5}"/>
              </a:ext>
            </a:extLst>
          </p:cNvPr>
          <p:cNvSpPr>
            <a:spLocks noGrp="1"/>
          </p:cNvSpPr>
          <p:nvPr>
            <p:ph idx="24" hasCustomPrompt="1"/>
          </p:nvPr>
        </p:nvSpPr>
        <p:spPr>
          <a:xfrm>
            <a:off x="8225863"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9" name="Picture Placeholder 50">
            <a:extLst>
              <a:ext uri="{FF2B5EF4-FFF2-40B4-BE49-F238E27FC236}">
                <a16:creationId xmlns:a16="http://schemas.microsoft.com/office/drawing/2014/main" id="{106DB928-4AE1-4E4B-9A4C-6062FC247709}"/>
              </a:ext>
            </a:extLst>
          </p:cNvPr>
          <p:cNvSpPr>
            <a:spLocks noGrp="1"/>
          </p:cNvSpPr>
          <p:nvPr>
            <p:ph type="pic" sz="quarter" idx="26"/>
          </p:nvPr>
        </p:nvSpPr>
        <p:spPr>
          <a:xfrm>
            <a:off x="10323956" y="2243035"/>
            <a:ext cx="1071841" cy="1095375"/>
          </a:xfrm>
        </p:spPr>
        <p:txBody>
          <a:bodyPr/>
          <a:lstStyle>
            <a:lvl1pPr marL="0" indent="0">
              <a:buNone/>
              <a:defRPr/>
            </a:lvl1pPr>
          </a:lstStyle>
          <a:p>
            <a:endParaRPr lang="en-US"/>
          </a:p>
        </p:txBody>
      </p:sp>
      <p:cxnSp>
        <p:nvCxnSpPr>
          <p:cNvPr id="27" name="Straight Connector 26">
            <a:extLst>
              <a:ext uri="{FF2B5EF4-FFF2-40B4-BE49-F238E27FC236}">
                <a16:creationId xmlns:a16="http://schemas.microsoft.com/office/drawing/2014/main" id="{F9F7D2B0-E449-FD45-9789-FC204088E97C}"/>
              </a:ext>
            </a:extLst>
          </p:cNvPr>
          <p:cNvCxnSpPr>
            <a:cxnSpLocks/>
          </p:cNvCxnSpPr>
          <p:nvPr userDrawn="1"/>
        </p:nvCxnSpPr>
        <p:spPr>
          <a:xfrm>
            <a:off x="8183296"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86FE37F4-1DCF-2D40-845F-6C10AC016C29}"/>
              </a:ext>
            </a:extLst>
          </p:cNvPr>
          <p:cNvSpPr>
            <a:spLocks noGrp="1"/>
          </p:cNvSpPr>
          <p:nvPr>
            <p:ph idx="25" hasCustomPrompt="1"/>
          </p:nvPr>
        </p:nvSpPr>
        <p:spPr>
          <a:xfrm>
            <a:off x="8225863"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69FF7EDA-87CD-8DAB-9C47-D5E1D6F648B2}"/>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1071268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E7A2738-1D29-40DE-AACF-F60CD708E892}"/>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D1ADFA24-184F-46B9-B1D0-3FBB044F3673}"/>
              </a:ext>
            </a:extLst>
          </p:cNvPr>
          <p:cNvSpPr/>
          <p:nvPr userDrawn="1"/>
        </p:nvSpPr>
        <p:spPr>
          <a:xfrm>
            <a:off x="166474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3">
            <a:extLst>
              <a:ext uri="{FF2B5EF4-FFF2-40B4-BE49-F238E27FC236}">
                <a16:creationId xmlns:a16="http://schemas.microsoft.com/office/drawing/2014/main" id="{DC306F30-B3C1-E74C-B18C-7075DB0761DE}"/>
              </a:ext>
            </a:extLst>
          </p:cNvPr>
          <p:cNvSpPr>
            <a:spLocks noGrp="1"/>
          </p:cNvSpPr>
          <p:nvPr>
            <p:ph type="pic" sz="quarter" idx="21"/>
          </p:nvPr>
        </p:nvSpPr>
        <p:spPr>
          <a:xfrm>
            <a:off x="1953910" y="2337468"/>
            <a:ext cx="1182412" cy="1222625"/>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4078664"/>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Oval 18">
            <a:extLst>
              <a:ext uri="{FF2B5EF4-FFF2-40B4-BE49-F238E27FC236}">
                <a16:creationId xmlns:a16="http://schemas.microsoft.com/office/drawing/2014/main" id="{3FF9D861-0550-4AC8-BB96-094DAF60B7F4}"/>
              </a:ext>
            </a:extLst>
          </p:cNvPr>
          <p:cNvSpPr/>
          <p:nvPr userDrawn="1"/>
        </p:nvSpPr>
        <p:spPr>
          <a:xfrm>
            <a:off x="5231950"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4382C3D7-6E45-864C-A5B5-39762336A484}"/>
              </a:ext>
            </a:extLst>
          </p:cNvPr>
          <p:cNvSpPr>
            <a:spLocks noGrp="1"/>
          </p:cNvSpPr>
          <p:nvPr>
            <p:ph type="pic" sz="quarter" idx="22"/>
          </p:nvPr>
        </p:nvSpPr>
        <p:spPr>
          <a:xfrm>
            <a:off x="5500171" y="2310547"/>
            <a:ext cx="1182412" cy="1222625"/>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4078664"/>
            <a:ext cx="2973372"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0" name="Oval 19">
            <a:extLst>
              <a:ext uri="{FF2B5EF4-FFF2-40B4-BE49-F238E27FC236}">
                <a16:creationId xmlns:a16="http://schemas.microsoft.com/office/drawing/2014/main" id="{D101DA23-83F7-4662-BC02-2666717C53B4}"/>
              </a:ext>
            </a:extLst>
          </p:cNvPr>
          <p:cNvSpPr/>
          <p:nvPr userDrawn="1"/>
        </p:nvSpPr>
        <p:spPr>
          <a:xfrm>
            <a:off x="8775763"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6E1CEA20-24A4-8C45-B5A6-CE111F714FEF}"/>
              </a:ext>
            </a:extLst>
          </p:cNvPr>
          <p:cNvSpPr>
            <a:spLocks noGrp="1"/>
          </p:cNvSpPr>
          <p:nvPr>
            <p:ph type="pic" sz="quarter" idx="23"/>
          </p:nvPr>
        </p:nvSpPr>
        <p:spPr>
          <a:xfrm>
            <a:off x="9046432" y="2299135"/>
            <a:ext cx="1182412" cy="1222625"/>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4078663"/>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3" name="Slide Number Placeholder 2">
            <a:extLst>
              <a:ext uri="{FF2B5EF4-FFF2-40B4-BE49-F238E27FC236}">
                <a16:creationId xmlns:a16="http://schemas.microsoft.com/office/drawing/2014/main" id="{68093C3B-BCBF-D900-9D0D-7DF1CBBD8A63}"/>
              </a:ext>
            </a:extLst>
          </p:cNvPr>
          <p:cNvSpPr>
            <a:spLocks noGrp="1"/>
          </p:cNvSpPr>
          <p:nvPr>
            <p:ph type="sldNum" sz="quarter" idx="24"/>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3395191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1B9DD2E6-4011-470E-85A1-9331B2E255C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260812"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icture Placeholder 3">
            <a:extLst>
              <a:ext uri="{FF2B5EF4-FFF2-40B4-BE49-F238E27FC236}">
                <a16:creationId xmlns:a16="http://schemas.microsoft.com/office/drawing/2014/main" id="{0A1A4191-73C5-A24C-B85A-D6F8FC572523}"/>
              </a:ext>
            </a:extLst>
          </p:cNvPr>
          <p:cNvSpPr>
            <a:spLocks noGrp="1"/>
          </p:cNvSpPr>
          <p:nvPr>
            <p:ph type="pic" sz="quarter" idx="24"/>
          </p:nvPr>
        </p:nvSpPr>
        <p:spPr>
          <a:xfrm>
            <a:off x="1540727" y="2311683"/>
            <a:ext cx="1182412" cy="1222625"/>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952500"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935830"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D7A0C8CB-AE00-AE4E-8B06-C3CDA2E8A6B0}"/>
              </a:ext>
            </a:extLst>
          </p:cNvPr>
          <p:cNvSpPr>
            <a:spLocks noGrp="1"/>
          </p:cNvSpPr>
          <p:nvPr>
            <p:ph type="pic" sz="quarter" idx="21"/>
          </p:nvPr>
        </p:nvSpPr>
        <p:spPr>
          <a:xfrm>
            <a:off x="4221796" y="2280863"/>
            <a:ext cx="1182412" cy="1222625"/>
          </a:xfrm>
        </p:spPr>
        <p:txBody>
          <a:bodyPr/>
          <a:lstStyle>
            <a:lvl1pPr>
              <a:buNone/>
              <a:defRPr/>
            </a:lvl1pPr>
          </a:lstStyle>
          <a:p>
            <a:endParaRPr lang="en-US"/>
          </a:p>
        </p:txBody>
      </p:sp>
      <p:sp>
        <p:nvSpPr>
          <p:cNvPr id="26" name="Content Placeholder 2">
            <a:extLst>
              <a:ext uri="{FF2B5EF4-FFF2-40B4-BE49-F238E27FC236}">
                <a16:creationId xmlns:a16="http://schemas.microsoft.com/office/drawing/2014/main" id="{8C7F2CE8-9E91-4C86-99AB-686A9C810419}"/>
              </a:ext>
            </a:extLst>
          </p:cNvPr>
          <p:cNvSpPr>
            <a:spLocks noGrp="1"/>
          </p:cNvSpPr>
          <p:nvPr>
            <p:ph idx="18" hasCustomPrompt="1"/>
          </p:nvPr>
        </p:nvSpPr>
        <p:spPr>
          <a:xfrm>
            <a:off x="3627518"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651392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3">
            <a:extLst>
              <a:ext uri="{FF2B5EF4-FFF2-40B4-BE49-F238E27FC236}">
                <a16:creationId xmlns:a16="http://schemas.microsoft.com/office/drawing/2014/main" id="{EED777B6-C788-B840-ACC3-FD8949E42ACB}"/>
              </a:ext>
            </a:extLst>
          </p:cNvPr>
          <p:cNvSpPr>
            <a:spLocks noGrp="1"/>
          </p:cNvSpPr>
          <p:nvPr>
            <p:ph type="pic" sz="quarter" idx="22"/>
          </p:nvPr>
        </p:nvSpPr>
        <p:spPr>
          <a:xfrm>
            <a:off x="6793844" y="2309972"/>
            <a:ext cx="1182412" cy="1222625"/>
          </a:xfrm>
        </p:spPr>
        <p:txBody>
          <a:bodyPr/>
          <a:lstStyle>
            <a:lvl1pPr>
              <a:buNone/>
              <a:defRPr/>
            </a:lvl1pPr>
          </a:lstStyle>
          <a:p>
            <a:endParaRPr lang="en-US"/>
          </a:p>
        </p:txBody>
      </p:sp>
      <p:sp>
        <p:nvSpPr>
          <p:cNvPr id="28" name="Content Placeholder 2">
            <a:extLst>
              <a:ext uri="{FF2B5EF4-FFF2-40B4-BE49-F238E27FC236}">
                <a16:creationId xmlns:a16="http://schemas.microsoft.com/office/drawing/2014/main" id="{BC06D7C8-7D2D-4A80-B5B8-174F5056AA0B}"/>
              </a:ext>
            </a:extLst>
          </p:cNvPr>
          <p:cNvSpPr>
            <a:spLocks noGrp="1"/>
          </p:cNvSpPr>
          <p:nvPr>
            <p:ph idx="19" hasCustomPrompt="1"/>
          </p:nvPr>
        </p:nvSpPr>
        <p:spPr>
          <a:xfrm>
            <a:off x="6205617"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9188946" y="2045132"/>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3">
            <a:extLst>
              <a:ext uri="{FF2B5EF4-FFF2-40B4-BE49-F238E27FC236}">
                <a16:creationId xmlns:a16="http://schemas.microsoft.com/office/drawing/2014/main" id="{04C4E3A7-AB8A-6243-BBFD-8A433C78470B}"/>
              </a:ext>
            </a:extLst>
          </p:cNvPr>
          <p:cNvSpPr>
            <a:spLocks noGrp="1"/>
          </p:cNvSpPr>
          <p:nvPr>
            <p:ph type="pic" sz="quarter" idx="23"/>
          </p:nvPr>
        </p:nvSpPr>
        <p:spPr>
          <a:xfrm>
            <a:off x="9473607" y="2311684"/>
            <a:ext cx="1182412" cy="1222625"/>
          </a:xfrm>
        </p:spPr>
        <p:txBody>
          <a:bodyPr/>
          <a:lstStyle>
            <a:lvl1pPr>
              <a:buNone/>
              <a:defRPr/>
            </a:lvl1pPr>
          </a:lstStyle>
          <a:p>
            <a:endParaRPr lang="en-US"/>
          </a:p>
        </p:txBody>
      </p:sp>
      <p:sp>
        <p:nvSpPr>
          <p:cNvPr id="30" name="Content Placeholder 2">
            <a:extLst>
              <a:ext uri="{FF2B5EF4-FFF2-40B4-BE49-F238E27FC236}">
                <a16:creationId xmlns:a16="http://schemas.microsoft.com/office/drawing/2014/main" id="{8FC2F9F8-450A-4433-BAFC-DCD0001FAF1D}"/>
              </a:ext>
            </a:extLst>
          </p:cNvPr>
          <p:cNvSpPr>
            <a:spLocks noGrp="1"/>
          </p:cNvSpPr>
          <p:nvPr>
            <p:ph idx="20" hasCustomPrompt="1"/>
          </p:nvPr>
        </p:nvSpPr>
        <p:spPr>
          <a:xfrm>
            <a:off x="8880634" y="4073057"/>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6" name="Rectangle 15">
            <a:extLst>
              <a:ext uri="{FF2B5EF4-FFF2-40B4-BE49-F238E27FC236}">
                <a16:creationId xmlns:a16="http://schemas.microsoft.com/office/drawing/2014/main" id="{D4578BB7-B3A6-0D4A-A743-C8950F9817A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6D319038-0896-5540-A405-0F93F52CC9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9" name="Footer Placeholder 4">
            <a:extLst>
              <a:ext uri="{FF2B5EF4-FFF2-40B4-BE49-F238E27FC236}">
                <a16:creationId xmlns:a16="http://schemas.microsoft.com/office/drawing/2014/main" id="{CF5779A1-5C1A-D949-93A6-EFB401BFC69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86C8F4D8-7D6D-84F2-4CB4-E6AA2719984B}"/>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56838957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iv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7E2EA4D-EFA8-4B7C-9585-ADB07DA2D974}"/>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175438"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3">
            <a:extLst>
              <a:ext uri="{FF2B5EF4-FFF2-40B4-BE49-F238E27FC236}">
                <a16:creationId xmlns:a16="http://schemas.microsoft.com/office/drawing/2014/main" id="{0E2F4087-739F-1B43-B022-92BCEDD29A2D}"/>
              </a:ext>
            </a:extLst>
          </p:cNvPr>
          <p:cNvSpPr>
            <a:spLocks noGrp="1"/>
          </p:cNvSpPr>
          <p:nvPr>
            <p:ph type="pic" sz="quarter" idx="26"/>
          </p:nvPr>
        </p:nvSpPr>
        <p:spPr>
          <a:xfrm>
            <a:off x="1448972" y="2403497"/>
            <a:ext cx="1030100" cy="1086492"/>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1175438" y="407866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222122"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3">
            <a:extLst>
              <a:ext uri="{FF2B5EF4-FFF2-40B4-BE49-F238E27FC236}">
                <a16:creationId xmlns:a16="http://schemas.microsoft.com/office/drawing/2014/main" id="{090A73C4-9F43-6142-BBC5-1C887BE310ED}"/>
              </a:ext>
            </a:extLst>
          </p:cNvPr>
          <p:cNvSpPr>
            <a:spLocks noGrp="1"/>
          </p:cNvSpPr>
          <p:nvPr>
            <p:ph type="pic" sz="quarter" idx="23"/>
          </p:nvPr>
        </p:nvSpPr>
        <p:spPr>
          <a:xfrm>
            <a:off x="3502864" y="2384080"/>
            <a:ext cx="1030100" cy="1086492"/>
          </a:xfrm>
        </p:spPr>
        <p:txBody>
          <a:bodyPr/>
          <a:lstStyle>
            <a:lvl1pPr>
              <a:buNone/>
              <a:defRPr/>
            </a:lvl1pPr>
          </a:lstStyle>
          <a:p>
            <a:endParaRPr lang="en-US"/>
          </a:p>
        </p:txBody>
      </p:sp>
      <p:sp>
        <p:nvSpPr>
          <p:cNvPr id="33" name="Content Placeholder 2">
            <a:extLst>
              <a:ext uri="{FF2B5EF4-FFF2-40B4-BE49-F238E27FC236}">
                <a16:creationId xmlns:a16="http://schemas.microsoft.com/office/drawing/2014/main" id="{9B9DF875-9EAF-4928-8E91-6599CCEAADEE}"/>
              </a:ext>
            </a:extLst>
          </p:cNvPr>
          <p:cNvSpPr>
            <a:spLocks noGrp="1"/>
          </p:cNvSpPr>
          <p:nvPr>
            <p:ph idx="18" hasCustomPrompt="1"/>
          </p:nvPr>
        </p:nvSpPr>
        <p:spPr>
          <a:xfrm>
            <a:off x="3225991" y="4080927"/>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5305996"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121B32AC-29FE-5347-BC89-E1D12CFE9173}"/>
              </a:ext>
            </a:extLst>
          </p:cNvPr>
          <p:cNvSpPr>
            <a:spLocks noGrp="1"/>
          </p:cNvSpPr>
          <p:nvPr>
            <p:ph type="pic" sz="quarter" idx="24"/>
          </p:nvPr>
        </p:nvSpPr>
        <p:spPr>
          <a:xfrm>
            <a:off x="5588241" y="2367425"/>
            <a:ext cx="1030100" cy="1086492"/>
          </a:xfrm>
        </p:spPr>
        <p:txBody>
          <a:bodyPr/>
          <a:lstStyle>
            <a:lvl1pPr>
              <a:buNone/>
              <a:defRPr/>
            </a:lvl1pPr>
          </a:lstStyle>
          <a:p>
            <a:endParaRPr lang="en-US"/>
          </a:p>
        </p:txBody>
      </p:sp>
      <p:sp>
        <p:nvSpPr>
          <p:cNvPr id="36" name="Content Placeholder 2">
            <a:extLst>
              <a:ext uri="{FF2B5EF4-FFF2-40B4-BE49-F238E27FC236}">
                <a16:creationId xmlns:a16="http://schemas.microsoft.com/office/drawing/2014/main" id="{FCAF8AD6-3AD0-422C-B775-D4163897266E}"/>
              </a:ext>
            </a:extLst>
          </p:cNvPr>
          <p:cNvSpPr>
            <a:spLocks noGrp="1"/>
          </p:cNvSpPr>
          <p:nvPr>
            <p:ph idx="19" hasCustomPrompt="1"/>
          </p:nvPr>
        </p:nvSpPr>
        <p:spPr>
          <a:xfrm>
            <a:off x="5285614" y="409557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3</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7346820" y="2120050"/>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Picture Placeholder 3">
            <a:extLst>
              <a:ext uri="{FF2B5EF4-FFF2-40B4-BE49-F238E27FC236}">
                <a16:creationId xmlns:a16="http://schemas.microsoft.com/office/drawing/2014/main" id="{035F86CE-4040-2C49-984A-EDA41DCC41DE}"/>
              </a:ext>
            </a:extLst>
          </p:cNvPr>
          <p:cNvSpPr>
            <a:spLocks noGrp="1"/>
          </p:cNvSpPr>
          <p:nvPr>
            <p:ph type="pic" sz="quarter" idx="25"/>
          </p:nvPr>
        </p:nvSpPr>
        <p:spPr>
          <a:xfrm>
            <a:off x="7583252" y="2382067"/>
            <a:ext cx="1121725" cy="1086492"/>
          </a:xfrm>
        </p:spPr>
        <p:txBody>
          <a:bodyPr/>
          <a:lstStyle>
            <a:lvl1pPr>
              <a:buNone/>
              <a:defRPr/>
            </a:lvl1pPr>
          </a:lstStyle>
          <a:p>
            <a:endParaRPr lang="en-US"/>
          </a:p>
        </p:txBody>
      </p:sp>
      <p:sp>
        <p:nvSpPr>
          <p:cNvPr id="38" name="Content Placeholder 2">
            <a:extLst>
              <a:ext uri="{FF2B5EF4-FFF2-40B4-BE49-F238E27FC236}">
                <a16:creationId xmlns:a16="http://schemas.microsoft.com/office/drawing/2014/main" id="{7322EF39-6BE8-4D2B-B814-5743037B71F3}"/>
              </a:ext>
            </a:extLst>
          </p:cNvPr>
          <p:cNvSpPr>
            <a:spLocks noGrp="1"/>
          </p:cNvSpPr>
          <p:nvPr>
            <p:ph idx="20" hasCustomPrompt="1"/>
          </p:nvPr>
        </p:nvSpPr>
        <p:spPr>
          <a:xfrm>
            <a:off x="7325607" y="4098102"/>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4</a:t>
            </a:r>
          </a:p>
        </p:txBody>
      </p:sp>
      <p:sp>
        <p:nvSpPr>
          <p:cNvPr id="39" name="Oval 38">
            <a:extLst>
              <a:ext uri="{FF2B5EF4-FFF2-40B4-BE49-F238E27FC236}">
                <a16:creationId xmlns:a16="http://schemas.microsoft.com/office/drawing/2014/main" id="{D3182B05-A7F1-450F-AE61-51425BEF3AA6}"/>
              </a:ext>
            </a:extLst>
          </p:cNvPr>
          <p:cNvSpPr/>
          <p:nvPr userDrawn="1"/>
        </p:nvSpPr>
        <p:spPr>
          <a:xfrm>
            <a:off x="9434872" y="2133924"/>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F0B4205C-10C8-FE4A-8B1C-0B1A629E22B6}"/>
              </a:ext>
            </a:extLst>
          </p:cNvPr>
          <p:cNvSpPr>
            <a:spLocks noGrp="1"/>
          </p:cNvSpPr>
          <p:nvPr>
            <p:ph type="pic" sz="quarter" idx="22"/>
          </p:nvPr>
        </p:nvSpPr>
        <p:spPr>
          <a:xfrm>
            <a:off x="9682000" y="2389427"/>
            <a:ext cx="1100333" cy="1086492"/>
          </a:xfrm>
        </p:spPr>
        <p:txBody>
          <a:bodyPr/>
          <a:lstStyle>
            <a:lvl1pPr>
              <a:buNone/>
              <a:defRPr/>
            </a:lvl1pPr>
          </a:lstStyle>
          <a:p>
            <a:endParaRPr lang="en-US"/>
          </a:p>
        </p:txBody>
      </p:sp>
      <p:sp>
        <p:nvSpPr>
          <p:cNvPr id="40" name="Content Placeholder 2">
            <a:extLst>
              <a:ext uri="{FF2B5EF4-FFF2-40B4-BE49-F238E27FC236}">
                <a16:creationId xmlns:a16="http://schemas.microsoft.com/office/drawing/2014/main" id="{0D14923E-7CAE-49B7-9668-7B538ECFDC5F}"/>
              </a:ext>
            </a:extLst>
          </p:cNvPr>
          <p:cNvSpPr>
            <a:spLocks noGrp="1"/>
          </p:cNvSpPr>
          <p:nvPr>
            <p:ph idx="21" hasCustomPrompt="1"/>
          </p:nvPr>
        </p:nvSpPr>
        <p:spPr>
          <a:xfrm>
            <a:off x="9419080" y="4107460"/>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5</a:t>
            </a:r>
          </a:p>
        </p:txBody>
      </p:sp>
      <p:sp>
        <p:nvSpPr>
          <p:cNvPr id="20" name="Rectangle 19">
            <a:extLst>
              <a:ext uri="{FF2B5EF4-FFF2-40B4-BE49-F238E27FC236}">
                <a16:creationId xmlns:a16="http://schemas.microsoft.com/office/drawing/2014/main" id="{76866093-3200-6440-8AB2-9242D398F84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D664CA64-A0A9-F34D-BDC5-9ABCDE7A54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EB50283A-D398-E048-BDA3-92DD544A494E}"/>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4E6E4C3C-033E-0849-C3C1-66D85BACFA29}"/>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9820752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hree Column Photo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4" name="Picture Placeholder 3">
            <a:extLst>
              <a:ext uri="{FF2B5EF4-FFF2-40B4-BE49-F238E27FC236}">
                <a16:creationId xmlns:a16="http://schemas.microsoft.com/office/drawing/2014/main" id="{4C29AABA-668F-408C-81ED-9A30ED0A4BE9}"/>
              </a:ext>
            </a:extLst>
          </p:cNvPr>
          <p:cNvSpPr>
            <a:spLocks noGrp="1"/>
          </p:cNvSpPr>
          <p:nvPr>
            <p:ph type="pic" sz="quarter" idx="15"/>
          </p:nvPr>
        </p:nvSpPr>
        <p:spPr>
          <a:xfrm>
            <a:off x="949325" y="1684461"/>
            <a:ext cx="3170238"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891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4383805"/>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Picture Placeholder 3">
            <a:extLst>
              <a:ext uri="{FF2B5EF4-FFF2-40B4-BE49-F238E27FC236}">
                <a16:creationId xmlns:a16="http://schemas.microsoft.com/office/drawing/2014/main" id="{3C3EF38F-8A6A-4B49-A1A2-467E7797A518}"/>
              </a:ext>
            </a:extLst>
          </p:cNvPr>
          <p:cNvSpPr>
            <a:spLocks noGrp="1"/>
          </p:cNvSpPr>
          <p:nvPr>
            <p:ph type="pic" sz="quarter" idx="16"/>
          </p:nvPr>
        </p:nvSpPr>
        <p:spPr>
          <a:xfrm>
            <a:off x="4602447" y="1677611"/>
            <a:ext cx="2987311" cy="1621608"/>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3537679"/>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4372568"/>
            <a:ext cx="2973372"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1" name="Picture Placeholder 3">
            <a:extLst>
              <a:ext uri="{FF2B5EF4-FFF2-40B4-BE49-F238E27FC236}">
                <a16:creationId xmlns:a16="http://schemas.microsoft.com/office/drawing/2014/main" id="{DDD8951C-5A36-4D07-AB7C-0F597B3D797D}"/>
              </a:ext>
            </a:extLst>
          </p:cNvPr>
          <p:cNvSpPr>
            <a:spLocks noGrp="1"/>
          </p:cNvSpPr>
          <p:nvPr>
            <p:ph type="pic" sz="quarter" idx="17"/>
          </p:nvPr>
        </p:nvSpPr>
        <p:spPr>
          <a:xfrm>
            <a:off x="8072642" y="1684461"/>
            <a:ext cx="3166858" cy="1621608"/>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3537679"/>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4372568"/>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02DAB539-1500-4641-B587-77CADD88349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425DB221-2568-9A44-ABC3-1ED0E0B41E1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5" name="Footer Placeholder 4">
            <a:extLst>
              <a:ext uri="{FF2B5EF4-FFF2-40B4-BE49-F238E27FC236}">
                <a16:creationId xmlns:a16="http://schemas.microsoft.com/office/drawing/2014/main" id="{6E30D721-4805-D344-A3E0-90A8F1D568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07FD898-F87A-8D2E-DCCB-72352316B37C}"/>
              </a:ext>
            </a:extLst>
          </p:cNvPr>
          <p:cNvSpPr>
            <a:spLocks noGrp="1"/>
          </p:cNvSpPr>
          <p:nvPr>
            <p:ph type="sldNum" sz="quarter" idx="1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6468208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p15:clr>
            <a:srgbClr val="FBAE40"/>
          </p15:clr>
        </p15:guide>
        <p15:guide id="7" orient="horz" pos="3744">
          <p15:clr>
            <a:srgbClr val="FBAE40"/>
          </p15:clr>
        </p15:guide>
        <p15:guide id="8" orient="horz" pos="697">
          <p15:clr>
            <a:srgbClr val="FBAE40"/>
          </p15:clr>
        </p15:guide>
        <p15:guide id="9" orient="horz" pos="240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Four Column Photo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userDrawn="1">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6" name="Picture Placeholder 3">
            <a:extLst>
              <a:ext uri="{FF2B5EF4-FFF2-40B4-BE49-F238E27FC236}">
                <a16:creationId xmlns:a16="http://schemas.microsoft.com/office/drawing/2014/main" id="{E21D4365-BAA8-4F76-87AD-1A328301E298}"/>
              </a:ext>
            </a:extLst>
          </p:cNvPr>
          <p:cNvSpPr>
            <a:spLocks noGrp="1"/>
          </p:cNvSpPr>
          <p:nvPr>
            <p:ph type="pic" sz="quarter" idx="19"/>
          </p:nvPr>
        </p:nvSpPr>
        <p:spPr>
          <a:xfrm>
            <a:off x="949325" y="1684461"/>
            <a:ext cx="2373939"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1"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44118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Picture Placeholder 3">
            <a:extLst>
              <a:ext uri="{FF2B5EF4-FFF2-40B4-BE49-F238E27FC236}">
                <a16:creationId xmlns:a16="http://schemas.microsoft.com/office/drawing/2014/main" id="{EB10E167-B94B-AD40-958C-D9E0F8F9DF4A}"/>
              </a:ext>
            </a:extLst>
          </p:cNvPr>
          <p:cNvSpPr>
            <a:spLocks noGrp="1"/>
          </p:cNvSpPr>
          <p:nvPr userDrawn="1">
            <p:ph type="pic" sz="quarter" idx="23"/>
          </p:nvPr>
        </p:nvSpPr>
        <p:spPr>
          <a:xfrm>
            <a:off x="3593362" y="1684461"/>
            <a:ext cx="2373939" cy="1621608"/>
          </a:xfrm>
        </p:spPr>
        <p:txBody>
          <a:bodyPr/>
          <a:lstStyle>
            <a:lvl1pPr>
              <a:buNone/>
              <a:defRPr/>
            </a:lvl1pPr>
          </a:lstStyle>
          <a:p>
            <a:endParaRPr lang="en-US"/>
          </a:p>
        </p:txBody>
      </p:sp>
      <p:sp>
        <p:nvSpPr>
          <p:cNvPr id="25" name="Content Placeholder 2">
            <a:extLst>
              <a:ext uri="{FF2B5EF4-FFF2-40B4-BE49-F238E27FC236}">
                <a16:creationId xmlns:a16="http://schemas.microsoft.com/office/drawing/2014/main" id="{C03DF098-BB37-5848-9388-750D29EFC657}"/>
              </a:ext>
            </a:extLst>
          </p:cNvPr>
          <p:cNvSpPr>
            <a:spLocks noGrp="1"/>
          </p:cNvSpPr>
          <p:nvPr userDrawn="1">
            <p:ph idx="24" hasCustomPrompt="1"/>
          </p:nvPr>
        </p:nvSpPr>
        <p:spPr>
          <a:xfrm>
            <a:off x="3630386"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3" name="Content Placeholder 2">
            <a:extLst>
              <a:ext uri="{FF2B5EF4-FFF2-40B4-BE49-F238E27FC236}">
                <a16:creationId xmlns:a16="http://schemas.microsoft.com/office/drawing/2014/main" id="{6FE4DEF0-41BC-4548-B7BA-1E5B0231AFFD}"/>
              </a:ext>
            </a:extLst>
          </p:cNvPr>
          <p:cNvSpPr>
            <a:spLocks noGrp="1"/>
          </p:cNvSpPr>
          <p:nvPr userDrawn="1">
            <p:ph idx="25" hasCustomPrompt="1"/>
          </p:nvPr>
        </p:nvSpPr>
        <p:spPr>
          <a:xfrm>
            <a:off x="3630387"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574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4" name="Picture Placeholder 3">
            <a:extLst>
              <a:ext uri="{FF2B5EF4-FFF2-40B4-BE49-F238E27FC236}">
                <a16:creationId xmlns:a16="http://schemas.microsoft.com/office/drawing/2014/main" id="{864CDDAA-23B4-C842-845C-7640D95F2B65}"/>
              </a:ext>
            </a:extLst>
          </p:cNvPr>
          <p:cNvSpPr>
            <a:spLocks noGrp="1"/>
          </p:cNvSpPr>
          <p:nvPr userDrawn="1">
            <p:ph type="pic" sz="quarter" idx="26"/>
          </p:nvPr>
        </p:nvSpPr>
        <p:spPr>
          <a:xfrm>
            <a:off x="6237399" y="1684461"/>
            <a:ext cx="2373939" cy="1621608"/>
          </a:xfrm>
        </p:spPr>
        <p:txBody>
          <a:bodyPr/>
          <a:lstStyle>
            <a:lvl1pPr>
              <a:buNone/>
              <a:defRPr/>
            </a:lvl1pPr>
          </a:lstStyle>
          <a:p>
            <a:endParaRPr lang="en-US"/>
          </a:p>
        </p:txBody>
      </p:sp>
      <p:sp>
        <p:nvSpPr>
          <p:cNvPr id="35" name="Content Placeholder 2">
            <a:extLst>
              <a:ext uri="{FF2B5EF4-FFF2-40B4-BE49-F238E27FC236}">
                <a16:creationId xmlns:a16="http://schemas.microsoft.com/office/drawing/2014/main" id="{DEB8CCE3-3756-5947-84B2-DFCA00A013F6}"/>
              </a:ext>
            </a:extLst>
          </p:cNvPr>
          <p:cNvSpPr>
            <a:spLocks noGrp="1"/>
          </p:cNvSpPr>
          <p:nvPr userDrawn="1">
            <p:ph idx="27" hasCustomPrompt="1"/>
          </p:nvPr>
        </p:nvSpPr>
        <p:spPr>
          <a:xfrm>
            <a:off x="6242957"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6" name="Content Placeholder 2">
            <a:extLst>
              <a:ext uri="{FF2B5EF4-FFF2-40B4-BE49-F238E27FC236}">
                <a16:creationId xmlns:a16="http://schemas.microsoft.com/office/drawing/2014/main" id="{09C56F7D-4836-1E4F-BD4C-CB150E12E098}"/>
              </a:ext>
            </a:extLst>
          </p:cNvPr>
          <p:cNvSpPr>
            <a:spLocks noGrp="1"/>
          </p:cNvSpPr>
          <p:nvPr userDrawn="1">
            <p:ph idx="28" hasCustomPrompt="1"/>
          </p:nvPr>
        </p:nvSpPr>
        <p:spPr>
          <a:xfrm>
            <a:off x="6242958"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7503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Picture Placeholder 3">
            <a:extLst>
              <a:ext uri="{FF2B5EF4-FFF2-40B4-BE49-F238E27FC236}">
                <a16:creationId xmlns:a16="http://schemas.microsoft.com/office/drawing/2014/main" id="{06A5C640-1D0E-4428-AC28-148AE98A7B34}"/>
              </a:ext>
            </a:extLst>
          </p:cNvPr>
          <p:cNvSpPr>
            <a:spLocks noGrp="1"/>
          </p:cNvSpPr>
          <p:nvPr userDrawn="1">
            <p:ph type="pic" sz="quarter" idx="22"/>
          </p:nvPr>
        </p:nvSpPr>
        <p:spPr>
          <a:xfrm>
            <a:off x="8881435" y="1680693"/>
            <a:ext cx="2349365" cy="1621608"/>
          </a:xfrm>
        </p:spPr>
        <p:txBody>
          <a:bodyPr/>
          <a:lstStyle>
            <a:lvl1pPr>
              <a:buNone/>
              <a:defRPr/>
            </a:lvl1pPr>
          </a:lstStyle>
          <a:p>
            <a:endParaRPr lang="en-US"/>
          </a:p>
        </p:txBody>
      </p:sp>
      <p:sp>
        <p:nvSpPr>
          <p:cNvPr id="19" name="Content Placeholder 2">
            <a:extLst>
              <a:ext uri="{FF2B5EF4-FFF2-40B4-BE49-F238E27FC236}">
                <a16:creationId xmlns:a16="http://schemas.microsoft.com/office/drawing/2014/main" id="{A07502CC-5B90-4BCF-B63B-36D026C9AE96}"/>
              </a:ext>
            </a:extLst>
          </p:cNvPr>
          <p:cNvSpPr>
            <a:spLocks noGrp="1"/>
          </p:cNvSpPr>
          <p:nvPr userDrawn="1">
            <p:ph idx="15" hasCustomPrompt="1"/>
          </p:nvPr>
        </p:nvSpPr>
        <p:spPr>
          <a:xfrm>
            <a:off x="8875080" y="354891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userDrawn="1">
            <p:ph idx="16" hasCustomPrompt="1"/>
          </p:nvPr>
        </p:nvSpPr>
        <p:spPr>
          <a:xfrm>
            <a:off x="8875081" y="4362520"/>
            <a:ext cx="2358867" cy="1408470"/>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CA720753-9BFD-2840-9C93-FF72942ED6E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2" name="Picture 31" descr="The University of Iowa">
            <a:extLst>
              <a:ext uri="{FF2B5EF4-FFF2-40B4-BE49-F238E27FC236}">
                <a16:creationId xmlns:a16="http://schemas.microsoft.com/office/drawing/2014/main" id="{710BB67D-293B-374F-89FC-5F2EBF9F2923}"/>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1" name="Footer Placeholder 4">
            <a:extLst>
              <a:ext uri="{FF2B5EF4-FFF2-40B4-BE49-F238E27FC236}">
                <a16:creationId xmlns:a16="http://schemas.microsoft.com/office/drawing/2014/main" id="{9EE9B966-22C9-0D4A-8DF7-FFA7CF9C9DD8}"/>
              </a:ext>
            </a:extLst>
          </p:cNvPr>
          <p:cNvSpPr>
            <a:spLocks noGrp="1"/>
          </p:cNvSpPr>
          <p:nvPr userDrawn="1">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B65966A9-CD5A-4642-90C1-F11B0C05DEA7}"/>
              </a:ext>
            </a:extLst>
          </p:cNvPr>
          <p:cNvSpPr>
            <a:spLocks noGrp="1"/>
          </p:cNvSpPr>
          <p:nvPr>
            <p:ph type="sldNum" sz="quarter" idx="2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7002199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ve Column Photo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2" name="Picture Placeholder 3">
            <a:extLst>
              <a:ext uri="{FF2B5EF4-FFF2-40B4-BE49-F238E27FC236}">
                <a16:creationId xmlns:a16="http://schemas.microsoft.com/office/drawing/2014/main" id="{14F11A61-EE32-4596-8BBC-0626131F1E6F}"/>
              </a:ext>
            </a:extLst>
          </p:cNvPr>
          <p:cNvSpPr>
            <a:spLocks noGrp="1"/>
          </p:cNvSpPr>
          <p:nvPr>
            <p:ph type="pic" sz="quarter" idx="19"/>
          </p:nvPr>
        </p:nvSpPr>
        <p:spPr>
          <a:xfrm>
            <a:off x="952499" y="1684461"/>
            <a:ext cx="1832437"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29247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5" name="Picture Placeholder 3">
            <a:extLst>
              <a:ext uri="{FF2B5EF4-FFF2-40B4-BE49-F238E27FC236}">
                <a16:creationId xmlns:a16="http://schemas.microsoft.com/office/drawing/2014/main" id="{10B80E7E-3ECA-A84C-BBC2-DF9FD6DED4FD}"/>
              </a:ext>
            </a:extLst>
          </p:cNvPr>
          <p:cNvSpPr>
            <a:spLocks noGrp="1"/>
          </p:cNvSpPr>
          <p:nvPr>
            <p:ph type="pic" sz="quarter" idx="28"/>
          </p:nvPr>
        </p:nvSpPr>
        <p:spPr>
          <a:xfrm>
            <a:off x="3053442" y="1684461"/>
            <a:ext cx="1832437" cy="1621608"/>
          </a:xfrm>
        </p:spPr>
        <p:txBody>
          <a:bodyPr/>
          <a:lstStyle>
            <a:lvl1pPr>
              <a:buNone/>
              <a:defRPr/>
            </a:lvl1pPr>
          </a:lstStyle>
          <a:p>
            <a:endParaRPr lang="en-US"/>
          </a:p>
        </p:txBody>
      </p:sp>
      <p:sp>
        <p:nvSpPr>
          <p:cNvPr id="44" name="Content Placeholder 2">
            <a:extLst>
              <a:ext uri="{FF2B5EF4-FFF2-40B4-BE49-F238E27FC236}">
                <a16:creationId xmlns:a16="http://schemas.microsoft.com/office/drawing/2014/main" id="{AB9C78E2-4679-F844-BB37-D2E07B542CA3}"/>
              </a:ext>
            </a:extLst>
          </p:cNvPr>
          <p:cNvSpPr>
            <a:spLocks noGrp="1"/>
          </p:cNvSpPr>
          <p:nvPr>
            <p:ph idx="27" hasCustomPrompt="1"/>
          </p:nvPr>
        </p:nvSpPr>
        <p:spPr>
          <a:xfrm>
            <a:off x="30534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5" name="Content Placeholder 2">
            <a:extLst>
              <a:ext uri="{FF2B5EF4-FFF2-40B4-BE49-F238E27FC236}">
                <a16:creationId xmlns:a16="http://schemas.microsoft.com/office/drawing/2014/main" id="{0F3EA205-7109-BC44-BA2C-7704780449E8}"/>
              </a:ext>
            </a:extLst>
          </p:cNvPr>
          <p:cNvSpPr>
            <a:spLocks noGrp="1"/>
          </p:cNvSpPr>
          <p:nvPr>
            <p:ph idx="26" hasCustomPrompt="1"/>
          </p:nvPr>
        </p:nvSpPr>
        <p:spPr>
          <a:xfrm>
            <a:off x="30534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36631"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8" name="Picture Placeholder 3">
            <a:extLst>
              <a:ext uri="{FF2B5EF4-FFF2-40B4-BE49-F238E27FC236}">
                <a16:creationId xmlns:a16="http://schemas.microsoft.com/office/drawing/2014/main" id="{4EF24A51-2D82-AA40-8405-8CFEC6F5CB5D}"/>
              </a:ext>
            </a:extLst>
          </p:cNvPr>
          <p:cNvSpPr>
            <a:spLocks noGrp="1"/>
          </p:cNvSpPr>
          <p:nvPr>
            <p:ph type="pic" sz="quarter" idx="31"/>
          </p:nvPr>
        </p:nvSpPr>
        <p:spPr>
          <a:xfrm>
            <a:off x="5187042" y="1684461"/>
            <a:ext cx="1832437" cy="1621608"/>
          </a:xfrm>
        </p:spPr>
        <p:txBody>
          <a:bodyPr/>
          <a:lstStyle>
            <a:lvl1pPr>
              <a:buNone/>
              <a:defRPr/>
            </a:lvl1pPr>
          </a:lstStyle>
          <a:p>
            <a:endParaRPr lang="en-US"/>
          </a:p>
        </p:txBody>
      </p:sp>
      <p:sp>
        <p:nvSpPr>
          <p:cNvPr id="47" name="Content Placeholder 2">
            <a:extLst>
              <a:ext uri="{FF2B5EF4-FFF2-40B4-BE49-F238E27FC236}">
                <a16:creationId xmlns:a16="http://schemas.microsoft.com/office/drawing/2014/main" id="{90D707E7-5635-444F-BB41-10E2268CC099}"/>
              </a:ext>
            </a:extLst>
          </p:cNvPr>
          <p:cNvSpPr>
            <a:spLocks noGrp="1"/>
          </p:cNvSpPr>
          <p:nvPr>
            <p:ph idx="30" hasCustomPrompt="1"/>
          </p:nvPr>
        </p:nvSpPr>
        <p:spPr>
          <a:xfrm>
            <a:off x="51870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6" name="Content Placeholder 2">
            <a:extLst>
              <a:ext uri="{FF2B5EF4-FFF2-40B4-BE49-F238E27FC236}">
                <a16:creationId xmlns:a16="http://schemas.microsoft.com/office/drawing/2014/main" id="{4340EF3F-9B6C-B54B-94AD-7275543213B0}"/>
              </a:ext>
            </a:extLst>
          </p:cNvPr>
          <p:cNvSpPr>
            <a:spLocks noGrp="1"/>
          </p:cNvSpPr>
          <p:nvPr>
            <p:ph idx="29" hasCustomPrompt="1"/>
          </p:nvPr>
        </p:nvSpPr>
        <p:spPr>
          <a:xfrm>
            <a:off x="51870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484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1" name="Picture Placeholder 3">
            <a:extLst>
              <a:ext uri="{FF2B5EF4-FFF2-40B4-BE49-F238E27FC236}">
                <a16:creationId xmlns:a16="http://schemas.microsoft.com/office/drawing/2014/main" id="{4D703A3B-87F3-AE45-90D2-795F9DA88577}"/>
              </a:ext>
            </a:extLst>
          </p:cNvPr>
          <p:cNvSpPr>
            <a:spLocks noGrp="1"/>
          </p:cNvSpPr>
          <p:nvPr>
            <p:ph type="pic" sz="quarter" idx="34"/>
          </p:nvPr>
        </p:nvSpPr>
        <p:spPr>
          <a:xfrm>
            <a:off x="7266213" y="1684461"/>
            <a:ext cx="1832437" cy="1621608"/>
          </a:xfrm>
        </p:spPr>
        <p:txBody>
          <a:bodyPr/>
          <a:lstStyle>
            <a:lvl1pPr>
              <a:buNone/>
              <a:defRPr/>
            </a:lvl1pPr>
          </a:lstStyle>
          <a:p>
            <a:endParaRPr lang="en-US"/>
          </a:p>
        </p:txBody>
      </p:sp>
      <p:sp>
        <p:nvSpPr>
          <p:cNvPr id="50" name="Content Placeholder 2">
            <a:extLst>
              <a:ext uri="{FF2B5EF4-FFF2-40B4-BE49-F238E27FC236}">
                <a16:creationId xmlns:a16="http://schemas.microsoft.com/office/drawing/2014/main" id="{5C95157B-C7FC-864F-A9C2-08E02E26EE07}"/>
              </a:ext>
            </a:extLst>
          </p:cNvPr>
          <p:cNvSpPr>
            <a:spLocks noGrp="1"/>
          </p:cNvSpPr>
          <p:nvPr>
            <p:ph idx="33" hasCustomPrompt="1"/>
          </p:nvPr>
        </p:nvSpPr>
        <p:spPr>
          <a:xfrm>
            <a:off x="7266215"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9" name="Content Placeholder 2">
            <a:extLst>
              <a:ext uri="{FF2B5EF4-FFF2-40B4-BE49-F238E27FC236}">
                <a16:creationId xmlns:a16="http://schemas.microsoft.com/office/drawing/2014/main" id="{71E05108-E0DC-6947-A186-EA5436079AAF}"/>
              </a:ext>
            </a:extLst>
          </p:cNvPr>
          <p:cNvSpPr>
            <a:spLocks noGrp="1"/>
          </p:cNvSpPr>
          <p:nvPr>
            <p:ph idx="32" hasCustomPrompt="1"/>
          </p:nvPr>
        </p:nvSpPr>
        <p:spPr>
          <a:xfrm>
            <a:off x="7266216"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2603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4" name="Picture Placeholder 3">
            <a:extLst>
              <a:ext uri="{FF2B5EF4-FFF2-40B4-BE49-F238E27FC236}">
                <a16:creationId xmlns:a16="http://schemas.microsoft.com/office/drawing/2014/main" id="{E90B3032-DDF8-0446-8BB7-81565519E036}"/>
              </a:ext>
            </a:extLst>
          </p:cNvPr>
          <p:cNvSpPr>
            <a:spLocks noGrp="1"/>
          </p:cNvSpPr>
          <p:nvPr>
            <p:ph type="pic" sz="quarter" idx="37"/>
          </p:nvPr>
        </p:nvSpPr>
        <p:spPr>
          <a:xfrm>
            <a:off x="9410699" y="1684461"/>
            <a:ext cx="1832437" cy="1621608"/>
          </a:xfrm>
        </p:spPr>
        <p:txBody>
          <a:bodyPr/>
          <a:lstStyle>
            <a:lvl1pPr>
              <a:buNone/>
              <a:defRPr/>
            </a:lvl1pPr>
          </a:lstStyle>
          <a:p>
            <a:endParaRPr lang="en-US"/>
          </a:p>
        </p:txBody>
      </p:sp>
      <p:sp>
        <p:nvSpPr>
          <p:cNvPr id="53" name="Content Placeholder 2">
            <a:extLst>
              <a:ext uri="{FF2B5EF4-FFF2-40B4-BE49-F238E27FC236}">
                <a16:creationId xmlns:a16="http://schemas.microsoft.com/office/drawing/2014/main" id="{724287DA-FEAD-6E4A-83EC-B59516E2386C}"/>
              </a:ext>
            </a:extLst>
          </p:cNvPr>
          <p:cNvSpPr>
            <a:spLocks noGrp="1"/>
          </p:cNvSpPr>
          <p:nvPr>
            <p:ph idx="36" hasCustomPrompt="1"/>
          </p:nvPr>
        </p:nvSpPr>
        <p:spPr>
          <a:xfrm>
            <a:off x="9410701" y="3545060"/>
            <a:ext cx="1826629" cy="67511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52" name="Content Placeholder 2">
            <a:extLst>
              <a:ext uri="{FF2B5EF4-FFF2-40B4-BE49-F238E27FC236}">
                <a16:creationId xmlns:a16="http://schemas.microsoft.com/office/drawing/2014/main" id="{4FC143B3-231A-2B46-ABBF-7F6B6BBF4596}"/>
              </a:ext>
            </a:extLst>
          </p:cNvPr>
          <p:cNvSpPr>
            <a:spLocks noGrp="1"/>
          </p:cNvSpPr>
          <p:nvPr>
            <p:ph idx="35" hasCustomPrompt="1"/>
          </p:nvPr>
        </p:nvSpPr>
        <p:spPr>
          <a:xfrm>
            <a:off x="94107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6" name="Rectangle 35">
            <a:extLst>
              <a:ext uri="{FF2B5EF4-FFF2-40B4-BE49-F238E27FC236}">
                <a16:creationId xmlns:a16="http://schemas.microsoft.com/office/drawing/2014/main" id="{8A4E17D8-CAFF-0E47-97EF-4D4BC59FFC70}"/>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43" name="Picture 42" descr="The University of Iowa">
            <a:extLst>
              <a:ext uri="{FF2B5EF4-FFF2-40B4-BE49-F238E27FC236}">
                <a16:creationId xmlns:a16="http://schemas.microsoft.com/office/drawing/2014/main" id="{924E35CA-EA2E-084A-B4D2-736FEA8C0D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8" name="Footer Placeholder 4">
            <a:extLst>
              <a:ext uri="{FF2B5EF4-FFF2-40B4-BE49-F238E27FC236}">
                <a16:creationId xmlns:a16="http://schemas.microsoft.com/office/drawing/2014/main" id="{D752B61A-80FF-1049-8A33-5614EE9DC80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CA6881A2-9CAF-9700-2E26-1544BBDCAFF8}"/>
              </a:ext>
            </a:extLst>
          </p:cNvPr>
          <p:cNvSpPr>
            <a:spLocks noGrp="1"/>
          </p:cNvSpPr>
          <p:nvPr>
            <p:ph type="sldNum" sz="quarter" idx="3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83545689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ullet Slide - Photo">
    <p:spTree>
      <p:nvGrpSpPr>
        <p:cNvPr id="1" name=""/>
        <p:cNvGrpSpPr/>
        <p:nvPr/>
      </p:nvGrpSpPr>
      <p:grpSpPr>
        <a:xfrm>
          <a:off x="0" y="0"/>
          <a:ext cx="0" cy="0"/>
          <a:chOff x="0" y="0"/>
          <a:chExt cx="0" cy="0"/>
        </a:xfrm>
      </p:grpSpPr>
      <p:sp>
        <p:nvSpPr>
          <p:cNvPr id="17" name="Title 20">
            <a:extLst>
              <a:ext uri="{FF2B5EF4-FFF2-40B4-BE49-F238E27FC236}">
                <a16:creationId xmlns:a16="http://schemas.microsoft.com/office/drawing/2014/main" id="{2BA8F287-92C7-4FFD-A7E9-45864F8E91A4}"/>
              </a:ext>
            </a:extLst>
          </p:cNvPr>
          <p:cNvSpPr>
            <a:spLocks noGrp="1"/>
          </p:cNvSpPr>
          <p:nvPr>
            <p:ph type="title" hasCustomPrompt="1"/>
          </p:nvPr>
        </p:nvSpPr>
        <p:spPr>
          <a:xfrm>
            <a:off x="949325" y="498296"/>
            <a:ext cx="5260975" cy="896116"/>
          </a:xfrm>
        </p:spPr>
        <p:txBody>
          <a:bodyPr/>
          <a:lstStyle>
            <a:lvl1pPr>
              <a:defRPr/>
            </a:lvl1pPr>
          </a:lstStyle>
          <a:p>
            <a:r>
              <a:rPr lang="en-US"/>
              <a:t>Click to edit Title</a:t>
            </a:r>
          </a:p>
        </p:txBody>
      </p:sp>
      <p:cxnSp>
        <p:nvCxnSpPr>
          <p:cNvPr id="16" name="Straight Connector 15">
            <a:extLst>
              <a:ext uri="{FF2B5EF4-FFF2-40B4-BE49-F238E27FC236}">
                <a16:creationId xmlns:a16="http://schemas.microsoft.com/office/drawing/2014/main" id="{0F31F03A-71CF-475D-8A3C-99FC106D73E8}"/>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47404DB8-B6AC-4389-8E6E-A115840D1D74}"/>
              </a:ext>
            </a:extLst>
          </p:cNvPr>
          <p:cNvSpPr>
            <a:spLocks noGrp="1"/>
          </p:cNvSpPr>
          <p:nvPr>
            <p:ph idx="1"/>
          </p:nvPr>
        </p:nvSpPr>
        <p:spPr>
          <a:xfrm>
            <a:off x="952499" y="1686757"/>
            <a:ext cx="5257801"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42EEDE3-0B18-E049-BE23-974E50C72979}"/>
              </a:ext>
            </a:extLst>
          </p:cNvPr>
          <p:cNvSpPr>
            <a:spLocks noGrp="1"/>
          </p:cNvSpPr>
          <p:nvPr>
            <p:ph type="pic" sz="quarter" idx="11"/>
          </p:nvPr>
        </p:nvSpPr>
        <p:spPr>
          <a:xfrm>
            <a:off x="7171534" y="0"/>
            <a:ext cx="5029200" cy="6389511"/>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sp>
        <p:nvSpPr>
          <p:cNvPr id="9" name="Rectangle 8">
            <a:extLst>
              <a:ext uri="{FF2B5EF4-FFF2-40B4-BE49-F238E27FC236}">
                <a16:creationId xmlns:a16="http://schemas.microsoft.com/office/drawing/2014/main" id="{7420F7CB-393D-BF45-B52D-542FDDEFCAF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2" name="Picture 11" descr="The University of Iowa">
            <a:extLst>
              <a:ext uri="{FF2B5EF4-FFF2-40B4-BE49-F238E27FC236}">
                <a16:creationId xmlns:a16="http://schemas.microsoft.com/office/drawing/2014/main" id="{9CE5618D-3613-E04D-A815-ED9A2C5AA3C5}"/>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1" name="Footer Placeholder 4">
            <a:extLst>
              <a:ext uri="{FF2B5EF4-FFF2-40B4-BE49-F238E27FC236}">
                <a16:creationId xmlns:a16="http://schemas.microsoft.com/office/drawing/2014/main" id="{C35C85E8-314E-3E45-BB26-1A95C606F050}"/>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0B959E-42EE-0F21-434B-1679323AFA03}"/>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12" userDrawn="1">
          <p15:clr>
            <a:srgbClr val="FBAE40"/>
          </p15:clr>
        </p15:guide>
        <p15:guide id="3" pos="600" userDrawn="1">
          <p15:clr>
            <a:srgbClr val="FBAE40"/>
          </p15:clr>
        </p15:guide>
        <p15:guide id="4" orient="horz" pos="1056"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 Slide - Photo Collage">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7524483D-CFE3-E34D-BB74-CEDD541765E2}"/>
              </a:ext>
            </a:extLst>
          </p:cNvPr>
          <p:cNvSpPr>
            <a:spLocks noGrp="1"/>
          </p:cNvSpPr>
          <p:nvPr>
            <p:ph type="title"/>
          </p:nvPr>
        </p:nvSpPr>
        <p:spPr>
          <a:xfrm>
            <a:off x="952499" y="365125"/>
            <a:ext cx="5254505" cy="1331865"/>
          </a:xfrm>
        </p:spPr>
        <p:txBody>
          <a:bodyPr/>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17" name="Straight Connector 16">
            <a:extLst>
              <a:ext uri="{FF2B5EF4-FFF2-40B4-BE49-F238E27FC236}">
                <a16:creationId xmlns:a16="http://schemas.microsoft.com/office/drawing/2014/main" id="{EB28F420-DDD1-5E4A-9513-EAE252D759FE}"/>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65D1D7B4-E242-C142-8F5F-F3301CC02498}"/>
              </a:ext>
            </a:extLst>
          </p:cNvPr>
          <p:cNvSpPr>
            <a:spLocks noGrp="1"/>
          </p:cNvSpPr>
          <p:nvPr>
            <p:ph idx="1"/>
          </p:nvPr>
        </p:nvSpPr>
        <p:spPr>
          <a:xfrm>
            <a:off x="952499" y="1962386"/>
            <a:ext cx="5266450" cy="3981214"/>
          </a:xfrm>
        </p:spPr>
        <p:txBody>
          <a:bodyPr/>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Font typeface="Roboto" panose="02000000000000000000" pitchFamily="2" charset="0"/>
              <a:buChar char="–"/>
              <a:defRPr>
                <a:latin typeface="Roboto" panose="02000000000000000000" pitchFamily="2" charset="0"/>
                <a:ea typeface="Roboto" panose="02000000000000000000" pitchFamily="2" charset="0"/>
              </a:defRPr>
            </a:lvl2pPr>
            <a:lvl3pPr>
              <a:buClr>
                <a:schemeClr val="tx2"/>
              </a:buClr>
              <a:defRPr>
                <a:latin typeface="Roboto" panose="02000000000000000000" pitchFamily="2" charset="0"/>
                <a:ea typeface="Roboto" panose="02000000000000000000" pitchFamily="2" charset="0"/>
              </a:defRPr>
            </a:lvl3pPr>
            <a:lvl4pPr marL="16002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Picture Placeholder 4">
            <a:extLst>
              <a:ext uri="{FF2B5EF4-FFF2-40B4-BE49-F238E27FC236}">
                <a16:creationId xmlns:a16="http://schemas.microsoft.com/office/drawing/2014/main" id="{04FCC643-718F-7645-8F8D-0BFC94D0506B}"/>
              </a:ext>
            </a:extLst>
          </p:cNvPr>
          <p:cNvSpPr>
            <a:spLocks noGrp="1"/>
          </p:cNvSpPr>
          <p:nvPr>
            <p:ph type="pic" sz="quarter" idx="14"/>
          </p:nvPr>
        </p:nvSpPr>
        <p:spPr>
          <a:xfrm>
            <a:off x="7159502"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9" name="Picture Placeholder 4">
            <a:extLst>
              <a:ext uri="{FF2B5EF4-FFF2-40B4-BE49-F238E27FC236}">
                <a16:creationId xmlns:a16="http://schemas.microsoft.com/office/drawing/2014/main" id="{41C31617-CC11-4C42-B6D0-164DF6AFBF41}"/>
              </a:ext>
            </a:extLst>
          </p:cNvPr>
          <p:cNvSpPr>
            <a:spLocks noGrp="1"/>
          </p:cNvSpPr>
          <p:nvPr>
            <p:ph type="pic" sz="quarter" idx="15"/>
          </p:nvPr>
        </p:nvSpPr>
        <p:spPr>
          <a:xfrm>
            <a:off x="9713630"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6" name="Picture Placeholder 4">
            <a:extLst>
              <a:ext uri="{FF2B5EF4-FFF2-40B4-BE49-F238E27FC236}">
                <a16:creationId xmlns:a16="http://schemas.microsoft.com/office/drawing/2014/main" id="{3E5CE386-BEFE-FE49-A675-D93BEDF680BC}"/>
              </a:ext>
            </a:extLst>
          </p:cNvPr>
          <p:cNvSpPr>
            <a:spLocks noGrp="1"/>
          </p:cNvSpPr>
          <p:nvPr>
            <p:ph type="pic" sz="quarter" idx="11" hasCustomPrompt="1"/>
          </p:nvPr>
        </p:nvSpPr>
        <p:spPr>
          <a:xfrm>
            <a:off x="7159502" y="3260862"/>
            <a:ext cx="5032499" cy="3128649"/>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 Click icon to add picture </a:t>
            </a:r>
          </a:p>
        </p:txBody>
      </p:sp>
      <p:sp>
        <p:nvSpPr>
          <p:cNvPr id="11" name="Rectangle 10">
            <a:extLst>
              <a:ext uri="{FF2B5EF4-FFF2-40B4-BE49-F238E27FC236}">
                <a16:creationId xmlns:a16="http://schemas.microsoft.com/office/drawing/2014/main" id="{BC24DFA0-3257-B044-87EF-16154359E2FC}"/>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9" name="Picture 18" descr="The University of Iowa">
            <a:extLst>
              <a:ext uri="{FF2B5EF4-FFF2-40B4-BE49-F238E27FC236}">
                <a16:creationId xmlns:a16="http://schemas.microsoft.com/office/drawing/2014/main" id="{87382191-DF4D-7341-915C-9C10445352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21405B1-B61E-0943-909C-EFA16B5EE48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E725FBB-5739-FC55-71CA-2D2B101AE0A3}"/>
              </a:ext>
            </a:extLst>
          </p:cNvPr>
          <p:cNvSpPr>
            <a:spLocks noGrp="1"/>
          </p:cNvSpPr>
          <p:nvPr>
            <p:ph type="sldNum" sz="quarter" idx="16"/>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338072623"/>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26" userDrawn="1">
          <p15:clr>
            <a:srgbClr val="FBAE40"/>
          </p15:clr>
        </p15:guide>
        <p15:guide id="3" pos="600" userDrawn="1">
          <p15:clr>
            <a:srgbClr val="FBAE40"/>
          </p15:clr>
        </p15:guide>
        <p15:guide id="4" orient="horz" pos="240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p:nvPr>
        </p:nvSpPr>
        <p:spPr>
          <a:xfrm>
            <a:off x="949325" y="494273"/>
            <a:ext cx="10290175" cy="869089"/>
          </a:xfrm>
        </p:spPr>
        <p:txBody>
          <a:bodyPr lIns="0" tIns="0" rIns="0" bIns="0"/>
          <a:lstStyle/>
          <a:p>
            <a:r>
              <a:rPr lang="en-US"/>
              <a:t>Click to edit Master title style</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49325"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DF1F65E7-1CB7-3D42-91A9-88DA4E58EB0E}"/>
              </a:ext>
            </a:extLst>
          </p:cNvPr>
          <p:cNvSpPr>
            <a:spLocks noGrp="1"/>
          </p:cNvSpPr>
          <p:nvPr>
            <p:ph type="chart" sz="quarter" idx="10"/>
          </p:nvPr>
        </p:nvSpPr>
        <p:spPr>
          <a:xfrm>
            <a:off x="949325" y="1570038"/>
            <a:ext cx="10290175" cy="4114800"/>
          </a:xfrm>
        </p:spPr>
        <p:txBody>
          <a:bodyPr lIns="0" tIns="0" rIns="0" bIns="0"/>
          <a:lstStyle/>
          <a:p>
            <a:endParaRPr lang="en-US"/>
          </a:p>
        </p:txBody>
      </p:sp>
      <p:sp>
        <p:nvSpPr>
          <p:cNvPr id="12" name="Rectangle 11">
            <a:extLst>
              <a:ext uri="{FF2B5EF4-FFF2-40B4-BE49-F238E27FC236}">
                <a16:creationId xmlns:a16="http://schemas.microsoft.com/office/drawing/2014/main" id="{1F56D074-0631-F846-A2A3-4A39FEAEFDD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F53BBB5F-6629-C742-91EE-40B5B8BC1084}"/>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B3AC09A7-82B4-6B47-A4FB-CA6800EAFBA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3" name="Slide Number Placeholder 2">
            <a:extLst>
              <a:ext uri="{FF2B5EF4-FFF2-40B4-BE49-F238E27FC236}">
                <a16:creationId xmlns:a16="http://schemas.microsoft.com/office/drawing/2014/main" id="{2DA415F6-3853-C197-5E91-5F3F7ECF649E}"/>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42765285"/>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1"/>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AC533B8E-DBF3-664D-901D-8735DE775212}"/>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8383" y="3029213"/>
            <a:ext cx="2687038"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tx1"/>
          </a:solidFill>
          <a:ln>
            <a:noFill/>
          </a:ln>
        </p:spPr>
        <p:txBody>
          <a:bodyPr wrap="none" lIns="91440" tIns="45720" rIns="91440" bIns="45720">
            <a:spAutoFit/>
          </a:bodyPr>
          <a:lstStyle>
            <a:lvl1pPr marL="0" indent="0">
              <a:buNone/>
              <a:defRPr sz="1800">
                <a:solidFill>
                  <a:schemeClr val="bg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5" name="Group 14">
            <a:extLst>
              <a:ext uri="{FF2B5EF4-FFF2-40B4-BE49-F238E27FC236}">
                <a16:creationId xmlns:a16="http://schemas.microsoft.com/office/drawing/2014/main" id="{EB262A30-5EEC-5549-B428-7E5B11A5D7A7}"/>
              </a:ext>
            </a:extLst>
          </p:cNvPr>
          <p:cNvGrpSpPr/>
          <p:nvPr userDrawn="1"/>
        </p:nvGrpSpPr>
        <p:grpSpPr>
          <a:xfrm>
            <a:off x="1071271" y="5122118"/>
            <a:ext cx="142379" cy="150373"/>
            <a:chOff x="3057746" y="812006"/>
            <a:chExt cx="173610" cy="183357"/>
          </a:xfrm>
          <a:noFill/>
        </p:grpSpPr>
        <p:cxnSp>
          <p:nvCxnSpPr>
            <p:cNvPr id="16" name="Straight Connector 15">
              <a:extLst>
                <a:ext uri="{FF2B5EF4-FFF2-40B4-BE49-F238E27FC236}">
                  <a16:creationId xmlns:a16="http://schemas.microsoft.com/office/drawing/2014/main" id="{1699B573-1E8F-3547-9D64-50A2EC630F1F}"/>
                </a:ext>
              </a:extLst>
            </p:cNvPr>
            <p:cNvCxnSpPr/>
            <p:nvPr userDrawn="1"/>
          </p:nvCxnSpPr>
          <p:spPr>
            <a:xfrm>
              <a:off x="3057746" y="904875"/>
              <a:ext cx="173610" cy="0"/>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Freeform: Shape 12">
              <a:extLst>
                <a:ext uri="{FF2B5EF4-FFF2-40B4-BE49-F238E27FC236}">
                  <a16:creationId xmlns:a16="http://schemas.microsoft.com/office/drawing/2014/main" id="{68F32139-4BAE-F54C-8358-EF5839C5813E}"/>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4" name="Picture 13">
            <a:extLst>
              <a:ext uri="{FF2B5EF4-FFF2-40B4-BE49-F238E27FC236}">
                <a16:creationId xmlns:a16="http://schemas.microsoft.com/office/drawing/2014/main" id="{4B1807D8-E6B4-C743-A4EC-22D5E0479848}"/>
              </a:ext>
            </a:extLst>
          </p:cNvPr>
          <p:cNvPicPr>
            <a:picLocks noChangeAspect="1"/>
          </p:cNvPicPr>
          <p:nvPr userDrawn="1"/>
        </p:nvPicPr>
        <p:blipFill>
          <a:blip r:embed="rId2"/>
          <a:srcRect/>
          <a:stretch/>
        </p:blipFill>
        <p:spPr>
          <a:xfrm>
            <a:off x="8628383" y="0"/>
            <a:ext cx="2687038" cy="1279542"/>
          </a:xfrm>
          <a:prstGeom prst="rect">
            <a:avLst/>
          </a:prstGeom>
        </p:spPr>
      </p:pic>
      <p:sp>
        <p:nvSpPr>
          <p:cNvPr id="20" name="Footer Placeholder 4">
            <a:extLst>
              <a:ext uri="{FF2B5EF4-FFF2-40B4-BE49-F238E27FC236}">
                <a16:creationId xmlns:a16="http://schemas.microsoft.com/office/drawing/2014/main" id="{4D36833F-B2C7-1C49-9947-A60C1ACB0296}"/>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tx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6324E876-4916-29D1-FA73-B869297DC65F}"/>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8363836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Slide-Solid Black">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A47420D0-6FF1-9C4A-B953-EA4EEABBA308}"/>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5016" y="3029213"/>
            <a:ext cx="2693773"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accent1"/>
          </a:solidFill>
          <a:ln>
            <a:noFill/>
          </a:ln>
        </p:spPr>
        <p:txBody>
          <a:bodyPr wrap="none" lIns="91440" tIns="45720" rIns="91440" bIns="45720">
            <a:spAutoFit/>
          </a:bodyPr>
          <a:lstStyle>
            <a:lvl1pPr marL="0" indent="0">
              <a:buNone/>
              <a:defRPr sz="1800">
                <a:solidFill>
                  <a:schemeClr val="tx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1" name="Group 10">
            <a:extLst>
              <a:ext uri="{FF2B5EF4-FFF2-40B4-BE49-F238E27FC236}">
                <a16:creationId xmlns:a16="http://schemas.microsoft.com/office/drawing/2014/main" id="{5625728D-FF50-4FF2-AC2E-B13A3D44D5B9}"/>
              </a:ext>
            </a:extLst>
          </p:cNvPr>
          <p:cNvGrpSpPr/>
          <p:nvPr/>
        </p:nvGrpSpPr>
        <p:grpSpPr>
          <a:xfrm>
            <a:off x="1071271" y="5122118"/>
            <a:ext cx="142379" cy="150373"/>
            <a:chOff x="3057746" y="812006"/>
            <a:chExt cx="173610" cy="183357"/>
          </a:xfrm>
          <a:noFill/>
        </p:grpSpPr>
        <p:cxnSp>
          <p:nvCxnSpPr>
            <p:cNvPr id="12" name="Straight Connector 11">
              <a:extLst>
                <a:ext uri="{FF2B5EF4-FFF2-40B4-BE49-F238E27FC236}">
                  <a16:creationId xmlns:a16="http://schemas.microsoft.com/office/drawing/2014/main" id="{58A6E0DE-15E0-485B-8083-6D1BB965B9B6}"/>
                </a:ext>
              </a:extLst>
            </p:cNvPr>
            <p:cNvCxnSpPr/>
            <p:nvPr userDrawn="1"/>
          </p:nvCxnSpPr>
          <p:spPr>
            <a:xfrm>
              <a:off x="3057746" y="904875"/>
              <a:ext cx="173610" cy="0"/>
            </a:xfrm>
            <a:prstGeom prst="line">
              <a:avLst/>
            </a:prstGeom>
            <a:grpFill/>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184EFEE4-DF1C-4FDF-ABC6-804BF8FA2941}"/>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5" name="Picture 14" descr="The University of Iowa">
            <a:extLst>
              <a:ext uri="{FF2B5EF4-FFF2-40B4-BE49-F238E27FC236}">
                <a16:creationId xmlns:a16="http://schemas.microsoft.com/office/drawing/2014/main" id="{6179B039-C5FC-F04C-AB21-BEF980B032D5}"/>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17" name="Footer Placeholder 4">
            <a:extLst>
              <a:ext uri="{FF2B5EF4-FFF2-40B4-BE49-F238E27FC236}">
                <a16:creationId xmlns:a16="http://schemas.microsoft.com/office/drawing/2014/main" id="{70E4C36A-C453-EE4B-A1E5-D1232C361273}"/>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A6FCD2AD-E2B9-303E-DEC2-98D4F67ED36D}"/>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7886445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OWA Logo with Text">
    <p:bg>
      <p:bgPr>
        <a:solidFill>
          <a:schemeClr val="tx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B993FB4-4336-2048-A6A4-FA306EBBE714}"/>
              </a:ext>
            </a:extLst>
          </p:cNvPr>
          <p:cNvSpPr>
            <a:spLocks noGrp="1"/>
          </p:cNvSpPr>
          <p:nvPr>
            <p:ph type="title" hasCustomPrompt="1"/>
          </p:nvPr>
        </p:nvSpPr>
        <p:spPr>
          <a:xfrm>
            <a:off x="838200" y="4485842"/>
            <a:ext cx="10515600" cy="896116"/>
          </a:xfrm>
        </p:spPr>
        <p:txBody>
          <a:bodyPr/>
          <a:lstStyle>
            <a:lvl1pPr algn="ctr">
              <a:defRPr>
                <a:solidFill>
                  <a:schemeClr val="bg1"/>
                </a:solidFill>
              </a:defRPr>
            </a:lvl1pPr>
          </a:lstStyle>
          <a:p>
            <a:r>
              <a:rPr lang="en-US"/>
              <a:t>Closing Slide Header</a:t>
            </a:r>
          </a:p>
        </p:txBody>
      </p:sp>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675842"/>
            <a:ext cx="7620000" cy="3810000"/>
          </a:xfrm>
          <a:prstGeom prst="rect">
            <a:avLst/>
          </a:prstGeom>
        </p:spPr>
      </p:pic>
      <p:sp>
        <p:nvSpPr>
          <p:cNvPr id="2" name="Slide Number Placeholder 1">
            <a:extLst>
              <a:ext uri="{FF2B5EF4-FFF2-40B4-BE49-F238E27FC236}">
                <a16:creationId xmlns:a16="http://schemas.microsoft.com/office/drawing/2014/main" id="{53FB0B10-D369-C564-0FFC-E531159E100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307532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OWA Logo only">
    <p:bg>
      <p:bgPr>
        <a:solidFill>
          <a:schemeClr val="tx1"/>
        </a:solidFill>
        <a:effectLst/>
      </p:bgPr>
    </p:bg>
    <p:spTree>
      <p:nvGrpSpPr>
        <p:cNvPr id="1" name=""/>
        <p:cNvGrpSpPr/>
        <p:nvPr/>
      </p:nvGrpSpPr>
      <p:grpSpPr>
        <a:xfrm>
          <a:off x="0" y="0"/>
          <a:ext cx="0" cy="0"/>
          <a:chOff x="0" y="0"/>
          <a:chExt cx="0" cy="0"/>
        </a:xfrm>
      </p:grpSpPr>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1524000"/>
            <a:ext cx="7620000" cy="3810000"/>
          </a:xfrm>
          <a:prstGeom prst="rect">
            <a:avLst/>
          </a:prstGeom>
        </p:spPr>
      </p:pic>
      <p:sp>
        <p:nvSpPr>
          <p:cNvPr id="2" name="Slide Number Placeholder 1">
            <a:extLst>
              <a:ext uri="{FF2B5EF4-FFF2-40B4-BE49-F238E27FC236}">
                <a16:creationId xmlns:a16="http://schemas.microsoft.com/office/drawing/2014/main" id="{FA4035E5-E40A-8221-06E5-45B6939909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9745306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838200" y="365126"/>
            <a:ext cx="10515600" cy="896116"/>
          </a:xfrm>
          <a:prstGeom prst="rect">
            <a:avLst/>
          </a:prstGeom>
        </p:spPr>
        <p:txBody>
          <a:bodyPr vert="horz" lIns="0" tIns="0" rIns="0" bIns="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838200" y="1825625"/>
            <a:ext cx="10515600"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54B552D3-D688-9B0E-16FF-A4AB463BDF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6684DFB-8BCD-4B6F-9AA1-83F3BA61DF41}" type="slidenum">
              <a:rPr lang="en-US" smtClean="0"/>
              <a:pPr/>
              <a:t>‹#›</a:t>
            </a:fld>
            <a:endParaRPr lang="en-US"/>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56" r:id="rId1"/>
    <p:sldLayoutId id="2147483687" r:id="rId2"/>
    <p:sldLayoutId id="2147483688" r:id="rId3"/>
    <p:sldLayoutId id="2147483684" r:id="rId4"/>
    <p:sldLayoutId id="2147483663" r:id="rId5"/>
    <p:sldLayoutId id="2147483686" r:id="rId6"/>
    <p:sldLayoutId id="2147483690" r:id="rId7"/>
    <p:sldLayoutId id="2147483682" r:id="rId8"/>
    <p:sldLayoutId id="2147483650" r:id="rId9"/>
    <p:sldLayoutId id="2147483662" r:id="rId10"/>
    <p:sldLayoutId id="2147483670" r:id="rId11"/>
    <p:sldLayoutId id="2147483667" r:id="rId12"/>
    <p:sldLayoutId id="2147483668" r:id="rId13"/>
    <p:sldLayoutId id="2147483674" r:id="rId14"/>
    <p:sldLayoutId id="2147483675" r:id="rId15"/>
    <p:sldLayoutId id="2147483677" r:id="rId16"/>
    <p:sldLayoutId id="2147483676" r:id="rId17"/>
    <p:sldLayoutId id="2147483672" r:id="rId18"/>
    <p:sldLayoutId id="2147483692" r:id="rId19"/>
    <p:sldLayoutId id="2147483669" r:id="rId20"/>
    <p:sldLayoutId id="2147483671" r:id="rId21"/>
    <p:sldLayoutId id="2147483673" r:id="rId22"/>
    <p:sldLayoutId id="2147483679" r:id="rId23"/>
    <p:sldLayoutId id="2147483680" r:id="rId24"/>
    <p:sldLayoutId id="2147483681" r:id="rId25"/>
    <p:sldLayoutId id="2147483654" r:id="rId26"/>
    <p:sldLayoutId id="2147483655" r:id="rId27"/>
    <p:sldLayoutId id="2147483665" r:id="rId28"/>
    <p:sldLayoutId id="2147483664" r:id="rId29"/>
    <p:sldLayoutId id="2147483689" r:id="rId30"/>
    <p:sldLayoutId id="2147483693" r:id="rId31"/>
    <p:sldLayoutId id="2147483691" r:id="rId32"/>
  </p:sldLayoutIdLst>
  <p:hf hdr="0" ftr="0" dt="0"/>
  <p:txStyles>
    <p:title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Layout" Target="../slideLayouts/slideLayout8.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9.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2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2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9.svg"/></Relationships>
</file>

<file path=ppt/slides/_rels/slide1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0.xml"/><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10.xml"/><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0.jpeg"/><Relationship Id="rId2" Type="http://schemas.openxmlformats.org/officeDocument/2006/relationships/image" Target="../media/image65.png"/><Relationship Id="rId1" Type="http://schemas.openxmlformats.org/officeDocument/2006/relationships/slideLayout" Target="../slideLayouts/slideLayout9.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80B23-7308-1745-A1A9-A5522BA49EE8}"/>
              </a:ext>
            </a:extLst>
          </p:cNvPr>
          <p:cNvSpPr>
            <a:spLocks noGrp="1"/>
          </p:cNvSpPr>
          <p:nvPr>
            <p:ph type="ctrTitle"/>
          </p:nvPr>
        </p:nvSpPr>
        <p:spPr>
          <a:xfrm>
            <a:off x="974725" y="2677626"/>
            <a:ext cx="10354360" cy="1843238"/>
          </a:xfrm>
        </p:spPr>
        <p:txBody>
          <a:bodyPr>
            <a:normAutofit/>
          </a:bodyPr>
          <a:lstStyle/>
          <a:p>
            <a:r>
              <a:rPr lang="en-US" dirty="0"/>
              <a:t>Title</a:t>
            </a:r>
          </a:p>
        </p:txBody>
      </p:sp>
      <p:sp>
        <p:nvSpPr>
          <p:cNvPr id="12" name="Subtitle 11">
            <a:extLst>
              <a:ext uri="{FF2B5EF4-FFF2-40B4-BE49-F238E27FC236}">
                <a16:creationId xmlns:a16="http://schemas.microsoft.com/office/drawing/2014/main" id="{ADA0161C-D166-6E4C-8069-E1FBFE0BE5F2}"/>
              </a:ext>
            </a:extLst>
          </p:cNvPr>
          <p:cNvSpPr>
            <a:spLocks noGrp="1"/>
          </p:cNvSpPr>
          <p:nvPr>
            <p:ph type="subTitle" idx="1"/>
          </p:nvPr>
        </p:nvSpPr>
        <p:spPr>
          <a:xfrm>
            <a:off x="974725" y="4709626"/>
            <a:ext cx="10354360" cy="407460"/>
          </a:xfrm>
        </p:spPr>
        <p:txBody>
          <a:bodyPr vert="horz" lIns="0" tIns="0" rIns="0" bIns="0" rtlCol="0" anchor="t">
            <a:normAutofit/>
          </a:bodyPr>
          <a:lstStyle/>
          <a:p>
            <a:r>
              <a:rPr lang="en-US" dirty="0">
                <a:latin typeface="Roboto"/>
                <a:ea typeface="Roboto"/>
                <a:cs typeface="Arial"/>
              </a:rPr>
              <a:t>By</a:t>
            </a:r>
          </a:p>
        </p:txBody>
      </p:sp>
      <p:sp>
        <p:nvSpPr>
          <p:cNvPr id="13" name="Text Placeholder 12">
            <a:extLst>
              <a:ext uri="{FF2B5EF4-FFF2-40B4-BE49-F238E27FC236}">
                <a16:creationId xmlns:a16="http://schemas.microsoft.com/office/drawing/2014/main" id="{6C5EE2B8-026E-D04B-8925-60FA6F76C380}"/>
              </a:ext>
            </a:extLst>
          </p:cNvPr>
          <p:cNvSpPr>
            <a:spLocks noGrp="1"/>
          </p:cNvSpPr>
          <p:nvPr>
            <p:ph type="body" sz="quarter" idx="10"/>
          </p:nvPr>
        </p:nvSpPr>
        <p:spPr>
          <a:xfrm>
            <a:off x="974725" y="5148794"/>
            <a:ext cx="10354360" cy="463108"/>
          </a:xfrm>
        </p:spPr>
        <p:txBody>
          <a:bodyPr/>
          <a:lstStyle/>
          <a:p>
            <a:r>
              <a:rPr lang="en-US" dirty="0"/>
              <a:t>Month</a:t>
            </a:r>
          </a:p>
        </p:txBody>
      </p:sp>
      <p:sp>
        <p:nvSpPr>
          <p:cNvPr id="4" name="Slide Number Placeholder 3">
            <a:extLst>
              <a:ext uri="{FF2B5EF4-FFF2-40B4-BE49-F238E27FC236}">
                <a16:creationId xmlns:a16="http://schemas.microsoft.com/office/drawing/2014/main" id="{899A10A2-294F-D557-8F51-3DFE14925510}"/>
              </a:ext>
            </a:extLst>
          </p:cNvPr>
          <p:cNvSpPr>
            <a:spLocks noGrp="1"/>
          </p:cNvSpPr>
          <p:nvPr>
            <p:ph type="sldNum" sz="quarter" idx="11"/>
          </p:nvPr>
        </p:nvSpPr>
        <p:spPr/>
        <p:txBody>
          <a:bodyPr/>
          <a:lstStyle/>
          <a:p>
            <a:fld id="{C6684DFB-8BCD-4B6F-9AA1-83F3BA61DF41}" type="slidenum">
              <a:rPr lang="en-US" smtClean="0"/>
              <a:t>1</a:t>
            </a:fld>
            <a:endParaRPr lang="en-US"/>
          </a:p>
        </p:txBody>
      </p:sp>
    </p:spTree>
    <p:extLst>
      <p:ext uri="{BB962C8B-B14F-4D97-AF65-F5344CB8AC3E}">
        <p14:creationId xmlns:p14="http://schemas.microsoft.com/office/powerpoint/2010/main" val="38925108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F9D4D89-037A-47C0-3150-EAF480F550B6}"/>
              </a:ext>
            </a:extLst>
          </p:cNvPr>
          <p:cNvPicPr>
            <a:picLocks noChangeAspect="1"/>
          </p:cNvPicPr>
          <p:nvPr/>
        </p:nvPicPr>
        <p:blipFill>
          <a:blip r:embed="rId3"/>
          <a:stretch>
            <a:fillRect/>
          </a:stretch>
        </p:blipFill>
        <p:spPr>
          <a:xfrm>
            <a:off x="5928889" y="1331790"/>
            <a:ext cx="600159" cy="4848902"/>
          </a:xfrm>
          <a:prstGeom prst="rect">
            <a:avLst/>
          </a:prstGeom>
        </p:spPr>
      </p:pic>
      <p:sp>
        <p:nvSpPr>
          <p:cNvPr id="2" name="Title 1">
            <a:extLst>
              <a:ext uri="{FF2B5EF4-FFF2-40B4-BE49-F238E27FC236}">
                <a16:creationId xmlns:a16="http://schemas.microsoft.com/office/drawing/2014/main" id="{F492EB38-CF61-505F-3E64-D3693CF17A07}"/>
              </a:ext>
            </a:extLst>
          </p:cNvPr>
          <p:cNvSpPr>
            <a:spLocks noGrp="1"/>
          </p:cNvSpPr>
          <p:nvPr>
            <p:ph type="title"/>
          </p:nvPr>
        </p:nvSpPr>
        <p:spPr/>
        <p:txBody>
          <a:bodyPr/>
          <a:lstStyle/>
          <a:p>
            <a:r>
              <a:rPr lang="en-US"/>
              <a:t>About Me</a:t>
            </a:r>
          </a:p>
        </p:txBody>
      </p:sp>
      <p:sp>
        <p:nvSpPr>
          <p:cNvPr id="7" name="Slide Number Placeholder 6">
            <a:extLst>
              <a:ext uri="{FF2B5EF4-FFF2-40B4-BE49-F238E27FC236}">
                <a16:creationId xmlns:a16="http://schemas.microsoft.com/office/drawing/2014/main" id="{85A39C36-B822-269B-51DF-121D7AC5DFCC}"/>
              </a:ext>
            </a:extLst>
          </p:cNvPr>
          <p:cNvSpPr>
            <a:spLocks noGrp="1"/>
          </p:cNvSpPr>
          <p:nvPr>
            <p:ph type="sldNum" sz="quarter" idx="17"/>
          </p:nvPr>
        </p:nvSpPr>
        <p:spPr/>
        <p:txBody>
          <a:bodyPr/>
          <a:lstStyle/>
          <a:p>
            <a:fld id="{C6684DFB-8BCD-4B6F-9AA1-83F3BA61DF41}" type="slidenum">
              <a:rPr lang="en-US" smtClean="0"/>
              <a:pPr/>
              <a:t>2</a:t>
            </a:fld>
            <a:endParaRPr lang="en-US"/>
          </a:p>
        </p:txBody>
      </p:sp>
      <p:sp>
        <p:nvSpPr>
          <p:cNvPr id="23" name="TextBox 22">
            <a:extLst>
              <a:ext uri="{FF2B5EF4-FFF2-40B4-BE49-F238E27FC236}">
                <a16:creationId xmlns:a16="http://schemas.microsoft.com/office/drawing/2014/main" id="{13AB216E-5B71-5DF6-054E-538768C9F97D}"/>
              </a:ext>
            </a:extLst>
          </p:cNvPr>
          <p:cNvSpPr txBox="1"/>
          <p:nvPr/>
        </p:nvSpPr>
        <p:spPr>
          <a:xfrm>
            <a:off x="440349" y="3937909"/>
            <a:ext cx="1055511" cy="1384995"/>
          </a:xfrm>
          <a:prstGeom prst="rect">
            <a:avLst/>
          </a:prstGeom>
          <a:noFill/>
        </p:spPr>
        <p:txBody>
          <a:bodyPr wrap="square" rtlCol="0">
            <a:spAutoFit/>
          </a:bodyPr>
          <a:lstStyle/>
          <a:p>
            <a:pPr algn="ctr"/>
            <a:r>
              <a:rPr lang="en-US" sz="1400" dirty="0"/>
              <a:t>Intern at LANL’s HPC Summer School</a:t>
            </a:r>
          </a:p>
          <a:p>
            <a:endParaRPr lang="en-US" sz="1400" dirty="0"/>
          </a:p>
        </p:txBody>
      </p:sp>
      <p:sp>
        <p:nvSpPr>
          <p:cNvPr id="24" name="TextBox 23">
            <a:extLst>
              <a:ext uri="{FF2B5EF4-FFF2-40B4-BE49-F238E27FC236}">
                <a16:creationId xmlns:a16="http://schemas.microsoft.com/office/drawing/2014/main" id="{9A4BE30E-F212-D62D-2B61-9F871F8277C2}"/>
              </a:ext>
            </a:extLst>
          </p:cNvPr>
          <p:cNvSpPr txBox="1"/>
          <p:nvPr/>
        </p:nvSpPr>
        <p:spPr>
          <a:xfrm>
            <a:off x="1379972" y="2484944"/>
            <a:ext cx="933015" cy="523220"/>
          </a:xfrm>
          <a:prstGeom prst="rect">
            <a:avLst/>
          </a:prstGeom>
          <a:noFill/>
        </p:spPr>
        <p:txBody>
          <a:bodyPr wrap="square" rtlCol="0">
            <a:spAutoFit/>
          </a:bodyPr>
          <a:lstStyle/>
          <a:p>
            <a:pPr algn="ctr"/>
            <a:r>
              <a:rPr lang="en-US" sz="1400" dirty="0"/>
              <a:t>Received a BS</a:t>
            </a:r>
          </a:p>
        </p:txBody>
      </p:sp>
      <p:sp>
        <p:nvSpPr>
          <p:cNvPr id="25" name="TextBox 24">
            <a:extLst>
              <a:ext uri="{FF2B5EF4-FFF2-40B4-BE49-F238E27FC236}">
                <a16:creationId xmlns:a16="http://schemas.microsoft.com/office/drawing/2014/main" id="{9315C868-CADB-B9E0-152C-5B64BDFC364E}"/>
              </a:ext>
            </a:extLst>
          </p:cNvPr>
          <p:cNvSpPr txBox="1"/>
          <p:nvPr/>
        </p:nvSpPr>
        <p:spPr>
          <a:xfrm>
            <a:off x="2590225" y="4153352"/>
            <a:ext cx="1227916" cy="954107"/>
          </a:xfrm>
          <a:prstGeom prst="rect">
            <a:avLst/>
          </a:prstGeom>
          <a:noFill/>
        </p:spPr>
        <p:txBody>
          <a:bodyPr wrap="square" rtlCol="0">
            <a:spAutoFit/>
          </a:bodyPr>
          <a:lstStyle/>
          <a:p>
            <a:pPr algn="ctr"/>
            <a:r>
              <a:rPr lang="en-US" sz="1400" dirty="0"/>
              <a:t>Atmospheric</a:t>
            </a:r>
          </a:p>
          <a:p>
            <a:pPr algn="ctr"/>
            <a:r>
              <a:rPr lang="en-US" sz="1400" dirty="0"/>
              <a:t>Model</a:t>
            </a:r>
          </a:p>
          <a:p>
            <a:pPr algn="ctr"/>
            <a:r>
              <a:rPr lang="en-US" sz="1400" dirty="0"/>
              <a:t>Validation</a:t>
            </a:r>
          </a:p>
          <a:p>
            <a:pPr algn="ctr"/>
            <a:endParaRPr lang="en-US" sz="1400" dirty="0"/>
          </a:p>
        </p:txBody>
      </p:sp>
      <p:sp>
        <p:nvSpPr>
          <p:cNvPr id="26" name="TextBox 25">
            <a:extLst>
              <a:ext uri="{FF2B5EF4-FFF2-40B4-BE49-F238E27FC236}">
                <a16:creationId xmlns:a16="http://schemas.microsoft.com/office/drawing/2014/main" id="{6D784925-5EC3-C7AB-C31D-771193213E93}"/>
              </a:ext>
            </a:extLst>
          </p:cNvPr>
          <p:cNvSpPr txBox="1"/>
          <p:nvPr/>
        </p:nvSpPr>
        <p:spPr>
          <a:xfrm>
            <a:off x="3479963" y="2684813"/>
            <a:ext cx="1311195" cy="307777"/>
          </a:xfrm>
          <a:prstGeom prst="rect">
            <a:avLst/>
          </a:prstGeom>
          <a:noFill/>
        </p:spPr>
        <p:txBody>
          <a:bodyPr wrap="square" rtlCol="0">
            <a:spAutoFit/>
          </a:bodyPr>
          <a:lstStyle/>
          <a:p>
            <a:pPr algn="r"/>
            <a:r>
              <a:rPr lang="en-US" sz="1400" dirty="0"/>
              <a:t>Started Ph.D.</a:t>
            </a:r>
          </a:p>
        </p:txBody>
      </p:sp>
      <p:sp>
        <p:nvSpPr>
          <p:cNvPr id="27" name="TextBox 26">
            <a:extLst>
              <a:ext uri="{FF2B5EF4-FFF2-40B4-BE49-F238E27FC236}">
                <a16:creationId xmlns:a16="http://schemas.microsoft.com/office/drawing/2014/main" id="{8AFC12E8-69EB-A3D1-6663-9F96F8A80434}"/>
              </a:ext>
            </a:extLst>
          </p:cNvPr>
          <p:cNvSpPr txBox="1"/>
          <p:nvPr/>
        </p:nvSpPr>
        <p:spPr>
          <a:xfrm>
            <a:off x="4833008" y="3947902"/>
            <a:ext cx="1463766" cy="738664"/>
          </a:xfrm>
          <a:prstGeom prst="rect">
            <a:avLst/>
          </a:prstGeom>
          <a:noFill/>
        </p:spPr>
        <p:txBody>
          <a:bodyPr wrap="square" lIns="91440" tIns="45720" rIns="91440" bIns="45720" rtlCol="0" anchor="t">
            <a:spAutoFit/>
          </a:bodyPr>
          <a:lstStyle/>
          <a:p>
            <a:pPr algn="ctr"/>
            <a:r>
              <a:rPr lang="en-US" sz="1400" dirty="0"/>
              <a:t>Research intern at NREL</a:t>
            </a:r>
            <a:endParaRPr lang="en-US" dirty="0"/>
          </a:p>
          <a:p>
            <a:pPr algn="ctr"/>
            <a:endParaRPr lang="en-US" sz="1400" dirty="0">
              <a:ea typeface="Roboto"/>
              <a:cs typeface="Roboto"/>
            </a:endParaRPr>
          </a:p>
        </p:txBody>
      </p:sp>
      <p:sp>
        <p:nvSpPr>
          <p:cNvPr id="28" name="TextBox 27">
            <a:extLst>
              <a:ext uri="{FF2B5EF4-FFF2-40B4-BE49-F238E27FC236}">
                <a16:creationId xmlns:a16="http://schemas.microsoft.com/office/drawing/2014/main" id="{DE017327-282D-EE15-241A-5A22A3A7973A}"/>
              </a:ext>
            </a:extLst>
          </p:cNvPr>
          <p:cNvSpPr txBox="1"/>
          <p:nvPr/>
        </p:nvSpPr>
        <p:spPr>
          <a:xfrm>
            <a:off x="3997205" y="2009942"/>
            <a:ext cx="2126434" cy="523220"/>
          </a:xfrm>
          <a:prstGeom prst="rect">
            <a:avLst/>
          </a:prstGeom>
          <a:noFill/>
        </p:spPr>
        <p:txBody>
          <a:bodyPr wrap="square" rtlCol="0">
            <a:spAutoFit/>
          </a:bodyPr>
          <a:lstStyle/>
          <a:p>
            <a:pPr algn="ctr"/>
            <a:r>
              <a:rPr lang="en-US" sz="1400" dirty="0"/>
              <a:t>Fortran 95 </a:t>
            </a:r>
          </a:p>
          <a:p>
            <a:pPr algn="ctr"/>
            <a:r>
              <a:rPr lang="en-US" sz="1400" dirty="0"/>
              <a:t>Optimization</a:t>
            </a:r>
          </a:p>
        </p:txBody>
      </p:sp>
      <p:sp>
        <p:nvSpPr>
          <p:cNvPr id="29" name="TextBox 28">
            <a:extLst>
              <a:ext uri="{FF2B5EF4-FFF2-40B4-BE49-F238E27FC236}">
                <a16:creationId xmlns:a16="http://schemas.microsoft.com/office/drawing/2014/main" id="{A8D273D6-A7D5-380B-D808-BA3D321F5BD2}"/>
              </a:ext>
            </a:extLst>
          </p:cNvPr>
          <p:cNvSpPr txBox="1"/>
          <p:nvPr/>
        </p:nvSpPr>
        <p:spPr>
          <a:xfrm>
            <a:off x="6851685" y="1496934"/>
            <a:ext cx="2119456" cy="523220"/>
          </a:xfrm>
          <a:prstGeom prst="rect">
            <a:avLst/>
          </a:prstGeom>
          <a:noFill/>
        </p:spPr>
        <p:txBody>
          <a:bodyPr wrap="square" rtlCol="0">
            <a:spAutoFit/>
          </a:bodyPr>
          <a:lstStyle/>
          <a:p>
            <a:pPr algn="ctr"/>
            <a:r>
              <a:rPr lang="en-US" sz="1400" dirty="0"/>
              <a:t>Using GNN for polymer</a:t>
            </a:r>
          </a:p>
          <a:p>
            <a:pPr algn="ctr"/>
            <a:r>
              <a:rPr lang="en-US" sz="1400" dirty="0"/>
              <a:t>design</a:t>
            </a:r>
          </a:p>
        </p:txBody>
      </p:sp>
      <p:sp>
        <p:nvSpPr>
          <p:cNvPr id="30" name="TextBox 29">
            <a:extLst>
              <a:ext uri="{FF2B5EF4-FFF2-40B4-BE49-F238E27FC236}">
                <a16:creationId xmlns:a16="http://schemas.microsoft.com/office/drawing/2014/main" id="{9B0448B3-83F4-BED8-5C0E-2197478D1E37}"/>
              </a:ext>
            </a:extLst>
          </p:cNvPr>
          <p:cNvSpPr txBox="1"/>
          <p:nvPr/>
        </p:nvSpPr>
        <p:spPr>
          <a:xfrm>
            <a:off x="5902800" y="4544526"/>
            <a:ext cx="2119456" cy="523220"/>
          </a:xfrm>
          <a:prstGeom prst="rect">
            <a:avLst/>
          </a:prstGeom>
          <a:noFill/>
        </p:spPr>
        <p:txBody>
          <a:bodyPr wrap="square" rtlCol="0">
            <a:spAutoFit/>
          </a:bodyPr>
          <a:lstStyle/>
          <a:p>
            <a:pPr algn="ctr"/>
            <a:r>
              <a:rPr lang="en-US" sz="1400" dirty="0"/>
              <a:t>Resource </a:t>
            </a:r>
          </a:p>
          <a:p>
            <a:pPr algn="ctr"/>
            <a:r>
              <a:rPr lang="en-US" sz="1400" dirty="0"/>
              <a:t>Efficient AI</a:t>
            </a:r>
          </a:p>
        </p:txBody>
      </p:sp>
      <p:sp>
        <p:nvSpPr>
          <p:cNvPr id="32" name="TextBox 31">
            <a:extLst>
              <a:ext uri="{FF2B5EF4-FFF2-40B4-BE49-F238E27FC236}">
                <a16:creationId xmlns:a16="http://schemas.microsoft.com/office/drawing/2014/main" id="{D0AEF431-2742-E3BB-4EC7-22A746BF7AE3}"/>
              </a:ext>
            </a:extLst>
          </p:cNvPr>
          <p:cNvSpPr txBox="1"/>
          <p:nvPr/>
        </p:nvSpPr>
        <p:spPr>
          <a:xfrm>
            <a:off x="5386076" y="2416350"/>
            <a:ext cx="2119456" cy="523220"/>
          </a:xfrm>
          <a:prstGeom prst="rect">
            <a:avLst/>
          </a:prstGeom>
          <a:noFill/>
        </p:spPr>
        <p:txBody>
          <a:bodyPr wrap="square" rtlCol="0">
            <a:spAutoFit/>
          </a:bodyPr>
          <a:lstStyle/>
          <a:p>
            <a:pPr algn="ctr"/>
            <a:r>
              <a:rPr lang="en-US" sz="1400" dirty="0"/>
              <a:t>Research intern at Cornell Univ.</a:t>
            </a:r>
          </a:p>
        </p:txBody>
      </p:sp>
      <p:sp>
        <p:nvSpPr>
          <p:cNvPr id="33" name="TextBox 32">
            <a:extLst>
              <a:ext uri="{FF2B5EF4-FFF2-40B4-BE49-F238E27FC236}">
                <a16:creationId xmlns:a16="http://schemas.microsoft.com/office/drawing/2014/main" id="{594AAD96-9016-8C8E-9977-6EFC0C3534FD}"/>
              </a:ext>
            </a:extLst>
          </p:cNvPr>
          <p:cNvSpPr txBox="1"/>
          <p:nvPr/>
        </p:nvSpPr>
        <p:spPr>
          <a:xfrm>
            <a:off x="9116323" y="2271993"/>
            <a:ext cx="1039205" cy="738664"/>
          </a:xfrm>
          <a:prstGeom prst="rect">
            <a:avLst/>
          </a:prstGeom>
          <a:noFill/>
        </p:spPr>
        <p:txBody>
          <a:bodyPr wrap="square" rtlCol="0">
            <a:spAutoFit/>
          </a:bodyPr>
          <a:lstStyle/>
          <a:p>
            <a:pPr algn="ctr"/>
            <a:r>
              <a:rPr lang="en-US" sz="1400" dirty="0"/>
              <a:t>Transfer attacks on models</a:t>
            </a:r>
          </a:p>
        </p:txBody>
      </p:sp>
      <p:grpSp>
        <p:nvGrpSpPr>
          <p:cNvPr id="39" name="Group 38">
            <a:extLst>
              <a:ext uri="{FF2B5EF4-FFF2-40B4-BE49-F238E27FC236}">
                <a16:creationId xmlns:a16="http://schemas.microsoft.com/office/drawing/2014/main" id="{5A4F4D81-AC52-8AAC-C064-CCA4C6BE3E8B}"/>
              </a:ext>
            </a:extLst>
          </p:cNvPr>
          <p:cNvGrpSpPr/>
          <p:nvPr/>
        </p:nvGrpSpPr>
        <p:grpSpPr>
          <a:xfrm>
            <a:off x="720960" y="3167662"/>
            <a:ext cx="10452715" cy="577493"/>
            <a:chOff x="615161" y="1756084"/>
            <a:chExt cx="10452715" cy="577493"/>
          </a:xfrm>
        </p:grpSpPr>
        <p:sp>
          <p:nvSpPr>
            <p:cNvPr id="34" name="Arrow: Right 33">
              <a:extLst>
                <a:ext uri="{FF2B5EF4-FFF2-40B4-BE49-F238E27FC236}">
                  <a16:creationId xmlns:a16="http://schemas.microsoft.com/office/drawing/2014/main" id="{2C15B004-6CC8-05EB-CDBF-AA951AAEABE8}"/>
                </a:ext>
              </a:extLst>
            </p:cNvPr>
            <p:cNvSpPr/>
            <p:nvPr/>
          </p:nvSpPr>
          <p:spPr>
            <a:xfrm>
              <a:off x="638001" y="1756084"/>
              <a:ext cx="10429875" cy="5774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033771F6-8DF0-436E-59D1-E4DADCEB0F3D}"/>
                </a:ext>
              </a:extLst>
            </p:cNvPr>
            <p:cNvSpPr txBox="1"/>
            <p:nvPr/>
          </p:nvSpPr>
          <p:spPr>
            <a:xfrm>
              <a:off x="615161" y="1899558"/>
              <a:ext cx="2483224" cy="307777"/>
            </a:xfrm>
            <a:prstGeom prst="rect">
              <a:avLst/>
            </a:prstGeom>
            <a:noFill/>
          </p:spPr>
          <p:txBody>
            <a:bodyPr wrap="square" rtlCol="0">
              <a:spAutoFit/>
            </a:bodyPr>
            <a:lstStyle/>
            <a:p>
              <a:r>
                <a:rPr lang="en-US" sz="1400" dirty="0"/>
                <a:t>2017</a:t>
              </a:r>
            </a:p>
          </p:txBody>
        </p:sp>
        <p:sp>
          <p:nvSpPr>
            <p:cNvPr id="37" name="TextBox 36">
              <a:extLst>
                <a:ext uri="{FF2B5EF4-FFF2-40B4-BE49-F238E27FC236}">
                  <a16:creationId xmlns:a16="http://schemas.microsoft.com/office/drawing/2014/main" id="{2BD2E9ED-7ED2-66A4-4DD6-B6DFC00E5CDA}"/>
                </a:ext>
              </a:extLst>
            </p:cNvPr>
            <p:cNvSpPr txBox="1"/>
            <p:nvPr/>
          </p:nvSpPr>
          <p:spPr>
            <a:xfrm>
              <a:off x="1390061" y="1908729"/>
              <a:ext cx="2483224" cy="307777"/>
            </a:xfrm>
            <a:prstGeom prst="rect">
              <a:avLst/>
            </a:prstGeom>
            <a:noFill/>
          </p:spPr>
          <p:txBody>
            <a:bodyPr wrap="square" rtlCol="0">
              <a:spAutoFit/>
            </a:bodyPr>
            <a:lstStyle/>
            <a:p>
              <a:r>
                <a:rPr lang="en-US" sz="1400" dirty="0"/>
                <a:t>2018</a:t>
              </a:r>
            </a:p>
          </p:txBody>
        </p:sp>
      </p:grpSp>
      <p:sp>
        <p:nvSpPr>
          <p:cNvPr id="38" name="TextBox 37">
            <a:extLst>
              <a:ext uri="{FF2B5EF4-FFF2-40B4-BE49-F238E27FC236}">
                <a16:creationId xmlns:a16="http://schemas.microsoft.com/office/drawing/2014/main" id="{33611711-408C-DC32-657F-E6AE56F9B3F2}"/>
              </a:ext>
            </a:extLst>
          </p:cNvPr>
          <p:cNvSpPr txBox="1"/>
          <p:nvPr/>
        </p:nvSpPr>
        <p:spPr>
          <a:xfrm>
            <a:off x="2167520" y="1780708"/>
            <a:ext cx="2073327" cy="523220"/>
          </a:xfrm>
          <a:prstGeom prst="rect">
            <a:avLst/>
          </a:prstGeom>
          <a:noFill/>
        </p:spPr>
        <p:txBody>
          <a:bodyPr wrap="square" rtlCol="0">
            <a:spAutoFit/>
          </a:bodyPr>
          <a:lstStyle/>
          <a:p>
            <a:pPr algn="ctr"/>
            <a:r>
              <a:rPr lang="en-US" sz="1400" dirty="0"/>
              <a:t>Material  Science</a:t>
            </a:r>
          </a:p>
          <a:p>
            <a:pPr algn="ctr"/>
            <a:r>
              <a:rPr lang="en-US" sz="1400" dirty="0"/>
              <a:t>Flyer Plate Modeling</a:t>
            </a:r>
          </a:p>
        </p:txBody>
      </p:sp>
      <p:cxnSp>
        <p:nvCxnSpPr>
          <p:cNvPr id="41" name="Straight Connector 40">
            <a:extLst>
              <a:ext uri="{FF2B5EF4-FFF2-40B4-BE49-F238E27FC236}">
                <a16:creationId xmlns:a16="http://schemas.microsoft.com/office/drawing/2014/main" id="{63138159-9F3B-CF4A-6C5D-FB23467AECB9}"/>
              </a:ext>
            </a:extLst>
          </p:cNvPr>
          <p:cNvCxnSpPr/>
          <p:nvPr/>
        </p:nvCxnSpPr>
        <p:spPr>
          <a:xfrm>
            <a:off x="965198" y="3601244"/>
            <a:ext cx="0" cy="346625"/>
          </a:xfrm>
          <a:prstGeom prst="line">
            <a:avLst/>
          </a:prstGeom>
          <a:ln w="38100"/>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000D929-24B8-9A5C-CEA3-0149E88BE372}"/>
              </a:ext>
            </a:extLst>
          </p:cNvPr>
          <p:cNvCxnSpPr/>
          <p:nvPr/>
        </p:nvCxnSpPr>
        <p:spPr>
          <a:xfrm>
            <a:off x="1788315" y="2964511"/>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3" name="TextBox 42">
            <a:extLst>
              <a:ext uri="{FF2B5EF4-FFF2-40B4-BE49-F238E27FC236}">
                <a16:creationId xmlns:a16="http://schemas.microsoft.com/office/drawing/2014/main" id="{14B31617-A4E8-EFE4-01C7-52C6BDFEC2FC}"/>
              </a:ext>
            </a:extLst>
          </p:cNvPr>
          <p:cNvSpPr txBox="1"/>
          <p:nvPr/>
        </p:nvSpPr>
        <p:spPr>
          <a:xfrm>
            <a:off x="1326670" y="3955132"/>
            <a:ext cx="1135426" cy="738664"/>
          </a:xfrm>
          <a:prstGeom prst="rect">
            <a:avLst/>
          </a:prstGeom>
          <a:noFill/>
        </p:spPr>
        <p:txBody>
          <a:bodyPr wrap="square" rtlCol="0">
            <a:spAutoFit/>
          </a:bodyPr>
          <a:lstStyle/>
          <a:p>
            <a:pPr algn="ctr"/>
            <a:r>
              <a:rPr lang="en-US" sz="1400" dirty="0"/>
              <a:t>Started Internship at LANL</a:t>
            </a:r>
          </a:p>
        </p:txBody>
      </p:sp>
      <p:cxnSp>
        <p:nvCxnSpPr>
          <p:cNvPr id="44" name="Straight Connector 43">
            <a:extLst>
              <a:ext uri="{FF2B5EF4-FFF2-40B4-BE49-F238E27FC236}">
                <a16:creationId xmlns:a16="http://schemas.microsoft.com/office/drawing/2014/main" id="{8A6D3BA2-4331-A8F6-F14B-5C3D6A5876E6}"/>
              </a:ext>
            </a:extLst>
          </p:cNvPr>
          <p:cNvCxnSpPr/>
          <p:nvPr/>
        </p:nvCxnSpPr>
        <p:spPr>
          <a:xfrm>
            <a:off x="1869279" y="360124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C1575C0A-78ED-AB99-DD97-2E0403585219}"/>
              </a:ext>
            </a:extLst>
          </p:cNvPr>
          <p:cNvSpPr txBox="1"/>
          <p:nvPr/>
        </p:nvSpPr>
        <p:spPr>
          <a:xfrm>
            <a:off x="2737472" y="3300130"/>
            <a:ext cx="2483224" cy="307777"/>
          </a:xfrm>
          <a:prstGeom prst="rect">
            <a:avLst/>
          </a:prstGeom>
          <a:noFill/>
        </p:spPr>
        <p:txBody>
          <a:bodyPr wrap="square" rtlCol="0">
            <a:spAutoFit/>
          </a:bodyPr>
          <a:lstStyle/>
          <a:p>
            <a:r>
              <a:rPr lang="en-US" sz="1400" dirty="0"/>
              <a:t>2019</a:t>
            </a:r>
          </a:p>
        </p:txBody>
      </p:sp>
      <p:sp>
        <p:nvSpPr>
          <p:cNvPr id="49" name="Right Brace 48">
            <a:extLst>
              <a:ext uri="{FF2B5EF4-FFF2-40B4-BE49-F238E27FC236}">
                <a16:creationId xmlns:a16="http://schemas.microsoft.com/office/drawing/2014/main" id="{F777FA79-29F4-41F8-CBCF-1A96CC0AFD28}"/>
              </a:ext>
            </a:extLst>
          </p:cNvPr>
          <p:cNvSpPr/>
          <p:nvPr/>
        </p:nvSpPr>
        <p:spPr>
          <a:xfrm rot="16200000">
            <a:off x="2327180" y="2758891"/>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1" name="Connector: Curved 50">
            <a:extLst>
              <a:ext uri="{FF2B5EF4-FFF2-40B4-BE49-F238E27FC236}">
                <a16:creationId xmlns:a16="http://schemas.microsoft.com/office/drawing/2014/main" id="{4349D240-82C0-EC14-C5B1-97F12EF2B98C}"/>
              </a:ext>
            </a:extLst>
          </p:cNvPr>
          <p:cNvCxnSpPr>
            <a:stCxn id="49" idx="1"/>
            <a:endCxn id="38" idx="2"/>
          </p:cNvCxnSpPr>
          <p:nvPr/>
        </p:nvCxnSpPr>
        <p:spPr>
          <a:xfrm rot="5400000" flipH="1" flipV="1">
            <a:off x="2466492" y="2277892"/>
            <a:ext cx="711656" cy="763728"/>
          </a:xfrm>
          <a:prstGeom prst="curvedConnector3">
            <a:avLst>
              <a:gd name="adj1" fmla="val 49877"/>
            </a:avLst>
          </a:prstGeom>
          <a:ln w="9525">
            <a:tailEnd type="triangle"/>
          </a:ln>
        </p:spPr>
        <p:style>
          <a:lnRef idx="1">
            <a:schemeClr val="dk1"/>
          </a:lnRef>
          <a:fillRef idx="0">
            <a:schemeClr val="dk1"/>
          </a:fillRef>
          <a:effectRef idx="0">
            <a:schemeClr val="dk1"/>
          </a:effectRef>
          <a:fontRef idx="minor">
            <a:schemeClr val="tx1"/>
          </a:fontRef>
        </p:style>
      </p:cxnSp>
      <p:sp>
        <p:nvSpPr>
          <p:cNvPr id="53" name="Right Brace 52">
            <a:extLst>
              <a:ext uri="{FF2B5EF4-FFF2-40B4-BE49-F238E27FC236}">
                <a16:creationId xmlns:a16="http://schemas.microsoft.com/office/drawing/2014/main" id="{ECAA08C0-5654-C585-0DFE-DF70A15E831A}"/>
              </a:ext>
            </a:extLst>
          </p:cNvPr>
          <p:cNvSpPr/>
          <p:nvPr/>
        </p:nvSpPr>
        <p:spPr>
          <a:xfrm rot="5400000">
            <a:off x="3540150" y="340458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Connector: Curved 54">
            <a:extLst>
              <a:ext uri="{FF2B5EF4-FFF2-40B4-BE49-F238E27FC236}">
                <a16:creationId xmlns:a16="http://schemas.microsoft.com/office/drawing/2014/main" id="{10312683-D131-2E75-4087-20B7EB999D5F}"/>
              </a:ext>
            </a:extLst>
          </p:cNvPr>
          <p:cNvCxnSpPr>
            <a:stCxn id="53" idx="1"/>
            <a:endCxn id="25" idx="0"/>
          </p:cNvCxnSpPr>
          <p:nvPr/>
        </p:nvCxnSpPr>
        <p:spPr>
          <a:xfrm rot="16200000" flipH="1" flipV="1">
            <a:off x="3296045" y="3795970"/>
            <a:ext cx="265520" cy="449243"/>
          </a:xfrm>
          <a:prstGeom prst="curvedConnector3">
            <a:avLst>
              <a:gd name="adj1" fmla="val 69111"/>
            </a:avLst>
          </a:prstGeom>
          <a:ln w="19050">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9F06E4C-9514-B14F-B4CC-36C71C823B14}"/>
              </a:ext>
            </a:extLst>
          </p:cNvPr>
          <p:cNvSpPr txBox="1"/>
          <p:nvPr/>
        </p:nvSpPr>
        <p:spPr>
          <a:xfrm>
            <a:off x="4023395" y="3666068"/>
            <a:ext cx="2483224" cy="307777"/>
          </a:xfrm>
          <a:prstGeom prst="rect">
            <a:avLst/>
          </a:prstGeom>
          <a:noFill/>
        </p:spPr>
        <p:txBody>
          <a:bodyPr wrap="square" rtlCol="0">
            <a:spAutoFit/>
          </a:bodyPr>
          <a:lstStyle/>
          <a:p>
            <a:r>
              <a:rPr lang="en-US" sz="1400" dirty="0"/>
              <a:t>2020</a:t>
            </a:r>
          </a:p>
        </p:txBody>
      </p:sp>
      <p:cxnSp>
        <p:nvCxnSpPr>
          <p:cNvPr id="58" name="Straight Connector 57">
            <a:extLst>
              <a:ext uri="{FF2B5EF4-FFF2-40B4-BE49-F238E27FC236}">
                <a16:creationId xmlns:a16="http://schemas.microsoft.com/office/drawing/2014/main" id="{12BA1BED-75F9-561F-043E-DBD402A5CB70}"/>
              </a:ext>
            </a:extLst>
          </p:cNvPr>
          <p:cNvCxnSpPr/>
          <p:nvPr/>
        </p:nvCxnSpPr>
        <p:spPr>
          <a:xfrm>
            <a:off x="4240847" y="2967167"/>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03850E7C-B887-86F5-60C1-7ECCE4E82718}"/>
              </a:ext>
            </a:extLst>
          </p:cNvPr>
          <p:cNvSpPr txBox="1"/>
          <p:nvPr/>
        </p:nvSpPr>
        <p:spPr>
          <a:xfrm>
            <a:off x="5220696" y="3316926"/>
            <a:ext cx="2483224" cy="307777"/>
          </a:xfrm>
          <a:prstGeom prst="rect">
            <a:avLst/>
          </a:prstGeom>
          <a:noFill/>
        </p:spPr>
        <p:txBody>
          <a:bodyPr wrap="square" rtlCol="0">
            <a:spAutoFit/>
          </a:bodyPr>
          <a:lstStyle/>
          <a:p>
            <a:r>
              <a:rPr lang="en-US" sz="1400" dirty="0"/>
              <a:t>2021</a:t>
            </a:r>
          </a:p>
        </p:txBody>
      </p:sp>
      <p:pic>
        <p:nvPicPr>
          <p:cNvPr id="60" name="Picture 2" descr="Symbol for virus/plague/zombie apocalypse · Issue #22 · Call ...">
            <a:extLst>
              <a:ext uri="{FF2B5EF4-FFF2-40B4-BE49-F238E27FC236}">
                <a16:creationId xmlns:a16="http://schemas.microsoft.com/office/drawing/2014/main" id="{B74ED189-7ACC-2314-1783-100C99C496B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62269" y="3318950"/>
            <a:ext cx="298153" cy="282294"/>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Connector 2">
            <a:extLst>
              <a:ext uri="{FF2B5EF4-FFF2-40B4-BE49-F238E27FC236}">
                <a16:creationId xmlns:a16="http://schemas.microsoft.com/office/drawing/2014/main" id="{00048A7C-3AB3-150C-F921-084F2C3E0137}"/>
              </a:ext>
            </a:extLst>
          </p:cNvPr>
          <p:cNvCxnSpPr>
            <a:cxnSpLocks/>
          </p:cNvCxnSpPr>
          <p:nvPr/>
        </p:nvCxnSpPr>
        <p:spPr>
          <a:xfrm>
            <a:off x="5492801" y="359128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54D2024E-6D6C-6C08-DD2C-800528CC5707}"/>
              </a:ext>
            </a:extLst>
          </p:cNvPr>
          <p:cNvSpPr txBox="1"/>
          <p:nvPr/>
        </p:nvSpPr>
        <p:spPr>
          <a:xfrm>
            <a:off x="6095999" y="3316926"/>
            <a:ext cx="2483224" cy="307777"/>
          </a:xfrm>
          <a:prstGeom prst="rect">
            <a:avLst/>
          </a:prstGeom>
          <a:noFill/>
        </p:spPr>
        <p:txBody>
          <a:bodyPr wrap="square" rtlCol="0">
            <a:spAutoFit/>
          </a:bodyPr>
          <a:lstStyle/>
          <a:p>
            <a:r>
              <a:rPr lang="en-US" sz="1400" dirty="0"/>
              <a:t>2022</a:t>
            </a:r>
          </a:p>
        </p:txBody>
      </p:sp>
      <p:cxnSp>
        <p:nvCxnSpPr>
          <p:cNvPr id="63" name="Straight Connector 62">
            <a:extLst>
              <a:ext uri="{FF2B5EF4-FFF2-40B4-BE49-F238E27FC236}">
                <a16:creationId xmlns:a16="http://schemas.microsoft.com/office/drawing/2014/main" id="{367624CE-7693-6025-8484-443B3244400D}"/>
              </a:ext>
            </a:extLst>
          </p:cNvPr>
          <p:cNvCxnSpPr>
            <a:cxnSpLocks/>
          </p:cNvCxnSpPr>
          <p:nvPr/>
        </p:nvCxnSpPr>
        <p:spPr>
          <a:xfrm>
            <a:off x="6374098" y="2946782"/>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1025" name="TextBox 1024">
            <a:extLst>
              <a:ext uri="{FF2B5EF4-FFF2-40B4-BE49-F238E27FC236}">
                <a16:creationId xmlns:a16="http://schemas.microsoft.com/office/drawing/2014/main" id="{54161AC4-D2F8-726B-93DE-C182D81CB03C}"/>
              </a:ext>
            </a:extLst>
          </p:cNvPr>
          <p:cNvSpPr txBox="1"/>
          <p:nvPr/>
        </p:nvSpPr>
        <p:spPr>
          <a:xfrm>
            <a:off x="7126190" y="3318049"/>
            <a:ext cx="2483224" cy="307777"/>
          </a:xfrm>
          <a:prstGeom prst="rect">
            <a:avLst/>
          </a:prstGeom>
          <a:noFill/>
        </p:spPr>
        <p:txBody>
          <a:bodyPr wrap="square" rtlCol="0">
            <a:spAutoFit/>
          </a:bodyPr>
          <a:lstStyle/>
          <a:p>
            <a:r>
              <a:rPr lang="en-US" sz="1400" dirty="0"/>
              <a:t>2023</a:t>
            </a:r>
          </a:p>
        </p:txBody>
      </p:sp>
      <p:sp>
        <p:nvSpPr>
          <p:cNvPr id="1030" name="Right Brace 1029">
            <a:extLst>
              <a:ext uri="{FF2B5EF4-FFF2-40B4-BE49-F238E27FC236}">
                <a16:creationId xmlns:a16="http://schemas.microsoft.com/office/drawing/2014/main" id="{B01B2EC6-B1F6-D662-F491-827081615F6E}"/>
              </a:ext>
            </a:extLst>
          </p:cNvPr>
          <p:cNvSpPr/>
          <p:nvPr/>
        </p:nvSpPr>
        <p:spPr>
          <a:xfrm rot="16200000">
            <a:off x="5813529" y="2804279"/>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32" name="Connector: Curved 1031">
            <a:extLst>
              <a:ext uri="{FF2B5EF4-FFF2-40B4-BE49-F238E27FC236}">
                <a16:creationId xmlns:a16="http://schemas.microsoft.com/office/drawing/2014/main" id="{BDF665E9-0639-F9C1-723B-37624E5E15D9}"/>
              </a:ext>
            </a:extLst>
          </p:cNvPr>
          <p:cNvCxnSpPr>
            <a:stCxn id="1030" idx="1"/>
            <a:endCxn id="28" idx="2"/>
          </p:cNvCxnSpPr>
          <p:nvPr/>
        </p:nvCxnSpPr>
        <p:spPr>
          <a:xfrm rot="5400000" flipH="1">
            <a:off x="5229709" y="2363876"/>
            <a:ext cx="527810" cy="866383"/>
          </a:xfrm>
          <a:prstGeom prst="curvedConnector3">
            <a:avLst>
              <a:gd name="adj1" fmla="val 28818"/>
            </a:avLst>
          </a:prstGeom>
          <a:ln w="19050">
            <a:tailEnd type="triangle"/>
          </a:ln>
        </p:spPr>
        <p:style>
          <a:lnRef idx="1">
            <a:schemeClr val="dk1"/>
          </a:lnRef>
          <a:fillRef idx="0">
            <a:schemeClr val="dk1"/>
          </a:fillRef>
          <a:effectRef idx="0">
            <a:schemeClr val="dk1"/>
          </a:effectRef>
          <a:fontRef idx="minor">
            <a:schemeClr val="tx1"/>
          </a:fontRef>
        </p:style>
      </p:cxnSp>
      <p:sp>
        <p:nvSpPr>
          <p:cNvPr id="1034" name="Right Brace 1033">
            <a:extLst>
              <a:ext uri="{FF2B5EF4-FFF2-40B4-BE49-F238E27FC236}">
                <a16:creationId xmlns:a16="http://schemas.microsoft.com/office/drawing/2014/main" id="{4325DBB7-6804-4045-AFD6-D2C12DEF588F}"/>
              </a:ext>
            </a:extLst>
          </p:cNvPr>
          <p:cNvSpPr/>
          <p:nvPr/>
        </p:nvSpPr>
        <p:spPr>
          <a:xfrm rot="5400000">
            <a:off x="7711330" y="2461196"/>
            <a:ext cx="232704" cy="2577281"/>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5" name="TextBox 1034">
            <a:extLst>
              <a:ext uri="{FF2B5EF4-FFF2-40B4-BE49-F238E27FC236}">
                <a16:creationId xmlns:a16="http://schemas.microsoft.com/office/drawing/2014/main" id="{6ED520A7-C71C-783B-BAB5-DDF29F493774}"/>
              </a:ext>
            </a:extLst>
          </p:cNvPr>
          <p:cNvSpPr txBox="1"/>
          <p:nvPr/>
        </p:nvSpPr>
        <p:spPr>
          <a:xfrm>
            <a:off x="8148010" y="4635047"/>
            <a:ext cx="1164878" cy="523220"/>
          </a:xfrm>
          <a:prstGeom prst="rect">
            <a:avLst/>
          </a:prstGeom>
          <a:noFill/>
        </p:spPr>
        <p:txBody>
          <a:bodyPr wrap="square" rtlCol="0">
            <a:spAutoFit/>
          </a:bodyPr>
          <a:lstStyle/>
          <a:p>
            <a:pPr algn="ctr"/>
            <a:r>
              <a:rPr lang="en-US" sz="1400" dirty="0" err="1"/>
              <a:t>eXplainable</a:t>
            </a:r>
            <a:endParaRPr lang="en-US" sz="1400" dirty="0"/>
          </a:p>
          <a:p>
            <a:pPr algn="ctr"/>
            <a:r>
              <a:rPr lang="en-US" sz="1400" dirty="0"/>
              <a:t>AI(XAI)</a:t>
            </a:r>
          </a:p>
        </p:txBody>
      </p:sp>
      <p:cxnSp>
        <p:nvCxnSpPr>
          <p:cNvPr id="1037" name="Connector: Curved 1036">
            <a:extLst>
              <a:ext uri="{FF2B5EF4-FFF2-40B4-BE49-F238E27FC236}">
                <a16:creationId xmlns:a16="http://schemas.microsoft.com/office/drawing/2014/main" id="{DA8C62C0-1ACE-2342-4A46-B0B77E4ED5B4}"/>
              </a:ext>
            </a:extLst>
          </p:cNvPr>
          <p:cNvCxnSpPr>
            <a:cxnSpLocks/>
            <a:endCxn id="30" idx="0"/>
          </p:cNvCxnSpPr>
          <p:nvPr/>
        </p:nvCxnSpPr>
        <p:spPr>
          <a:xfrm rot="10800000" flipV="1">
            <a:off x="6962528" y="3866592"/>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1" name="Right Brace 1050">
            <a:extLst>
              <a:ext uri="{FF2B5EF4-FFF2-40B4-BE49-F238E27FC236}">
                <a16:creationId xmlns:a16="http://schemas.microsoft.com/office/drawing/2014/main" id="{49814522-DBEC-CE75-ED4A-7EA93945B090}"/>
              </a:ext>
            </a:extLst>
          </p:cNvPr>
          <p:cNvSpPr/>
          <p:nvPr/>
        </p:nvSpPr>
        <p:spPr>
          <a:xfrm rot="16200000">
            <a:off x="6714343" y="2810162"/>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3" name="Connector: Curved 1052">
            <a:extLst>
              <a:ext uri="{FF2B5EF4-FFF2-40B4-BE49-F238E27FC236}">
                <a16:creationId xmlns:a16="http://schemas.microsoft.com/office/drawing/2014/main" id="{4D84B282-C811-BBAF-9D80-89E17ACAAE2D}"/>
              </a:ext>
            </a:extLst>
          </p:cNvPr>
          <p:cNvCxnSpPr>
            <a:stCxn id="1051" idx="1"/>
            <a:endCxn id="29" idx="2"/>
          </p:cNvCxnSpPr>
          <p:nvPr/>
        </p:nvCxnSpPr>
        <p:spPr>
          <a:xfrm rot="5400000" flipH="1" flipV="1">
            <a:off x="6846165" y="2001608"/>
            <a:ext cx="1046701" cy="1083794"/>
          </a:xfrm>
          <a:prstGeom prst="curvedConnector3">
            <a:avLst>
              <a:gd name="adj1" fmla="val 25377"/>
            </a:avLst>
          </a:prstGeom>
          <a:ln w="19050">
            <a:tailEnd type="triangle"/>
          </a:ln>
        </p:spPr>
        <p:style>
          <a:lnRef idx="1">
            <a:schemeClr val="dk1"/>
          </a:lnRef>
          <a:fillRef idx="0">
            <a:schemeClr val="dk1"/>
          </a:fillRef>
          <a:effectRef idx="0">
            <a:schemeClr val="dk1"/>
          </a:effectRef>
          <a:fontRef idx="minor">
            <a:schemeClr val="tx1"/>
          </a:fontRef>
        </p:style>
      </p:cxnSp>
      <p:sp>
        <p:nvSpPr>
          <p:cNvPr id="1058" name="TextBox 1057">
            <a:extLst>
              <a:ext uri="{FF2B5EF4-FFF2-40B4-BE49-F238E27FC236}">
                <a16:creationId xmlns:a16="http://schemas.microsoft.com/office/drawing/2014/main" id="{BF4E2BB2-1C3B-5E4A-C001-0369636C6831}"/>
              </a:ext>
            </a:extLst>
          </p:cNvPr>
          <p:cNvSpPr txBox="1"/>
          <p:nvPr/>
        </p:nvSpPr>
        <p:spPr>
          <a:xfrm>
            <a:off x="8043232" y="3290957"/>
            <a:ext cx="2483224" cy="307777"/>
          </a:xfrm>
          <a:prstGeom prst="rect">
            <a:avLst/>
          </a:prstGeom>
          <a:noFill/>
        </p:spPr>
        <p:txBody>
          <a:bodyPr wrap="square" rtlCol="0">
            <a:spAutoFit/>
          </a:bodyPr>
          <a:lstStyle/>
          <a:p>
            <a:r>
              <a:rPr lang="en-US" sz="1400" dirty="0"/>
              <a:t>2024</a:t>
            </a:r>
          </a:p>
        </p:txBody>
      </p:sp>
      <p:cxnSp>
        <p:nvCxnSpPr>
          <p:cNvPr id="1069" name="Connector: Curved 1068">
            <a:extLst>
              <a:ext uri="{FF2B5EF4-FFF2-40B4-BE49-F238E27FC236}">
                <a16:creationId xmlns:a16="http://schemas.microsoft.com/office/drawing/2014/main" id="{7B846E79-756C-CD3A-898D-2AE57B87C339}"/>
              </a:ext>
            </a:extLst>
          </p:cNvPr>
          <p:cNvCxnSpPr>
            <a:cxnSpLocks/>
          </p:cNvCxnSpPr>
          <p:nvPr/>
        </p:nvCxnSpPr>
        <p:spPr>
          <a:xfrm rot="10800000" flipH="1" flipV="1">
            <a:off x="7810491" y="3873847"/>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70" name="TextBox 1069">
            <a:extLst>
              <a:ext uri="{FF2B5EF4-FFF2-40B4-BE49-F238E27FC236}">
                <a16:creationId xmlns:a16="http://schemas.microsoft.com/office/drawing/2014/main" id="{9D71B3B9-8BBE-26E5-7247-2D629DE45E4C}"/>
              </a:ext>
            </a:extLst>
          </p:cNvPr>
          <p:cNvSpPr txBox="1"/>
          <p:nvPr/>
        </p:nvSpPr>
        <p:spPr>
          <a:xfrm>
            <a:off x="8909114" y="3299200"/>
            <a:ext cx="2483224" cy="307777"/>
          </a:xfrm>
          <a:prstGeom prst="rect">
            <a:avLst/>
          </a:prstGeom>
          <a:noFill/>
        </p:spPr>
        <p:txBody>
          <a:bodyPr wrap="square" rtlCol="0">
            <a:spAutoFit/>
          </a:bodyPr>
          <a:lstStyle/>
          <a:p>
            <a:r>
              <a:rPr lang="en-US" sz="1400" dirty="0"/>
              <a:t>2025</a:t>
            </a:r>
          </a:p>
        </p:txBody>
      </p:sp>
      <p:sp>
        <p:nvSpPr>
          <p:cNvPr id="1071" name="Right Brace 1070">
            <a:extLst>
              <a:ext uri="{FF2B5EF4-FFF2-40B4-BE49-F238E27FC236}">
                <a16:creationId xmlns:a16="http://schemas.microsoft.com/office/drawing/2014/main" id="{065695F2-4627-EFC5-154E-AA829F167565}"/>
              </a:ext>
            </a:extLst>
          </p:cNvPr>
          <p:cNvSpPr/>
          <p:nvPr/>
        </p:nvSpPr>
        <p:spPr>
          <a:xfrm rot="16200000">
            <a:off x="9483432" y="275436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3" name="TextBox 1072">
            <a:extLst>
              <a:ext uri="{FF2B5EF4-FFF2-40B4-BE49-F238E27FC236}">
                <a16:creationId xmlns:a16="http://schemas.microsoft.com/office/drawing/2014/main" id="{7FE87E23-1000-C8DF-C569-4821955A5805}"/>
              </a:ext>
            </a:extLst>
          </p:cNvPr>
          <p:cNvSpPr txBox="1"/>
          <p:nvPr/>
        </p:nvSpPr>
        <p:spPr>
          <a:xfrm>
            <a:off x="9944264" y="3318049"/>
            <a:ext cx="2483224" cy="307777"/>
          </a:xfrm>
          <a:prstGeom prst="rect">
            <a:avLst/>
          </a:prstGeom>
          <a:noFill/>
        </p:spPr>
        <p:txBody>
          <a:bodyPr wrap="square" rtlCol="0">
            <a:spAutoFit/>
          </a:bodyPr>
          <a:lstStyle/>
          <a:p>
            <a:r>
              <a:rPr lang="en-US" sz="1400" dirty="0"/>
              <a:t>Now</a:t>
            </a:r>
          </a:p>
        </p:txBody>
      </p:sp>
      <p:sp>
        <p:nvSpPr>
          <p:cNvPr id="1075" name="Right Brace 1074">
            <a:extLst>
              <a:ext uri="{FF2B5EF4-FFF2-40B4-BE49-F238E27FC236}">
                <a16:creationId xmlns:a16="http://schemas.microsoft.com/office/drawing/2014/main" id="{B8AA7A3D-21EA-29F8-8D70-62B0F92856BD}"/>
              </a:ext>
            </a:extLst>
          </p:cNvPr>
          <p:cNvSpPr/>
          <p:nvPr/>
        </p:nvSpPr>
        <p:spPr>
          <a:xfrm rot="5400000" flipV="1">
            <a:off x="9569581" y="3409546"/>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6" name="TextBox 1075">
            <a:extLst>
              <a:ext uri="{FF2B5EF4-FFF2-40B4-BE49-F238E27FC236}">
                <a16:creationId xmlns:a16="http://schemas.microsoft.com/office/drawing/2014/main" id="{EB92D2A5-AB3E-4243-6FCD-F80C2AF2D1AC}"/>
              </a:ext>
            </a:extLst>
          </p:cNvPr>
          <p:cNvSpPr txBox="1"/>
          <p:nvPr/>
        </p:nvSpPr>
        <p:spPr>
          <a:xfrm>
            <a:off x="9179691" y="4067205"/>
            <a:ext cx="1164878" cy="307777"/>
          </a:xfrm>
          <a:prstGeom prst="rect">
            <a:avLst/>
          </a:prstGeom>
          <a:noFill/>
        </p:spPr>
        <p:txBody>
          <a:bodyPr wrap="square" rtlCol="0">
            <a:spAutoFit/>
          </a:bodyPr>
          <a:lstStyle/>
          <a:p>
            <a:pPr algn="ctr"/>
            <a:r>
              <a:rPr lang="en-US" sz="1400" dirty="0"/>
              <a:t>This work!</a:t>
            </a:r>
          </a:p>
        </p:txBody>
      </p:sp>
    </p:spTree>
    <p:extLst>
      <p:ext uri="{BB962C8B-B14F-4D97-AF65-F5344CB8AC3E}">
        <p14:creationId xmlns:p14="http://schemas.microsoft.com/office/powerpoint/2010/main" val="18519812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EDED4-3232-E498-9DD8-93D81AD92837}"/>
              </a:ext>
            </a:extLst>
          </p:cNvPr>
          <p:cNvSpPr>
            <a:spLocks noGrp="1"/>
          </p:cNvSpPr>
          <p:nvPr>
            <p:ph type="title"/>
          </p:nvPr>
        </p:nvSpPr>
        <p:spPr/>
        <p:txBody>
          <a:bodyPr/>
          <a:lstStyle/>
          <a:p>
            <a:r>
              <a:rPr lang="en-US"/>
              <a:t>What is a Neural Networks?</a:t>
            </a:r>
          </a:p>
        </p:txBody>
      </p:sp>
      <p:grpSp>
        <p:nvGrpSpPr>
          <p:cNvPr id="12" name="Group 11">
            <a:extLst>
              <a:ext uri="{FF2B5EF4-FFF2-40B4-BE49-F238E27FC236}">
                <a16:creationId xmlns:a16="http://schemas.microsoft.com/office/drawing/2014/main" id="{F6EEFD4D-4BA9-2D36-4314-39C1A047088B}"/>
              </a:ext>
            </a:extLst>
          </p:cNvPr>
          <p:cNvGrpSpPr/>
          <p:nvPr/>
        </p:nvGrpSpPr>
        <p:grpSpPr>
          <a:xfrm>
            <a:off x="378537" y="1755228"/>
            <a:ext cx="6617410" cy="3637523"/>
            <a:chOff x="378537" y="1755228"/>
            <a:chExt cx="6617410" cy="3637523"/>
          </a:xfrm>
        </p:grpSpPr>
        <p:sp>
          <p:nvSpPr>
            <p:cNvPr id="4" name="TextBox 3">
              <a:extLst>
                <a:ext uri="{FF2B5EF4-FFF2-40B4-BE49-F238E27FC236}">
                  <a16:creationId xmlns:a16="http://schemas.microsoft.com/office/drawing/2014/main" id="{8EB558CC-9EA5-53D0-98F8-DC283A1148B6}"/>
                </a:ext>
              </a:extLst>
            </p:cNvPr>
            <p:cNvSpPr txBox="1"/>
            <p:nvPr/>
          </p:nvSpPr>
          <p:spPr>
            <a:xfrm>
              <a:off x="798786" y="1755228"/>
              <a:ext cx="1954924" cy="369332"/>
            </a:xfrm>
            <a:prstGeom prst="rect">
              <a:avLst/>
            </a:prstGeom>
            <a:noFill/>
          </p:spPr>
          <p:txBody>
            <a:bodyPr wrap="square" rtlCol="0">
              <a:spAutoFit/>
            </a:bodyPr>
            <a:lstStyle/>
            <a:p>
              <a:r>
                <a:rPr lang="en-US"/>
                <a:t>Neuron:</a:t>
              </a:r>
            </a:p>
          </p:txBody>
        </p:sp>
        <p:grpSp>
          <p:nvGrpSpPr>
            <p:cNvPr id="9" name="Group 8">
              <a:extLst>
                <a:ext uri="{FF2B5EF4-FFF2-40B4-BE49-F238E27FC236}">
                  <a16:creationId xmlns:a16="http://schemas.microsoft.com/office/drawing/2014/main" id="{196E97F5-3A09-3DAE-B31A-656ED5F181ED}"/>
                </a:ext>
              </a:extLst>
            </p:cNvPr>
            <p:cNvGrpSpPr/>
            <p:nvPr/>
          </p:nvGrpSpPr>
          <p:grpSpPr>
            <a:xfrm>
              <a:off x="378537" y="2124560"/>
              <a:ext cx="6617410" cy="3268191"/>
              <a:chOff x="431089" y="2391838"/>
              <a:chExt cx="6617410" cy="3268191"/>
            </a:xfrm>
          </p:grpSpPr>
          <p:pic>
            <p:nvPicPr>
              <p:cNvPr id="2052" name="Picture 4" descr="First neural network for beginners explained (with code) | by Arthur Arnx |  TDS Archive | Medium">
                <a:extLst>
                  <a:ext uri="{FF2B5EF4-FFF2-40B4-BE49-F238E27FC236}">
                    <a16:creationId xmlns:a16="http://schemas.microsoft.com/office/drawing/2014/main" id="{56307857-8D1F-CF22-C7BB-BBF42787CA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089" y="2391838"/>
                <a:ext cx="6200775" cy="3152775"/>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7CB9D8E-4254-A214-9782-63BD769372BC}"/>
                  </a:ext>
                </a:extLst>
              </p:cNvPr>
              <p:cNvSpPr txBox="1"/>
              <p:nvPr/>
            </p:nvSpPr>
            <p:spPr>
              <a:xfrm>
                <a:off x="952499" y="5429197"/>
                <a:ext cx="6096000" cy="230832"/>
              </a:xfrm>
              <a:prstGeom prst="rect">
                <a:avLst/>
              </a:prstGeom>
              <a:noFill/>
            </p:spPr>
            <p:txBody>
              <a:bodyPr wrap="square">
                <a:spAutoFit/>
              </a:bodyPr>
              <a:lstStyle/>
              <a:p>
                <a:r>
                  <a:rPr lang="en-US" sz="900"/>
                  <a:t>https://medium.com/data-science/first-neural-network-for-beginners-explained-with-code-4cfd37e06eaf</a:t>
                </a:r>
              </a:p>
            </p:txBody>
          </p:sp>
        </p:grpSp>
      </p:grpSp>
      <p:grpSp>
        <p:nvGrpSpPr>
          <p:cNvPr id="14" name="Group 13">
            <a:extLst>
              <a:ext uri="{FF2B5EF4-FFF2-40B4-BE49-F238E27FC236}">
                <a16:creationId xmlns:a16="http://schemas.microsoft.com/office/drawing/2014/main" id="{0DE4C2B1-E99E-EFE3-8873-84796F236B4D}"/>
              </a:ext>
            </a:extLst>
          </p:cNvPr>
          <p:cNvGrpSpPr/>
          <p:nvPr/>
        </p:nvGrpSpPr>
        <p:grpSpPr>
          <a:xfrm>
            <a:off x="504661" y="1738666"/>
            <a:ext cx="6573167" cy="3885899"/>
            <a:chOff x="505598" y="1760768"/>
            <a:chExt cx="6573167" cy="3885899"/>
          </a:xfrm>
        </p:grpSpPr>
        <p:pic>
          <p:nvPicPr>
            <p:cNvPr id="11" name="Picture 10">
              <a:extLst>
                <a:ext uri="{FF2B5EF4-FFF2-40B4-BE49-F238E27FC236}">
                  <a16:creationId xmlns:a16="http://schemas.microsoft.com/office/drawing/2014/main" id="{3592DEB5-422E-9E4C-E6D5-252A33C4F6E0}"/>
                </a:ext>
              </a:extLst>
            </p:cNvPr>
            <p:cNvPicPr>
              <a:picLocks noChangeAspect="1"/>
            </p:cNvPicPr>
            <p:nvPr/>
          </p:nvPicPr>
          <p:blipFill>
            <a:blip r:embed="rId4"/>
            <a:stretch>
              <a:fillRect/>
            </a:stretch>
          </p:blipFill>
          <p:spPr>
            <a:xfrm>
              <a:off x="505598" y="2255294"/>
              <a:ext cx="6573167" cy="3391373"/>
            </a:xfrm>
            <a:prstGeom prst="rect">
              <a:avLst/>
            </a:prstGeom>
          </p:spPr>
        </p:pic>
        <p:sp>
          <p:nvSpPr>
            <p:cNvPr id="13" name="TextBox 12">
              <a:extLst>
                <a:ext uri="{FF2B5EF4-FFF2-40B4-BE49-F238E27FC236}">
                  <a16:creationId xmlns:a16="http://schemas.microsoft.com/office/drawing/2014/main" id="{3CFDDF92-25A9-97F1-5C1B-02A1C556DDB6}"/>
                </a:ext>
              </a:extLst>
            </p:cNvPr>
            <p:cNvSpPr txBox="1"/>
            <p:nvPr/>
          </p:nvSpPr>
          <p:spPr>
            <a:xfrm>
              <a:off x="798786" y="1760768"/>
              <a:ext cx="1954924" cy="369332"/>
            </a:xfrm>
            <a:prstGeom prst="rect">
              <a:avLst/>
            </a:prstGeom>
            <a:noFill/>
          </p:spPr>
          <p:txBody>
            <a:bodyPr wrap="square" rtlCol="0">
              <a:spAutoFit/>
            </a:bodyPr>
            <a:lstStyle/>
            <a:p>
              <a:r>
                <a:rPr lang="en-US"/>
                <a:t>Neural Network:</a:t>
              </a:r>
            </a:p>
          </p:txBody>
        </p:sp>
      </p:grpSp>
      <p:grpSp>
        <p:nvGrpSpPr>
          <p:cNvPr id="20" name="Group 19">
            <a:extLst>
              <a:ext uri="{FF2B5EF4-FFF2-40B4-BE49-F238E27FC236}">
                <a16:creationId xmlns:a16="http://schemas.microsoft.com/office/drawing/2014/main" id="{CCD1413B-B814-5878-2E76-C7359D6E3421}"/>
              </a:ext>
            </a:extLst>
          </p:cNvPr>
          <p:cNvGrpSpPr/>
          <p:nvPr/>
        </p:nvGrpSpPr>
        <p:grpSpPr>
          <a:xfrm>
            <a:off x="797849" y="1755228"/>
            <a:ext cx="8534399" cy="4123253"/>
            <a:chOff x="798786" y="1766279"/>
            <a:chExt cx="8534399" cy="4123253"/>
          </a:xfrm>
        </p:grpSpPr>
        <p:sp>
          <p:nvSpPr>
            <p:cNvPr id="15" name="TextBox 14">
              <a:extLst>
                <a:ext uri="{FF2B5EF4-FFF2-40B4-BE49-F238E27FC236}">
                  <a16:creationId xmlns:a16="http://schemas.microsoft.com/office/drawing/2014/main" id="{6B3D5E48-0ADA-D905-62A8-8AF15A364C3F}"/>
                </a:ext>
              </a:extLst>
            </p:cNvPr>
            <p:cNvSpPr txBox="1"/>
            <p:nvPr/>
          </p:nvSpPr>
          <p:spPr>
            <a:xfrm>
              <a:off x="798786" y="1766279"/>
              <a:ext cx="1954924" cy="369332"/>
            </a:xfrm>
            <a:prstGeom prst="rect">
              <a:avLst/>
            </a:prstGeom>
            <a:noFill/>
          </p:spPr>
          <p:txBody>
            <a:bodyPr wrap="square" rtlCol="0">
              <a:spAutoFit/>
            </a:bodyPr>
            <a:lstStyle/>
            <a:p>
              <a:r>
                <a:rPr lang="en-US"/>
                <a:t>Training:</a:t>
              </a:r>
            </a:p>
          </p:txBody>
        </p:sp>
        <p:grpSp>
          <p:nvGrpSpPr>
            <p:cNvPr id="18" name="Group 17">
              <a:extLst>
                <a:ext uri="{FF2B5EF4-FFF2-40B4-BE49-F238E27FC236}">
                  <a16:creationId xmlns:a16="http://schemas.microsoft.com/office/drawing/2014/main" id="{991D9619-E6BE-762D-455F-B8912DB24058}"/>
                </a:ext>
              </a:extLst>
            </p:cNvPr>
            <p:cNvGrpSpPr/>
            <p:nvPr/>
          </p:nvGrpSpPr>
          <p:grpSpPr>
            <a:xfrm>
              <a:off x="848136" y="2491505"/>
              <a:ext cx="8485049" cy="3398027"/>
              <a:chOff x="848136" y="2491505"/>
              <a:chExt cx="8485049" cy="3398027"/>
            </a:xfrm>
          </p:grpSpPr>
          <p:pic>
            <p:nvPicPr>
              <p:cNvPr id="2054" name="Picture 6" descr="Backpropagation: Understanding How Backpropagation Algorithm Works in ML |  by Stephen Kamau | Artificial Intelligence in Plain English">
                <a:extLst>
                  <a:ext uri="{FF2B5EF4-FFF2-40B4-BE49-F238E27FC236}">
                    <a16:creationId xmlns:a16="http://schemas.microsoft.com/office/drawing/2014/main" id="{C5B31389-C03C-EFAF-DC49-CC59729CD3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8136" y="2491505"/>
                <a:ext cx="5939494" cy="3094187"/>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3E1E8C1-8642-5A75-41B0-EBA38F46F8DB}"/>
                  </a:ext>
                </a:extLst>
              </p:cNvPr>
              <p:cNvSpPr txBox="1"/>
              <p:nvPr/>
            </p:nvSpPr>
            <p:spPr>
              <a:xfrm>
                <a:off x="982764" y="5635616"/>
                <a:ext cx="8350421" cy="253916"/>
              </a:xfrm>
              <a:prstGeom prst="rect">
                <a:avLst/>
              </a:prstGeom>
              <a:noFill/>
            </p:spPr>
            <p:txBody>
              <a:bodyPr wrap="square">
                <a:spAutoFit/>
              </a:bodyPr>
              <a:lstStyle/>
              <a:p>
                <a:r>
                  <a:rPr lang="en-US" sz="1050"/>
                  <a:t>https://ai.plainenglish.io/backpropagation-understanding-how-backpropagation-algorithm-works-in-ml-8bdd9c636534?gi=1f3dc6076bcf</a:t>
                </a:r>
              </a:p>
            </p:txBody>
          </p:sp>
        </p:grpSp>
      </p:grpSp>
      <p:sp>
        <p:nvSpPr>
          <p:cNvPr id="3" name="Slide Number Placeholder 2">
            <a:extLst>
              <a:ext uri="{FF2B5EF4-FFF2-40B4-BE49-F238E27FC236}">
                <a16:creationId xmlns:a16="http://schemas.microsoft.com/office/drawing/2014/main" id="{947CDC5A-2AB8-339A-898A-51D652DE740C}"/>
              </a:ext>
            </a:extLst>
          </p:cNvPr>
          <p:cNvSpPr>
            <a:spLocks noGrp="1"/>
          </p:cNvSpPr>
          <p:nvPr>
            <p:ph type="sldNum" sz="quarter" idx="10"/>
          </p:nvPr>
        </p:nvSpPr>
        <p:spPr/>
        <p:txBody>
          <a:bodyPr/>
          <a:lstStyle/>
          <a:p>
            <a:fld id="{C6684DFB-8BCD-4B6F-9AA1-83F3BA61DF41}" type="slidenum">
              <a:rPr lang="en-US" smtClean="0"/>
              <a:pPr/>
              <a:t>3</a:t>
            </a:fld>
            <a:endParaRPr lang="en-US"/>
          </a:p>
        </p:txBody>
      </p:sp>
      <p:sp>
        <p:nvSpPr>
          <p:cNvPr id="5" name="Block Arc 4">
            <a:extLst>
              <a:ext uri="{FF2B5EF4-FFF2-40B4-BE49-F238E27FC236}">
                <a16:creationId xmlns:a16="http://schemas.microsoft.com/office/drawing/2014/main" id="{97DB2F38-8EA8-D424-DD51-748FBE118593}"/>
              </a:ext>
            </a:extLst>
          </p:cNvPr>
          <p:cNvSpPr/>
          <p:nvPr/>
        </p:nvSpPr>
        <p:spPr>
          <a:xfrm>
            <a:off x="2380546" y="2248191"/>
            <a:ext cx="1697677" cy="355894"/>
          </a:xfrm>
          <a:prstGeom prst="blockArc">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TextBox 5">
            <a:extLst>
              <a:ext uri="{FF2B5EF4-FFF2-40B4-BE49-F238E27FC236}">
                <a16:creationId xmlns:a16="http://schemas.microsoft.com/office/drawing/2014/main" id="{E6D12E34-6B5D-EB2B-363C-DB09CB7B2BAC}"/>
              </a:ext>
            </a:extLst>
          </p:cNvPr>
          <p:cNvSpPr txBox="1"/>
          <p:nvPr/>
        </p:nvSpPr>
        <p:spPr>
          <a:xfrm>
            <a:off x="4042430" y="1259818"/>
            <a:ext cx="2026070" cy="923330"/>
          </a:xfrm>
          <a:prstGeom prst="rect">
            <a:avLst/>
          </a:prstGeom>
          <a:noFill/>
        </p:spPr>
        <p:txBody>
          <a:bodyPr wrap="square" rtlCol="0">
            <a:spAutoFit/>
          </a:bodyPr>
          <a:lstStyle/>
          <a:p>
            <a:r>
              <a:rPr lang="en-US" dirty="0"/>
              <a:t>Stages are groupings of repeated layers</a:t>
            </a:r>
          </a:p>
        </p:txBody>
      </p:sp>
      <p:pic>
        <p:nvPicPr>
          <p:cNvPr id="16" name="Picture 15">
            <a:extLst>
              <a:ext uri="{FF2B5EF4-FFF2-40B4-BE49-F238E27FC236}">
                <a16:creationId xmlns:a16="http://schemas.microsoft.com/office/drawing/2014/main" id="{AB6F7D1A-F716-53C7-E0CB-3B7B341E595A}"/>
              </a:ext>
            </a:extLst>
          </p:cNvPr>
          <p:cNvPicPr>
            <a:picLocks noChangeAspect="1"/>
          </p:cNvPicPr>
          <p:nvPr/>
        </p:nvPicPr>
        <p:blipFill>
          <a:blip r:embed="rId6"/>
          <a:stretch>
            <a:fillRect/>
          </a:stretch>
        </p:blipFill>
        <p:spPr>
          <a:xfrm flipH="1">
            <a:off x="2816964" y="1293702"/>
            <a:ext cx="1162212" cy="914528"/>
          </a:xfrm>
          <a:prstGeom prst="rect">
            <a:avLst/>
          </a:prstGeom>
        </p:spPr>
      </p:pic>
    </p:spTree>
    <p:extLst>
      <p:ext uri="{BB962C8B-B14F-4D97-AF65-F5344CB8AC3E}">
        <p14:creationId xmlns:p14="http://schemas.microsoft.com/office/powerpoint/2010/main" val="294902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4B029-7519-2403-1671-62C9992FBF68}"/>
              </a:ext>
            </a:extLst>
          </p:cNvPr>
          <p:cNvSpPr>
            <a:spLocks noGrp="1"/>
          </p:cNvSpPr>
          <p:nvPr>
            <p:ph type="title"/>
          </p:nvPr>
        </p:nvSpPr>
        <p:spPr/>
        <p:txBody>
          <a:bodyPr/>
          <a:lstStyle/>
          <a:p>
            <a:r>
              <a:rPr lang="en-US" dirty="0"/>
              <a:t>Research Roadmap</a:t>
            </a:r>
          </a:p>
        </p:txBody>
      </p:sp>
      <p:sp>
        <p:nvSpPr>
          <p:cNvPr id="3" name="Slide Number Placeholder 2">
            <a:extLst>
              <a:ext uri="{FF2B5EF4-FFF2-40B4-BE49-F238E27FC236}">
                <a16:creationId xmlns:a16="http://schemas.microsoft.com/office/drawing/2014/main" id="{32F0B9D1-AB15-9B35-D724-2B6EEAEDAA73}"/>
              </a:ext>
            </a:extLst>
          </p:cNvPr>
          <p:cNvSpPr>
            <a:spLocks noGrp="1"/>
          </p:cNvSpPr>
          <p:nvPr>
            <p:ph type="sldNum" sz="quarter" idx="10"/>
          </p:nvPr>
        </p:nvSpPr>
        <p:spPr/>
        <p:txBody>
          <a:bodyPr/>
          <a:lstStyle/>
          <a:p>
            <a:fld id="{C6684DFB-8BCD-4B6F-9AA1-83F3BA61DF41}" type="slidenum">
              <a:rPr lang="en-US" smtClean="0"/>
              <a:pPr/>
              <a:t>4</a:t>
            </a:fld>
            <a:endParaRPr lang="en-US"/>
          </a:p>
        </p:txBody>
      </p:sp>
      <p:grpSp>
        <p:nvGrpSpPr>
          <p:cNvPr id="8" name="Group 7">
            <a:extLst>
              <a:ext uri="{FF2B5EF4-FFF2-40B4-BE49-F238E27FC236}">
                <a16:creationId xmlns:a16="http://schemas.microsoft.com/office/drawing/2014/main" id="{4DE810DF-7459-E639-EBB8-78CE89837BE9}"/>
              </a:ext>
            </a:extLst>
          </p:cNvPr>
          <p:cNvGrpSpPr/>
          <p:nvPr/>
        </p:nvGrpSpPr>
        <p:grpSpPr>
          <a:xfrm>
            <a:off x="566928" y="1600200"/>
            <a:ext cx="3383280" cy="4308872"/>
            <a:chOff x="566928" y="1600200"/>
            <a:chExt cx="3383280" cy="4308872"/>
          </a:xfrm>
        </p:grpSpPr>
        <p:sp>
          <p:nvSpPr>
            <p:cNvPr id="4" name="TextBox 3">
              <a:extLst>
                <a:ext uri="{FF2B5EF4-FFF2-40B4-BE49-F238E27FC236}">
                  <a16:creationId xmlns:a16="http://schemas.microsoft.com/office/drawing/2014/main" id="{62B38E98-9667-2240-CC3D-405ADF7A5AEA}"/>
                </a:ext>
              </a:extLst>
            </p:cNvPr>
            <p:cNvSpPr txBox="1"/>
            <p:nvPr/>
          </p:nvSpPr>
          <p:spPr>
            <a:xfrm>
              <a:off x="566928" y="1600200"/>
              <a:ext cx="3383280" cy="4308872"/>
            </a:xfrm>
            <a:prstGeom prst="rect">
              <a:avLst/>
            </a:prstGeom>
            <a:noFill/>
          </p:spPr>
          <p:txBody>
            <a:bodyPr wrap="square" rtlCol="0">
              <a:spAutoFit/>
            </a:bodyPr>
            <a:lstStyle/>
            <a:p>
              <a:pPr algn="ctr"/>
              <a:r>
                <a:rPr lang="en-US" sz="2000" b="1" dirty="0"/>
                <a:t>Investigation</a:t>
              </a:r>
            </a:p>
            <a:p>
              <a:pPr algn="ctr"/>
              <a:r>
                <a:rPr lang="en-US" sz="1600" dirty="0"/>
                <a:t>Pruning Dynamics</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Exploring Unstructured Pruning</a:t>
              </a:r>
            </a:p>
            <a:p>
              <a:endParaRPr lang="en-US" sz="1400" dirty="0"/>
            </a:p>
            <a:p>
              <a:r>
                <a:rPr lang="en-US" sz="1400" dirty="0"/>
                <a:t>Goal: Analyze internal structural changes during Iterative Magnitude Pruning (IMP)</a:t>
              </a:r>
            </a:p>
            <a:p>
              <a:endParaRPr lang="en-US" sz="1400" dirty="0"/>
            </a:p>
            <a:p>
              <a:r>
                <a:rPr lang="en-US" sz="1400" dirty="0"/>
                <a:t>Question: Does there exists some structure in unstructured pruning</a:t>
              </a:r>
            </a:p>
          </p:txBody>
        </p:sp>
        <p:pic>
          <p:nvPicPr>
            <p:cNvPr id="12" name="Picture 11">
              <a:extLst>
                <a:ext uri="{FF2B5EF4-FFF2-40B4-BE49-F238E27FC236}">
                  <a16:creationId xmlns:a16="http://schemas.microsoft.com/office/drawing/2014/main" id="{742A5852-1B44-CA03-018E-578F718034B9}"/>
                </a:ext>
              </a:extLst>
            </p:cNvPr>
            <p:cNvPicPr>
              <a:picLocks noChangeAspect="1"/>
            </p:cNvPicPr>
            <p:nvPr/>
          </p:nvPicPr>
          <p:blipFill>
            <a:blip r:embed="rId2">
              <a:extLst>
                <a:ext uri="{BEBA8EAE-BF5A-486C-A8C5-ECC9F3942E4B}">
                  <a14:imgProps xmlns:a14="http://schemas.microsoft.com/office/drawing/2010/main">
                    <a14:imgLayer r:embed="rId3">
                      <a14:imgEffect>
                        <a14:artisticPhotocopy/>
                      </a14:imgEffect>
                    </a14:imgLayer>
                  </a14:imgProps>
                </a:ext>
              </a:extLst>
            </a:blip>
            <a:stretch>
              <a:fillRect/>
            </a:stretch>
          </p:blipFill>
          <p:spPr>
            <a:xfrm>
              <a:off x="1687068" y="2611636"/>
              <a:ext cx="1143000" cy="1143000"/>
            </a:xfrm>
            <a:prstGeom prst="rect">
              <a:avLst/>
            </a:prstGeom>
          </p:spPr>
        </p:pic>
        <p:pic>
          <p:nvPicPr>
            <p:cNvPr id="18" name="Picture 17">
              <a:extLst>
                <a:ext uri="{FF2B5EF4-FFF2-40B4-BE49-F238E27FC236}">
                  <a16:creationId xmlns:a16="http://schemas.microsoft.com/office/drawing/2014/main" id="{E43518AD-6AE0-AF59-59EA-988874C3C972}"/>
                </a:ext>
              </a:extLst>
            </p:cNvPr>
            <p:cNvPicPr>
              <a:picLocks noChangeAspect="1"/>
            </p:cNvPicPr>
            <p:nvPr/>
          </p:nvPicPr>
          <p:blipFill>
            <a:blip r:embed="rId4"/>
            <a:stretch>
              <a:fillRect/>
            </a:stretch>
          </p:blipFill>
          <p:spPr>
            <a:xfrm>
              <a:off x="2019300" y="2904393"/>
              <a:ext cx="810768" cy="810768"/>
            </a:xfrm>
            <a:prstGeom prst="rect">
              <a:avLst/>
            </a:prstGeom>
          </p:spPr>
        </p:pic>
      </p:grpSp>
      <p:grpSp>
        <p:nvGrpSpPr>
          <p:cNvPr id="7" name="Group 6">
            <a:extLst>
              <a:ext uri="{FF2B5EF4-FFF2-40B4-BE49-F238E27FC236}">
                <a16:creationId xmlns:a16="http://schemas.microsoft.com/office/drawing/2014/main" id="{095B2A53-8833-EB1A-6A4B-C42FC84A0CC1}"/>
              </a:ext>
            </a:extLst>
          </p:cNvPr>
          <p:cNvGrpSpPr/>
          <p:nvPr/>
        </p:nvGrpSpPr>
        <p:grpSpPr>
          <a:xfrm>
            <a:off x="8140509" y="1625757"/>
            <a:ext cx="3683382" cy="4339650"/>
            <a:chOff x="3954906" y="1560725"/>
            <a:chExt cx="3683382" cy="4339650"/>
          </a:xfrm>
        </p:grpSpPr>
        <p:sp>
          <p:nvSpPr>
            <p:cNvPr id="5" name="TextBox 4">
              <a:extLst>
                <a:ext uri="{FF2B5EF4-FFF2-40B4-BE49-F238E27FC236}">
                  <a16:creationId xmlns:a16="http://schemas.microsoft.com/office/drawing/2014/main" id="{42E2DB5D-DE1A-DA29-61A9-7412D8843C76}"/>
                </a:ext>
              </a:extLst>
            </p:cNvPr>
            <p:cNvSpPr txBox="1"/>
            <p:nvPr/>
          </p:nvSpPr>
          <p:spPr>
            <a:xfrm>
              <a:off x="4104957" y="1560725"/>
              <a:ext cx="3383280" cy="4339650"/>
            </a:xfrm>
            <a:prstGeom prst="rect">
              <a:avLst/>
            </a:prstGeom>
            <a:noFill/>
          </p:spPr>
          <p:txBody>
            <a:bodyPr wrap="square" rtlCol="0">
              <a:spAutoFit/>
            </a:bodyPr>
            <a:lstStyle/>
            <a:p>
              <a:pPr algn="ctr"/>
              <a:r>
                <a:rPr lang="en-US" sz="2000" b="1" dirty="0"/>
                <a:t>Network Optimization</a:t>
              </a:r>
              <a:endParaRPr lang="en-US" b="1" dirty="0"/>
            </a:p>
            <a:p>
              <a:pPr algn="ctr"/>
              <a:r>
                <a:rPr lang="en-US" sz="1600" dirty="0"/>
                <a:t>Structural Reduction</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Layer-by-Layer Collapse</a:t>
              </a:r>
            </a:p>
            <a:p>
              <a:endParaRPr lang="en-US" sz="1400" dirty="0"/>
            </a:p>
            <a:p>
              <a:r>
                <a:rPr lang="en-US" sz="1400" dirty="0"/>
                <a:t>Goal: Reduce network size based on layer contributions</a:t>
              </a:r>
            </a:p>
            <a:p>
              <a:endParaRPr lang="en-US" sz="1400" dirty="0"/>
            </a:p>
            <a:p>
              <a:r>
                <a:rPr lang="en-US" sz="1400" dirty="0"/>
                <a:t>Question: Can we reduce the architecture of a network for better efficiency based on (1)?</a:t>
              </a:r>
            </a:p>
          </p:txBody>
        </p:sp>
        <p:pic>
          <p:nvPicPr>
            <p:cNvPr id="20" name="Picture 19">
              <a:extLst>
                <a:ext uri="{FF2B5EF4-FFF2-40B4-BE49-F238E27FC236}">
                  <a16:creationId xmlns:a16="http://schemas.microsoft.com/office/drawing/2014/main" id="{3F63879B-C2E3-0002-A644-AB0E5B4D36AB}"/>
                </a:ext>
              </a:extLst>
            </p:cNvPr>
            <p:cNvPicPr>
              <a:picLocks noChangeAspect="1"/>
            </p:cNvPicPr>
            <p:nvPr/>
          </p:nvPicPr>
          <p:blipFill>
            <a:blip r:embed="rId5"/>
            <a:stretch>
              <a:fillRect/>
            </a:stretch>
          </p:blipFill>
          <p:spPr>
            <a:xfrm>
              <a:off x="3954906" y="2747531"/>
              <a:ext cx="3683382" cy="871210"/>
            </a:xfrm>
            <a:prstGeom prst="rect">
              <a:avLst/>
            </a:prstGeom>
          </p:spPr>
        </p:pic>
      </p:grpSp>
      <p:grpSp>
        <p:nvGrpSpPr>
          <p:cNvPr id="9" name="Group 8">
            <a:extLst>
              <a:ext uri="{FF2B5EF4-FFF2-40B4-BE49-F238E27FC236}">
                <a16:creationId xmlns:a16="http://schemas.microsoft.com/office/drawing/2014/main" id="{4DA5BB4A-F55F-B895-030A-B46FB9A79F8A}"/>
              </a:ext>
            </a:extLst>
          </p:cNvPr>
          <p:cNvGrpSpPr/>
          <p:nvPr/>
        </p:nvGrpSpPr>
        <p:grpSpPr>
          <a:xfrm>
            <a:off x="3903790" y="1625757"/>
            <a:ext cx="3986784" cy="4031873"/>
            <a:chOff x="7638288" y="1562113"/>
            <a:chExt cx="3986784" cy="3890105"/>
          </a:xfrm>
        </p:grpSpPr>
        <p:sp>
          <p:nvSpPr>
            <p:cNvPr id="6" name="TextBox 5">
              <a:extLst>
                <a:ext uri="{FF2B5EF4-FFF2-40B4-BE49-F238E27FC236}">
                  <a16:creationId xmlns:a16="http://schemas.microsoft.com/office/drawing/2014/main" id="{62F9699B-5EA1-8775-3E96-460E91B15722}"/>
                </a:ext>
              </a:extLst>
            </p:cNvPr>
            <p:cNvSpPr txBox="1"/>
            <p:nvPr/>
          </p:nvSpPr>
          <p:spPr>
            <a:xfrm>
              <a:off x="7638288" y="1562113"/>
              <a:ext cx="3986784" cy="3890105"/>
            </a:xfrm>
            <a:prstGeom prst="rect">
              <a:avLst/>
            </a:prstGeom>
            <a:noFill/>
          </p:spPr>
          <p:txBody>
            <a:bodyPr wrap="square" rtlCol="0">
              <a:spAutoFit/>
            </a:bodyPr>
            <a:lstStyle/>
            <a:p>
              <a:pPr algn="ctr"/>
              <a:r>
                <a:rPr lang="en-US" sz="2000" b="1" dirty="0"/>
                <a:t>Robustness</a:t>
              </a:r>
              <a:endParaRPr lang="en-US" b="1" dirty="0"/>
            </a:p>
            <a:p>
              <a:pPr algn="ctr"/>
              <a:r>
                <a:rPr lang="en-US" sz="1600" dirty="0"/>
                <a:t>Adversarial Transferability</a:t>
              </a:r>
            </a:p>
            <a:p>
              <a:endParaRPr lang="en-US" dirty="0"/>
            </a:p>
            <a:p>
              <a:endParaRPr lang="en-US" dirty="0"/>
            </a:p>
            <a:p>
              <a:endParaRPr lang="en-US" dirty="0"/>
            </a:p>
            <a:p>
              <a:endParaRPr lang="en-US" dirty="0"/>
            </a:p>
            <a:p>
              <a:endParaRPr lang="en-US" dirty="0"/>
            </a:p>
            <a:p>
              <a:endParaRPr lang="en-US" dirty="0"/>
            </a:p>
            <a:p>
              <a:endParaRPr lang="en-US" sz="1400" dirty="0"/>
            </a:p>
            <a:p>
              <a:r>
                <a:rPr lang="en-US" sz="1400" dirty="0"/>
                <a:t>Source: Surrogate-to-Target-Transfer Scenario </a:t>
              </a:r>
            </a:p>
            <a:p>
              <a:endParaRPr lang="en-US" sz="1400" dirty="0"/>
            </a:p>
            <a:p>
              <a:r>
                <a:rPr lang="en-US" sz="1400" dirty="0"/>
                <a:t>Goal: Analyze how network architecture influences adversarial attack transferability</a:t>
              </a:r>
            </a:p>
            <a:p>
              <a:endParaRPr lang="en-US" sz="1400" dirty="0"/>
            </a:p>
            <a:p>
              <a:r>
                <a:rPr lang="en-US" sz="1400" dirty="0"/>
                <a:t>Question: How does network architecture impact transferable attacks?</a:t>
              </a:r>
            </a:p>
          </p:txBody>
        </p:sp>
        <p:pic>
          <p:nvPicPr>
            <p:cNvPr id="22" name="Picture 21">
              <a:extLst>
                <a:ext uri="{FF2B5EF4-FFF2-40B4-BE49-F238E27FC236}">
                  <a16:creationId xmlns:a16="http://schemas.microsoft.com/office/drawing/2014/main" id="{5B2842B1-6F60-C273-7A66-6021EB91738C}"/>
                </a:ext>
              </a:extLst>
            </p:cNvPr>
            <p:cNvPicPr>
              <a:picLocks noChangeAspect="1"/>
            </p:cNvPicPr>
            <p:nvPr/>
          </p:nvPicPr>
          <p:blipFill>
            <a:blip r:embed="rId6"/>
            <a:stretch>
              <a:fillRect/>
            </a:stretch>
          </p:blipFill>
          <p:spPr>
            <a:xfrm>
              <a:off x="9042679" y="2461159"/>
              <a:ext cx="1178002" cy="1254002"/>
            </a:xfrm>
            <a:prstGeom prst="rect">
              <a:avLst/>
            </a:prstGeom>
          </p:spPr>
        </p:pic>
      </p:grpSp>
    </p:spTree>
    <p:extLst>
      <p:ext uri="{BB962C8B-B14F-4D97-AF65-F5344CB8AC3E}">
        <p14:creationId xmlns:p14="http://schemas.microsoft.com/office/powerpoint/2010/main" val="2482836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D443129-9AA7-6D3F-9BC1-CBC370D5D79B}"/>
              </a:ext>
            </a:extLst>
          </p:cNvPr>
          <p:cNvPicPr>
            <a:picLocks noChangeAspect="1"/>
          </p:cNvPicPr>
          <p:nvPr/>
        </p:nvPicPr>
        <p:blipFill>
          <a:blip r:embed="rId3"/>
          <a:stretch>
            <a:fillRect/>
          </a:stretch>
        </p:blipFill>
        <p:spPr>
          <a:xfrm rot="1277103">
            <a:off x="4188058" y="2420701"/>
            <a:ext cx="6096000" cy="2392860"/>
          </a:xfrm>
          <a:prstGeom prst="rect">
            <a:avLst/>
          </a:prstGeom>
        </p:spPr>
      </p:pic>
      <p:sp>
        <p:nvSpPr>
          <p:cNvPr id="2" name="Title 1">
            <a:extLst>
              <a:ext uri="{FF2B5EF4-FFF2-40B4-BE49-F238E27FC236}">
                <a16:creationId xmlns:a16="http://schemas.microsoft.com/office/drawing/2014/main" id="{DBA10368-800E-F06D-2F7B-79FF8FA34B80}"/>
              </a:ext>
            </a:extLst>
          </p:cNvPr>
          <p:cNvSpPr>
            <a:spLocks noGrp="1"/>
          </p:cNvSpPr>
          <p:nvPr>
            <p:ph type="title"/>
          </p:nvPr>
        </p:nvSpPr>
        <p:spPr>
          <a:xfrm>
            <a:off x="952499" y="526777"/>
            <a:ext cx="10287001" cy="869089"/>
          </a:xfrm>
        </p:spPr>
        <p:txBody>
          <a:bodyPr anchor="ctr">
            <a:normAutofit/>
          </a:bodyPr>
          <a:lstStyle/>
          <a:p>
            <a:r>
              <a:rPr lang="en-US"/>
              <a:t>Large Growth in NN Resource Usage</a:t>
            </a:r>
          </a:p>
        </p:txBody>
      </p:sp>
      <p:sp>
        <p:nvSpPr>
          <p:cNvPr id="20" name="TextBox 19">
            <a:extLst>
              <a:ext uri="{FF2B5EF4-FFF2-40B4-BE49-F238E27FC236}">
                <a16:creationId xmlns:a16="http://schemas.microsoft.com/office/drawing/2014/main" id="{CDF1A122-D4F2-3604-E091-67ED9AFA9999}"/>
              </a:ext>
            </a:extLst>
          </p:cNvPr>
          <p:cNvSpPr txBox="1"/>
          <p:nvPr/>
        </p:nvSpPr>
        <p:spPr>
          <a:xfrm>
            <a:off x="9535886" y="6596390"/>
            <a:ext cx="2656114" cy="261610"/>
          </a:xfrm>
          <a:prstGeom prst="rect">
            <a:avLst/>
          </a:prstGeom>
          <a:noFill/>
        </p:spPr>
        <p:txBody>
          <a:bodyPr wrap="square">
            <a:spAutoFit/>
          </a:bodyPr>
          <a:lstStyle/>
          <a:p>
            <a:r>
              <a:rPr lang="en-US" sz="1100"/>
              <a:t>Logarithmic scale used for both axes.</a:t>
            </a:r>
          </a:p>
        </p:txBody>
      </p:sp>
      <p:pic>
        <p:nvPicPr>
          <p:cNvPr id="8" name="Picture 7">
            <a:extLst>
              <a:ext uri="{FF2B5EF4-FFF2-40B4-BE49-F238E27FC236}">
                <a16:creationId xmlns:a16="http://schemas.microsoft.com/office/drawing/2014/main" id="{AA16D0A5-F54F-0A40-D6BA-314E8CA904BE}"/>
              </a:ext>
            </a:extLst>
          </p:cNvPr>
          <p:cNvPicPr>
            <a:picLocks noChangeAspect="1"/>
          </p:cNvPicPr>
          <p:nvPr/>
        </p:nvPicPr>
        <p:blipFill>
          <a:blip r:embed="rId4"/>
          <a:stretch>
            <a:fillRect/>
          </a:stretch>
        </p:blipFill>
        <p:spPr>
          <a:xfrm rot="20637534">
            <a:off x="1837230" y="3063844"/>
            <a:ext cx="6268325" cy="2010056"/>
          </a:xfrm>
          <a:prstGeom prst="rect">
            <a:avLst/>
          </a:prstGeom>
        </p:spPr>
      </p:pic>
      <p:pic>
        <p:nvPicPr>
          <p:cNvPr id="2050" name="Picture 2" descr="Summary of GenAI Demand Forecast Chart from Wells Fargo">
            <a:extLst>
              <a:ext uri="{FF2B5EF4-FFF2-40B4-BE49-F238E27FC236}">
                <a16:creationId xmlns:a16="http://schemas.microsoft.com/office/drawing/2014/main" id="{393038AC-8F14-CEBF-37E7-7E8E201D22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56848" y="1325813"/>
            <a:ext cx="7084676" cy="48957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E859CC6F-E48E-22A5-3C65-6035DB44CE8E}"/>
              </a:ext>
            </a:extLst>
          </p:cNvPr>
          <p:cNvSpPr txBox="1"/>
          <p:nvPr/>
        </p:nvSpPr>
        <p:spPr>
          <a:xfrm>
            <a:off x="851337" y="1996966"/>
            <a:ext cx="3447393" cy="3785652"/>
          </a:xfrm>
          <a:prstGeom prst="rect">
            <a:avLst/>
          </a:prstGeom>
          <a:noFill/>
        </p:spPr>
        <p:txBody>
          <a:bodyPr wrap="square" rtlCol="0">
            <a:spAutoFit/>
          </a:bodyPr>
          <a:lstStyle/>
          <a:p>
            <a:r>
              <a:rPr lang="en-US" sz="2400"/>
              <a:t>The overall size of neural networks are growing, but also their usage.</a:t>
            </a:r>
          </a:p>
          <a:p>
            <a:endParaRPr lang="en-US" sz="2400"/>
          </a:p>
          <a:p>
            <a:pPr marL="285750" indent="-285750">
              <a:buFont typeface="Arial" panose="020B0604020202020204" pitchFamily="34" charset="0"/>
              <a:buChar char="•"/>
            </a:pPr>
            <a:r>
              <a:rPr lang="en-US" sz="2400"/>
              <a:t>Larger models with larger datasets</a:t>
            </a:r>
          </a:p>
          <a:p>
            <a:pPr marL="285750" indent="-285750">
              <a:buFont typeface="Arial" panose="020B0604020202020204" pitchFamily="34" charset="0"/>
              <a:buChar char="•"/>
            </a:pPr>
            <a:r>
              <a:rPr lang="en-US" sz="2400"/>
              <a:t>Multimodal models</a:t>
            </a:r>
          </a:p>
          <a:p>
            <a:pPr marL="285750" indent="-285750">
              <a:buFont typeface="Arial" panose="020B0604020202020204" pitchFamily="34" charset="0"/>
              <a:buChar char="•"/>
            </a:pPr>
            <a:r>
              <a:rPr lang="en-US" sz="2400"/>
              <a:t>More Queries</a:t>
            </a:r>
          </a:p>
          <a:p>
            <a:pPr marL="285750" indent="-285750">
              <a:buFont typeface="Arial" panose="020B0604020202020204" pitchFamily="34" charset="0"/>
              <a:buChar char="•"/>
            </a:pPr>
            <a:r>
              <a:rPr lang="en-US" sz="2400"/>
              <a:t>Accessible hardware.</a:t>
            </a:r>
          </a:p>
        </p:txBody>
      </p:sp>
      <p:sp>
        <p:nvSpPr>
          <p:cNvPr id="3" name="Slide Number Placeholder 2">
            <a:extLst>
              <a:ext uri="{FF2B5EF4-FFF2-40B4-BE49-F238E27FC236}">
                <a16:creationId xmlns:a16="http://schemas.microsoft.com/office/drawing/2014/main" id="{CC85DC9D-A2F3-8259-F761-076842C16EBB}"/>
              </a:ext>
            </a:extLst>
          </p:cNvPr>
          <p:cNvSpPr>
            <a:spLocks noGrp="1"/>
          </p:cNvSpPr>
          <p:nvPr>
            <p:ph type="sldNum" sz="quarter" idx="11"/>
          </p:nvPr>
        </p:nvSpPr>
        <p:spPr/>
        <p:txBody>
          <a:bodyPr/>
          <a:lstStyle/>
          <a:p>
            <a:fld id="{C6684DFB-8BCD-4B6F-9AA1-83F3BA61DF41}" type="slidenum">
              <a:rPr lang="en-US" smtClean="0"/>
              <a:pPr/>
              <a:t>5</a:t>
            </a:fld>
            <a:endParaRPr lang="en-US"/>
          </a:p>
        </p:txBody>
      </p:sp>
    </p:spTree>
    <p:extLst>
      <p:ext uri="{BB962C8B-B14F-4D97-AF65-F5344CB8AC3E}">
        <p14:creationId xmlns:p14="http://schemas.microsoft.com/office/powerpoint/2010/main" val="101666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8"/>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DAE46-D993-7CB2-2C1F-F2B99E6257DA}"/>
              </a:ext>
            </a:extLst>
          </p:cNvPr>
          <p:cNvSpPr>
            <a:spLocks noGrp="1"/>
          </p:cNvSpPr>
          <p:nvPr>
            <p:ph type="title"/>
          </p:nvPr>
        </p:nvSpPr>
        <p:spPr/>
        <p:txBody>
          <a:bodyPr/>
          <a:lstStyle/>
          <a:p>
            <a:r>
              <a:rPr lang="en-US" dirty="0"/>
              <a:t>The Edge of AI</a:t>
            </a:r>
          </a:p>
        </p:txBody>
      </p:sp>
      <p:sp>
        <p:nvSpPr>
          <p:cNvPr id="3" name="Content Placeholder 2">
            <a:extLst>
              <a:ext uri="{FF2B5EF4-FFF2-40B4-BE49-F238E27FC236}">
                <a16:creationId xmlns:a16="http://schemas.microsoft.com/office/drawing/2014/main" id="{162E2BB2-4A72-FAF4-198C-26431426BEE3}"/>
              </a:ext>
            </a:extLst>
          </p:cNvPr>
          <p:cNvSpPr>
            <a:spLocks noGrp="1"/>
          </p:cNvSpPr>
          <p:nvPr>
            <p:ph idx="10"/>
          </p:nvPr>
        </p:nvSpPr>
        <p:spPr/>
        <p:txBody>
          <a:bodyPr/>
          <a:lstStyle/>
          <a:p>
            <a:r>
              <a:rPr lang="en-US" dirty="0"/>
              <a:t>Given these large highly accurate Neural networks</a:t>
            </a:r>
          </a:p>
          <a:p>
            <a:pPr lvl="1"/>
            <a:r>
              <a:rPr lang="en-US" dirty="0"/>
              <a:t>There exists edge devices that are resource constrained</a:t>
            </a:r>
          </a:p>
          <a:p>
            <a:pPr lvl="1"/>
            <a:r>
              <a:rPr lang="en-US" dirty="0"/>
              <a:t>What if we need to run these locally?</a:t>
            </a:r>
          </a:p>
          <a:p>
            <a:pPr marL="457200" lvl="1" indent="0">
              <a:buNone/>
            </a:pPr>
            <a:endParaRPr lang="en-US" dirty="0"/>
          </a:p>
          <a:p>
            <a:endParaRPr lang="en-US" dirty="0"/>
          </a:p>
        </p:txBody>
      </p:sp>
      <p:sp>
        <p:nvSpPr>
          <p:cNvPr id="4" name="Slide Number Placeholder 3">
            <a:extLst>
              <a:ext uri="{FF2B5EF4-FFF2-40B4-BE49-F238E27FC236}">
                <a16:creationId xmlns:a16="http://schemas.microsoft.com/office/drawing/2014/main" id="{280EF6E0-8E08-C6F2-AFCD-50045B7B8B86}"/>
              </a:ext>
            </a:extLst>
          </p:cNvPr>
          <p:cNvSpPr>
            <a:spLocks noGrp="1"/>
          </p:cNvSpPr>
          <p:nvPr>
            <p:ph type="sldNum" sz="quarter" idx="11"/>
          </p:nvPr>
        </p:nvSpPr>
        <p:spPr/>
        <p:txBody>
          <a:bodyPr/>
          <a:lstStyle/>
          <a:p>
            <a:fld id="{C6684DFB-8BCD-4B6F-9AA1-83F3BA61DF41}" type="slidenum">
              <a:rPr lang="en-US" smtClean="0"/>
              <a:pPr/>
              <a:t>6</a:t>
            </a:fld>
            <a:endParaRPr lang="en-US"/>
          </a:p>
        </p:txBody>
      </p:sp>
      <p:sp>
        <p:nvSpPr>
          <p:cNvPr id="5" name="TextBox 4">
            <a:extLst>
              <a:ext uri="{FF2B5EF4-FFF2-40B4-BE49-F238E27FC236}">
                <a16:creationId xmlns:a16="http://schemas.microsoft.com/office/drawing/2014/main" id="{7BA3190A-DE21-CECE-4BF7-18FE9B57BE77}"/>
              </a:ext>
            </a:extLst>
          </p:cNvPr>
          <p:cNvSpPr txBox="1"/>
          <p:nvPr/>
        </p:nvSpPr>
        <p:spPr>
          <a:xfrm>
            <a:off x="7852601" y="3348980"/>
            <a:ext cx="4259197" cy="2246769"/>
          </a:xfrm>
          <a:prstGeom prst="rect">
            <a:avLst/>
          </a:prstGeom>
          <a:noFill/>
        </p:spPr>
        <p:txBody>
          <a:bodyPr wrap="square" rtlCol="0">
            <a:spAutoFit/>
          </a:bodyPr>
          <a:lstStyle/>
          <a:p>
            <a:r>
              <a:rPr lang="en-US" sz="2800" b="1" dirty="0"/>
              <a:t>There exists a need for reducing the resources of these large accurate models in real world settings</a:t>
            </a:r>
          </a:p>
        </p:txBody>
      </p:sp>
      <p:pic>
        <p:nvPicPr>
          <p:cNvPr id="7" name="Picture 6">
            <a:extLst>
              <a:ext uri="{FF2B5EF4-FFF2-40B4-BE49-F238E27FC236}">
                <a16:creationId xmlns:a16="http://schemas.microsoft.com/office/drawing/2014/main" id="{CF58E8ED-175A-0D25-7CAB-B71A04154026}"/>
              </a:ext>
            </a:extLst>
          </p:cNvPr>
          <p:cNvPicPr>
            <a:picLocks noChangeAspect="1"/>
          </p:cNvPicPr>
          <p:nvPr/>
        </p:nvPicPr>
        <p:blipFill>
          <a:blip r:embed="rId2"/>
          <a:stretch>
            <a:fillRect/>
          </a:stretch>
        </p:blipFill>
        <p:spPr>
          <a:xfrm>
            <a:off x="1770927" y="3247371"/>
            <a:ext cx="5992330" cy="2449989"/>
          </a:xfrm>
          <a:prstGeom prst="rect">
            <a:avLst/>
          </a:prstGeom>
        </p:spPr>
      </p:pic>
    </p:spTree>
    <p:extLst>
      <p:ext uri="{BB962C8B-B14F-4D97-AF65-F5344CB8AC3E}">
        <p14:creationId xmlns:p14="http://schemas.microsoft.com/office/powerpoint/2010/main" val="3814705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58A1-A5AC-B47F-609C-F9F8EB83E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060EE-5EFE-BBE5-DB53-0579BF1A4D81}"/>
              </a:ext>
            </a:extLst>
          </p:cNvPr>
          <p:cNvSpPr>
            <a:spLocks noGrp="1"/>
          </p:cNvSpPr>
          <p:nvPr>
            <p:ph type="title"/>
          </p:nvPr>
        </p:nvSpPr>
        <p:spPr/>
        <p:txBody>
          <a:bodyPr/>
          <a:lstStyle/>
          <a:p>
            <a:r>
              <a:rPr lang="en-US"/>
              <a:t>Motivation</a:t>
            </a:r>
          </a:p>
        </p:txBody>
      </p:sp>
      <p:sp>
        <p:nvSpPr>
          <p:cNvPr id="3" name="Content Placeholder 2">
            <a:extLst>
              <a:ext uri="{FF2B5EF4-FFF2-40B4-BE49-F238E27FC236}">
                <a16:creationId xmlns:a16="http://schemas.microsoft.com/office/drawing/2014/main" id="{3ED00536-4F02-5B1B-F033-B4683D5A5B4D}"/>
              </a:ext>
            </a:extLst>
          </p:cNvPr>
          <p:cNvSpPr>
            <a:spLocks noGrp="1"/>
          </p:cNvSpPr>
          <p:nvPr>
            <p:ph idx="1"/>
          </p:nvPr>
        </p:nvSpPr>
        <p:spPr/>
        <p:txBody>
          <a:bodyPr>
            <a:normAutofit/>
          </a:bodyPr>
          <a:lstStyle/>
          <a:p>
            <a:r>
              <a:rPr lang="en-US"/>
              <a:t>Large networks are expensive in compute, memory, and energy.</a:t>
            </a:r>
          </a:p>
          <a:p>
            <a:r>
              <a:rPr lang="en-US"/>
              <a:t>We want to reduce the size of these networks.	</a:t>
            </a:r>
          </a:p>
          <a:p>
            <a:pPr lvl="1"/>
            <a:r>
              <a:rPr lang="en-US"/>
              <a:t>Pruning!</a:t>
            </a:r>
          </a:p>
          <a:p>
            <a:pPr lvl="1"/>
            <a:endParaRPr lang="en-US"/>
          </a:p>
        </p:txBody>
      </p:sp>
      <p:sp>
        <p:nvSpPr>
          <p:cNvPr id="4" name="Slide Number Placeholder 3">
            <a:extLst>
              <a:ext uri="{FF2B5EF4-FFF2-40B4-BE49-F238E27FC236}">
                <a16:creationId xmlns:a16="http://schemas.microsoft.com/office/drawing/2014/main" id="{E32B118E-C260-47A7-4114-FC8ADF575B48}"/>
              </a:ext>
            </a:extLst>
          </p:cNvPr>
          <p:cNvSpPr>
            <a:spLocks noGrp="1"/>
          </p:cNvSpPr>
          <p:nvPr>
            <p:ph type="sldNum" sz="quarter" idx="10"/>
          </p:nvPr>
        </p:nvSpPr>
        <p:spPr/>
        <p:txBody>
          <a:bodyPr/>
          <a:lstStyle/>
          <a:p>
            <a:fld id="{C6684DFB-8BCD-4B6F-9AA1-83F3BA61DF41}" type="slidenum">
              <a:rPr lang="en-US" smtClean="0"/>
              <a:pPr/>
              <a:t>7</a:t>
            </a:fld>
            <a:endParaRPr lang="en-US"/>
          </a:p>
        </p:txBody>
      </p:sp>
    </p:spTree>
    <p:extLst>
      <p:ext uri="{BB962C8B-B14F-4D97-AF65-F5344CB8AC3E}">
        <p14:creationId xmlns:p14="http://schemas.microsoft.com/office/powerpoint/2010/main" val="13360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4D24A-9FFA-12FB-1BC2-1DA977FEAB83}"/>
              </a:ext>
            </a:extLst>
          </p:cNvPr>
          <p:cNvSpPr>
            <a:spLocks noGrp="1"/>
          </p:cNvSpPr>
          <p:nvPr>
            <p:ph type="title"/>
          </p:nvPr>
        </p:nvSpPr>
        <p:spPr/>
        <p:txBody>
          <a:bodyPr>
            <a:normAutofit/>
          </a:bodyPr>
          <a:lstStyle/>
          <a:p>
            <a:r>
              <a:rPr lang="en-US"/>
              <a:t>What is Pruning?</a:t>
            </a:r>
          </a:p>
        </p:txBody>
      </p:sp>
      <p:sp>
        <p:nvSpPr>
          <p:cNvPr id="3" name="Content Placeholder 2">
            <a:extLst>
              <a:ext uri="{FF2B5EF4-FFF2-40B4-BE49-F238E27FC236}">
                <a16:creationId xmlns:a16="http://schemas.microsoft.com/office/drawing/2014/main" id="{41078B81-98A8-BE2A-8455-338D55A4E2DD}"/>
              </a:ext>
            </a:extLst>
          </p:cNvPr>
          <p:cNvSpPr>
            <a:spLocks noGrp="1"/>
          </p:cNvSpPr>
          <p:nvPr>
            <p:ph idx="10"/>
          </p:nvPr>
        </p:nvSpPr>
        <p:spPr/>
        <p:txBody>
          <a:bodyPr/>
          <a:lstStyle/>
          <a:p>
            <a:r>
              <a:rPr lang="en-US"/>
              <a:t>Pruning is an answer to the challenge of growing NN size</a:t>
            </a:r>
          </a:p>
          <a:p>
            <a:pPr lvl="1"/>
            <a:r>
              <a:rPr lang="en-US"/>
              <a:t>It relies on identifying parameters that do </a:t>
            </a:r>
            <a:r>
              <a:rPr lang="en-US" b="1"/>
              <a:t>NOT </a:t>
            </a:r>
            <a:r>
              <a:rPr lang="en-US"/>
              <a:t>significantly contribute to network accuracy and removes them.</a:t>
            </a:r>
          </a:p>
          <a:p>
            <a:r>
              <a:rPr lang="en-US"/>
              <a:t>There are two types of pruning: Structured and Unstructured</a:t>
            </a:r>
          </a:p>
        </p:txBody>
      </p:sp>
      <p:pic>
        <p:nvPicPr>
          <p:cNvPr id="9" name="Graphic 8">
            <a:extLst>
              <a:ext uri="{FF2B5EF4-FFF2-40B4-BE49-F238E27FC236}">
                <a16:creationId xmlns:a16="http://schemas.microsoft.com/office/drawing/2014/main" id="{2D8BCF77-A4CD-0A20-DB02-76452DDB9D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7102" y="1808765"/>
            <a:ext cx="9382125" cy="3829050"/>
          </a:xfrm>
          <a:prstGeom prst="rect">
            <a:avLst/>
          </a:prstGeom>
        </p:spPr>
      </p:pic>
      <p:sp>
        <p:nvSpPr>
          <p:cNvPr id="11" name="TextBox 10">
            <a:extLst>
              <a:ext uri="{FF2B5EF4-FFF2-40B4-BE49-F238E27FC236}">
                <a16:creationId xmlns:a16="http://schemas.microsoft.com/office/drawing/2014/main" id="{EE16FF32-40EF-B9CD-5687-3DC4FD360802}"/>
              </a:ext>
            </a:extLst>
          </p:cNvPr>
          <p:cNvSpPr txBox="1"/>
          <p:nvPr/>
        </p:nvSpPr>
        <p:spPr>
          <a:xfrm>
            <a:off x="5265683" y="1439433"/>
            <a:ext cx="1975944" cy="369332"/>
          </a:xfrm>
          <a:prstGeom prst="rect">
            <a:avLst/>
          </a:prstGeom>
          <a:noFill/>
        </p:spPr>
        <p:txBody>
          <a:bodyPr wrap="square" rtlCol="0">
            <a:spAutoFit/>
          </a:bodyPr>
          <a:lstStyle/>
          <a:p>
            <a:r>
              <a:rPr lang="en-US"/>
              <a:t>Original Model</a:t>
            </a:r>
          </a:p>
        </p:txBody>
      </p:sp>
      <p:sp>
        <p:nvSpPr>
          <p:cNvPr id="12" name="TextBox 11">
            <a:extLst>
              <a:ext uri="{FF2B5EF4-FFF2-40B4-BE49-F238E27FC236}">
                <a16:creationId xmlns:a16="http://schemas.microsoft.com/office/drawing/2014/main" id="{02D4C071-0686-AAB3-5F38-E90CA1D673D1}"/>
              </a:ext>
            </a:extLst>
          </p:cNvPr>
          <p:cNvSpPr txBox="1"/>
          <p:nvPr/>
        </p:nvSpPr>
        <p:spPr>
          <a:xfrm>
            <a:off x="1949669" y="3353958"/>
            <a:ext cx="1975944" cy="369332"/>
          </a:xfrm>
          <a:prstGeom prst="rect">
            <a:avLst/>
          </a:prstGeom>
          <a:noFill/>
        </p:spPr>
        <p:txBody>
          <a:bodyPr wrap="square" rtlCol="0">
            <a:spAutoFit/>
          </a:bodyPr>
          <a:lstStyle/>
          <a:p>
            <a:r>
              <a:rPr lang="en-US"/>
              <a:t>Unstructured</a:t>
            </a:r>
          </a:p>
        </p:txBody>
      </p:sp>
      <p:sp>
        <p:nvSpPr>
          <p:cNvPr id="13" name="TextBox 12">
            <a:extLst>
              <a:ext uri="{FF2B5EF4-FFF2-40B4-BE49-F238E27FC236}">
                <a16:creationId xmlns:a16="http://schemas.microsoft.com/office/drawing/2014/main" id="{619E9ED7-3E9E-6131-7FEF-9002EACEA436}"/>
              </a:ext>
            </a:extLst>
          </p:cNvPr>
          <p:cNvSpPr txBox="1"/>
          <p:nvPr/>
        </p:nvSpPr>
        <p:spPr>
          <a:xfrm>
            <a:off x="8808954" y="3353958"/>
            <a:ext cx="1975944" cy="369332"/>
          </a:xfrm>
          <a:prstGeom prst="rect">
            <a:avLst/>
          </a:prstGeom>
          <a:noFill/>
        </p:spPr>
        <p:txBody>
          <a:bodyPr wrap="square" rtlCol="0">
            <a:spAutoFit/>
          </a:bodyPr>
          <a:lstStyle/>
          <a:p>
            <a:r>
              <a:rPr lang="en-US"/>
              <a:t>Structured</a:t>
            </a:r>
          </a:p>
        </p:txBody>
      </p:sp>
      <p:sp>
        <p:nvSpPr>
          <p:cNvPr id="4" name="Slide Number Placeholder 3">
            <a:extLst>
              <a:ext uri="{FF2B5EF4-FFF2-40B4-BE49-F238E27FC236}">
                <a16:creationId xmlns:a16="http://schemas.microsoft.com/office/drawing/2014/main" id="{51FB3578-35C4-12B1-9850-0FBFB6A77923}"/>
              </a:ext>
            </a:extLst>
          </p:cNvPr>
          <p:cNvSpPr>
            <a:spLocks noGrp="1"/>
          </p:cNvSpPr>
          <p:nvPr>
            <p:ph type="sldNum" sz="quarter" idx="11"/>
          </p:nvPr>
        </p:nvSpPr>
        <p:spPr/>
        <p:txBody>
          <a:bodyPr/>
          <a:lstStyle/>
          <a:p>
            <a:fld id="{C6684DFB-8BCD-4B6F-9AA1-83F3BA61DF41}" type="slidenum">
              <a:rPr lang="en-US" smtClean="0"/>
              <a:pPr/>
              <a:t>8</a:t>
            </a:fld>
            <a:endParaRPr lang="en-US"/>
          </a:p>
        </p:txBody>
      </p:sp>
    </p:spTree>
    <p:extLst>
      <p:ext uri="{BB962C8B-B14F-4D97-AF65-F5344CB8AC3E}">
        <p14:creationId xmlns:p14="http://schemas.microsoft.com/office/powerpoint/2010/main" val="2088366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11" grpId="0"/>
      <p:bldP spid="12" grpId="0"/>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C715-D99A-39D2-0685-A209037CA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83C27-CB03-28A6-EAF7-A38E5EBAB524}"/>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9F471ECD-CD93-C24D-72EB-7DB583F92E4D}"/>
              </a:ext>
            </a:extLst>
          </p:cNvPr>
          <p:cNvSpPr>
            <a:spLocks noGrp="1"/>
          </p:cNvSpPr>
          <p:nvPr>
            <p:ph idx="1"/>
          </p:nvPr>
        </p:nvSpPr>
        <p:spPr/>
        <p:txBody>
          <a:bodyPr>
            <a:normAutofit/>
          </a:bodyPr>
          <a:lstStyle/>
          <a:p>
            <a:r>
              <a:rPr lang="en-US"/>
              <a:t>Large networks are expensive in compute, memory, and energy.</a:t>
            </a:r>
          </a:p>
          <a:p>
            <a:r>
              <a:rPr lang="en-US"/>
              <a:t>Pruning creates a highly sparse representation of a model that theoretically can be more resource efficient.</a:t>
            </a:r>
          </a:p>
          <a:p>
            <a:pPr lvl="1"/>
            <a:r>
              <a:rPr lang="en-US"/>
              <a:t>These sparse models are not smaller.</a:t>
            </a:r>
          </a:p>
          <a:p>
            <a:pPr lvl="1"/>
            <a:r>
              <a:rPr lang="en-US"/>
              <a:t>The weights are just set to zero</a:t>
            </a:r>
          </a:p>
        </p:txBody>
      </p:sp>
      <p:sp>
        <p:nvSpPr>
          <p:cNvPr id="4" name="Slide Number Placeholder 3">
            <a:extLst>
              <a:ext uri="{FF2B5EF4-FFF2-40B4-BE49-F238E27FC236}">
                <a16:creationId xmlns:a16="http://schemas.microsoft.com/office/drawing/2014/main" id="{44E5D5EC-0C01-40FE-D875-04FD42C61747}"/>
              </a:ext>
            </a:extLst>
          </p:cNvPr>
          <p:cNvSpPr>
            <a:spLocks noGrp="1"/>
          </p:cNvSpPr>
          <p:nvPr>
            <p:ph type="sldNum" sz="quarter" idx="10"/>
          </p:nvPr>
        </p:nvSpPr>
        <p:spPr/>
        <p:txBody>
          <a:bodyPr/>
          <a:lstStyle/>
          <a:p>
            <a:fld id="{C6684DFB-8BCD-4B6F-9AA1-83F3BA61DF41}" type="slidenum">
              <a:rPr lang="en-US" smtClean="0"/>
              <a:pPr/>
              <a:t>9</a:t>
            </a:fld>
            <a:endParaRPr lang="en-US"/>
          </a:p>
        </p:txBody>
      </p:sp>
    </p:spTree>
    <p:extLst>
      <p:ext uri="{BB962C8B-B14F-4D97-AF65-F5344CB8AC3E}">
        <p14:creationId xmlns:p14="http://schemas.microsoft.com/office/powerpoint/2010/main" val="350441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1C97F-01D1-7D6B-359B-FA410B2C46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15407A-0258-6916-307A-41221356FFEB}"/>
              </a:ext>
            </a:extLst>
          </p:cNvPr>
          <p:cNvSpPr>
            <a:spLocks noGrp="1"/>
          </p:cNvSpPr>
          <p:nvPr>
            <p:ph idx="1"/>
          </p:nvPr>
        </p:nvSpPr>
        <p:spPr/>
        <p:txBody>
          <a:bodyPr>
            <a:normAutofit fontScale="92500" lnSpcReduction="20000"/>
          </a:bodyPr>
          <a:lstStyle/>
          <a:p>
            <a:r>
              <a:rPr lang="en-US" dirty="0"/>
              <a:t>How do we make these pruned models resource efficient?</a:t>
            </a:r>
          </a:p>
          <a:p>
            <a:pPr lvl="1"/>
            <a:r>
              <a:rPr lang="en-US" dirty="0"/>
              <a:t>Sparse Matrix representation</a:t>
            </a:r>
          </a:p>
          <a:p>
            <a:endParaRPr lang="en-US" dirty="0"/>
          </a:p>
          <a:p>
            <a:r>
              <a:rPr lang="en-US" dirty="0"/>
              <a:t>Initial lit review showed a speed up after 60% sparsity, we did not see it</a:t>
            </a:r>
          </a:p>
          <a:p>
            <a:pPr marL="914400" lvl="2" indent="0">
              <a:buNone/>
            </a:pPr>
            <a:endParaRPr lang="en-US" dirty="0"/>
          </a:p>
          <a:p>
            <a:r>
              <a:rPr lang="en-US" b="1" u="sng" dirty="0"/>
              <a:t>Where is the sparsity occurring?</a:t>
            </a:r>
          </a:p>
          <a:p>
            <a:r>
              <a:rPr lang="en-US" b="1" u="sng" dirty="0"/>
              <a:t>What was happening inside these pruned models. </a:t>
            </a:r>
          </a:p>
          <a:p>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69FD2B03-0DD3-07EF-5BA4-1C45D05636F1}"/>
              </a:ext>
            </a:extLst>
          </p:cNvPr>
          <p:cNvSpPr>
            <a:spLocks noGrp="1"/>
          </p:cNvSpPr>
          <p:nvPr>
            <p:ph type="sldNum" sz="quarter" idx="10"/>
          </p:nvPr>
        </p:nvSpPr>
        <p:spPr/>
        <p:txBody>
          <a:bodyPr/>
          <a:lstStyle/>
          <a:p>
            <a:fld id="{C6684DFB-8BCD-4B6F-9AA1-83F3BA61DF41}" type="slidenum">
              <a:rPr lang="en-US" smtClean="0"/>
              <a:pPr/>
              <a:t>10</a:t>
            </a:fld>
            <a:endParaRPr lang="en-US"/>
          </a:p>
        </p:txBody>
      </p:sp>
      <p:sp>
        <p:nvSpPr>
          <p:cNvPr id="5" name="Rectangle 4">
            <a:extLst>
              <a:ext uri="{FF2B5EF4-FFF2-40B4-BE49-F238E27FC236}">
                <a16:creationId xmlns:a16="http://schemas.microsoft.com/office/drawing/2014/main" id="{E41750F9-FD81-E141-E6DE-28279983BF7E}"/>
              </a:ext>
            </a:extLst>
          </p:cNvPr>
          <p:cNvSpPr/>
          <p:nvPr/>
        </p:nvSpPr>
        <p:spPr>
          <a:xfrm>
            <a:off x="849086" y="4049486"/>
            <a:ext cx="7924800" cy="133186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95B05428-2929-7E59-343D-7984EA48AB5C}"/>
              </a:ext>
            </a:extLst>
          </p:cNvPr>
          <p:cNvSpPr txBox="1">
            <a:spLocks/>
          </p:cNvSpPr>
          <p:nvPr/>
        </p:nvSpPr>
        <p:spPr>
          <a:xfrm>
            <a:off x="952500" y="385436"/>
            <a:ext cx="10287000" cy="133186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dirty="0"/>
              <a:t>Motivation</a:t>
            </a:r>
          </a:p>
        </p:txBody>
      </p:sp>
    </p:spTree>
    <p:extLst>
      <p:ext uri="{BB962C8B-B14F-4D97-AF65-F5344CB8AC3E}">
        <p14:creationId xmlns:p14="http://schemas.microsoft.com/office/powerpoint/2010/main" val="328069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3FD20-E737-B59E-2DBF-AA1719222642}"/>
              </a:ext>
            </a:extLst>
          </p:cNvPr>
          <p:cNvSpPr>
            <a:spLocks noGrp="1"/>
          </p:cNvSpPr>
          <p:nvPr>
            <p:ph type="title"/>
          </p:nvPr>
        </p:nvSpPr>
        <p:spPr/>
        <p:txBody>
          <a:bodyPr/>
          <a:lstStyle/>
          <a:p>
            <a:r>
              <a:rPr lang="en-US" dirty="0"/>
              <a:t>Pillar 1: Investigation</a:t>
            </a:r>
          </a:p>
        </p:txBody>
      </p:sp>
      <p:sp>
        <p:nvSpPr>
          <p:cNvPr id="4" name="Slide Number Placeholder 3">
            <a:extLst>
              <a:ext uri="{FF2B5EF4-FFF2-40B4-BE49-F238E27FC236}">
                <a16:creationId xmlns:a16="http://schemas.microsoft.com/office/drawing/2014/main" id="{FD14AA2D-5B42-5710-0A15-ED7BDC6C3BCD}"/>
              </a:ext>
            </a:extLst>
          </p:cNvPr>
          <p:cNvSpPr>
            <a:spLocks noGrp="1"/>
          </p:cNvSpPr>
          <p:nvPr>
            <p:ph type="sldNum" sz="quarter" idx="10"/>
          </p:nvPr>
        </p:nvSpPr>
        <p:spPr/>
        <p:txBody>
          <a:bodyPr/>
          <a:lstStyle/>
          <a:p>
            <a:fld id="{C6684DFB-8BCD-4B6F-9AA1-83F3BA61DF41}" type="slidenum">
              <a:rPr lang="en-US" smtClean="0"/>
              <a:pPr/>
              <a:t>11</a:t>
            </a:fld>
            <a:endParaRPr lang="en-US"/>
          </a:p>
        </p:txBody>
      </p:sp>
      <p:sp>
        <p:nvSpPr>
          <p:cNvPr id="5" name="Content Placeholder 2">
            <a:extLst>
              <a:ext uri="{FF2B5EF4-FFF2-40B4-BE49-F238E27FC236}">
                <a16:creationId xmlns:a16="http://schemas.microsoft.com/office/drawing/2014/main" id="{1CF37D09-F49C-33B8-633B-4A5EABD8E876}"/>
              </a:ext>
            </a:extLst>
          </p:cNvPr>
          <p:cNvSpPr txBox="1">
            <a:spLocks/>
          </p:cNvSpPr>
          <p:nvPr/>
        </p:nvSpPr>
        <p:spPr>
          <a:xfrm>
            <a:off x="952500" y="2656199"/>
            <a:ext cx="10287000" cy="2099733"/>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lgn="ctr">
              <a:buFont typeface="Roboto" panose="02000000000000000000" pitchFamily="2" charset="0"/>
              <a:buNone/>
            </a:pPr>
            <a:r>
              <a:rPr lang="en-US" sz="4000" b="1" u="sng"/>
              <a:t>What internal changes occur when networks are pruned?</a:t>
            </a:r>
          </a:p>
          <a:p>
            <a:pPr algn="ctr"/>
            <a:endParaRPr lang="en-US" sz="4400" dirty="0"/>
          </a:p>
        </p:txBody>
      </p:sp>
    </p:spTree>
    <p:extLst>
      <p:ext uri="{BB962C8B-B14F-4D97-AF65-F5344CB8AC3E}">
        <p14:creationId xmlns:p14="http://schemas.microsoft.com/office/powerpoint/2010/main" val="254961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279872-AD89-25D5-DA7A-19C2BC3ABAC0}"/>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dirty="0"/>
              <a:t>What internal changes occur when networks are pruned?</a:t>
            </a:r>
          </a:p>
          <a:p>
            <a:pPr algn="ctr"/>
            <a:endParaRPr lang="en-US" sz="4400" dirty="0"/>
          </a:p>
        </p:txBody>
      </p:sp>
      <p:sp>
        <p:nvSpPr>
          <p:cNvPr id="2" name="Rectangle 1">
            <a:extLst>
              <a:ext uri="{FF2B5EF4-FFF2-40B4-BE49-F238E27FC236}">
                <a16:creationId xmlns:a16="http://schemas.microsoft.com/office/drawing/2014/main" id="{9AF3AC86-72A2-C54E-9413-1DDFDCBE340F}"/>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9A7A3FA-BD48-A3B7-10B3-9FC048BA2755}"/>
              </a:ext>
            </a:extLst>
          </p:cNvPr>
          <p:cNvSpPr/>
          <p:nvPr/>
        </p:nvSpPr>
        <p:spPr>
          <a:xfrm>
            <a:off x="3665220" y="2656199"/>
            <a:ext cx="392430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32AF194-B515-1D44-1047-AF42F42CEC5A}"/>
              </a:ext>
            </a:extLst>
          </p:cNvPr>
          <p:cNvSpPr>
            <a:spLocks noGrp="1"/>
          </p:cNvSpPr>
          <p:nvPr>
            <p:ph type="sldNum" sz="quarter" idx="10"/>
          </p:nvPr>
        </p:nvSpPr>
        <p:spPr/>
        <p:txBody>
          <a:bodyPr/>
          <a:lstStyle/>
          <a:p>
            <a:fld id="{C6684DFB-8BCD-4B6F-9AA1-83F3BA61DF41}" type="slidenum">
              <a:rPr lang="en-US" smtClean="0"/>
              <a:pPr/>
              <a:t>12</a:t>
            </a:fld>
            <a:endParaRPr lang="en-US"/>
          </a:p>
        </p:txBody>
      </p:sp>
    </p:spTree>
    <p:extLst>
      <p:ext uri="{BB962C8B-B14F-4D97-AF65-F5344CB8AC3E}">
        <p14:creationId xmlns:p14="http://schemas.microsoft.com/office/powerpoint/2010/main" val="122773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9B89-A89B-A0CD-7734-F2E6C8631D47}"/>
              </a:ext>
            </a:extLst>
          </p:cNvPr>
          <p:cNvSpPr>
            <a:spLocks noGrp="1"/>
          </p:cNvSpPr>
          <p:nvPr>
            <p:ph type="title"/>
          </p:nvPr>
        </p:nvSpPr>
        <p:spPr>
          <a:xfrm>
            <a:off x="952499" y="526777"/>
            <a:ext cx="10287001" cy="869089"/>
          </a:xfrm>
        </p:spPr>
        <p:txBody>
          <a:bodyPr anchor="ctr">
            <a:normAutofit/>
          </a:bodyPr>
          <a:lstStyle/>
          <a:p>
            <a:r>
              <a:rPr lang="en-US"/>
              <a:t>Models/Datasets</a:t>
            </a:r>
          </a:p>
        </p:txBody>
      </p:sp>
      <p:pic>
        <p:nvPicPr>
          <p:cNvPr id="9" name="Content Placeholder 8">
            <a:extLst>
              <a:ext uri="{FF2B5EF4-FFF2-40B4-BE49-F238E27FC236}">
                <a16:creationId xmlns:a16="http://schemas.microsoft.com/office/drawing/2014/main" id="{22940147-3A6C-897A-E7EE-5F396A320A51}"/>
              </a:ext>
            </a:extLst>
          </p:cNvPr>
          <p:cNvPicPr>
            <a:picLocks noGrp="1" noChangeAspect="1"/>
          </p:cNvPicPr>
          <p:nvPr>
            <p:ph idx="10"/>
          </p:nvPr>
        </p:nvPicPr>
        <p:blipFill>
          <a:blip r:embed="rId3">
            <a:extLst>
              <a:ext uri="{96DAC541-7B7A-43D3-8B79-37D633B846F1}">
                <asvg:svgBlip xmlns:asvg="http://schemas.microsoft.com/office/drawing/2016/SVG/main" r:embed="rId4"/>
              </a:ext>
            </a:extLst>
          </a:blip>
          <a:stretch>
            <a:fillRect/>
          </a:stretch>
        </p:blipFill>
        <p:spPr>
          <a:xfrm>
            <a:off x="1536668" y="1700692"/>
            <a:ext cx="9118662" cy="4494198"/>
          </a:xfrm>
        </p:spPr>
      </p:pic>
      <p:sp>
        <p:nvSpPr>
          <p:cNvPr id="3" name="Slide Number Placeholder 2">
            <a:extLst>
              <a:ext uri="{FF2B5EF4-FFF2-40B4-BE49-F238E27FC236}">
                <a16:creationId xmlns:a16="http://schemas.microsoft.com/office/drawing/2014/main" id="{F29A33FA-425F-A91B-FC1C-2D934AC2D2BD}"/>
              </a:ext>
            </a:extLst>
          </p:cNvPr>
          <p:cNvSpPr>
            <a:spLocks noGrp="1"/>
          </p:cNvSpPr>
          <p:nvPr>
            <p:ph type="sldNum" sz="quarter" idx="11"/>
          </p:nvPr>
        </p:nvSpPr>
        <p:spPr/>
        <p:txBody>
          <a:bodyPr/>
          <a:lstStyle/>
          <a:p>
            <a:fld id="{C6684DFB-8BCD-4B6F-9AA1-83F3BA61DF41}" type="slidenum">
              <a:rPr lang="en-US" smtClean="0"/>
              <a:pPr/>
              <a:t>13</a:t>
            </a:fld>
            <a:endParaRPr lang="en-US"/>
          </a:p>
        </p:txBody>
      </p:sp>
      <p:sp>
        <p:nvSpPr>
          <p:cNvPr id="5" name="Rectangle 4">
            <a:extLst>
              <a:ext uri="{FF2B5EF4-FFF2-40B4-BE49-F238E27FC236}">
                <a16:creationId xmlns:a16="http://schemas.microsoft.com/office/drawing/2014/main" id="{5BC5558D-E8DA-C291-3AA5-7A41EC0148D1}"/>
              </a:ext>
            </a:extLst>
          </p:cNvPr>
          <p:cNvSpPr/>
          <p:nvPr/>
        </p:nvSpPr>
        <p:spPr>
          <a:xfrm>
            <a:off x="5681610" y="1602769"/>
            <a:ext cx="4037743" cy="1448656"/>
          </a:xfrm>
          <a:prstGeom prst="rect">
            <a:avLst/>
          </a:prstGeom>
          <a:noFill/>
          <a:ln w="19050">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1476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85A8-C599-D269-5B19-4F6E2898E3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955499-B53F-B42A-B7F7-9CF21842C246}"/>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EB681BC6-A2A9-8CF9-5542-298B7E7A1B8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6CA4629-40AA-7A60-DEAD-EF1FFF50FFA3}"/>
              </a:ext>
            </a:extLst>
          </p:cNvPr>
          <p:cNvSpPr/>
          <p:nvPr/>
        </p:nvSpPr>
        <p:spPr>
          <a:xfrm>
            <a:off x="6880860" y="3238389"/>
            <a:ext cx="193548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6B0BEA21-B28B-0DD1-7551-0A9B217DE29A}"/>
              </a:ext>
            </a:extLst>
          </p:cNvPr>
          <p:cNvSpPr>
            <a:spLocks noGrp="1"/>
          </p:cNvSpPr>
          <p:nvPr>
            <p:ph type="sldNum" sz="quarter" idx="10"/>
          </p:nvPr>
        </p:nvSpPr>
        <p:spPr/>
        <p:txBody>
          <a:bodyPr/>
          <a:lstStyle/>
          <a:p>
            <a:fld id="{C6684DFB-8BCD-4B6F-9AA1-83F3BA61DF41}" type="slidenum">
              <a:rPr lang="en-US" smtClean="0"/>
              <a:pPr/>
              <a:t>14</a:t>
            </a:fld>
            <a:endParaRPr lang="en-US"/>
          </a:p>
        </p:txBody>
      </p:sp>
    </p:spTree>
    <p:extLst>
      <p:ext uri="{BB962C8B-B14F-4D97-AF65-F5344CB8AC3E}">
        <p14:creationId xmlns:p14="http://schemas.microsoft.com/office/powerpoint/2010/main" val="4260152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39FD-1F91-F4B7-EFB4-78E60A572BB2}"/>
              </a:ext>
            </a:extLst>
          </p:cNvPr>
          <p:cNvSpPr>
            <a:spLocks noGrp="1"/>
          </p:cNvSpPr>
          <p:nvPr>
            <p:ph type="title"/>
          </p:nvPr>
        </p:nvSpPr>
        <p:spPr>
          <a:xfrm>
            <a:off x="952499" y="526777"/>
            <a:ext cx="10287001" cy="869089"/>
          </a:xfrm>
        </p:spPr>
        <p:txBody>
          <a:bodyPr anchor="ctr">
            <a:normAutofit/>
          </a:bodyPr>
          <a:lstStyle/>
          <a:p>
            <a:r>
              <a:rPr lang="en-US"/>
              <a:t>Unstructured pruning with IMP</a:t>
            </a:r>
          </a:p>
        </p:txBody>
      </p:sp>
      <p:sp>
        <p:nvSpPr>
          <p:cNvPr id="3" name="Content Placeholder 2">
            <a:extLst>
              <a:ext uri="{FF2B5EF4-FFF2-40B4-BE49-F238E27FC236}">
                <a16:creationId xmlns:a16="http://schemas.microsoft.com/office/drawing/2014/main" id="{60D70CE5-47C5-3D54-E713-D78E1C26F940}"/>
              </a:ext>
            </a:extLst>
          </p:cNvPr>
          <p:cNvSpPr>
            <a:spLocks noGrp="1"/>
          </p:cNvSpPr>
          <p:nvPr>
            <p:ph idx="10"/>
          </p:nvPr>
        </p:nvSpPr>
        <p:spPr>
          <a:xfrm>
            <a:off x="240350" y="1686755"/>
            <a:ext cx="5414452" cy="4256843"/>
          </a:xfrm>
        </p:spPr>
        <p:txBody>
          <a:bodyPr>
            <a:normAutofit/>
          </a:bodyPr>
          <a:lstStyle/>
          <a:p>
            <a:pPr>
              <a:lnSpc>
                <a:spcPct val="90000"/>
              </a:lnSpc>
            </a:pPr>
            <a:r>
              <a:rPr lang="en-US" b="1" dirty="0"/>
              <a:t>I</a:t>
            </a:r>
            <a:r>
              <a:rPr lang="en-US" dirty="0"/>
              <a:t>terative </a:t>
            </a:r>
            <a:r>
              <a:rPr lang="en-US" b="1" dirty="0"/>
              <a:t>M</a:t>
            </a:r>
            <a:r>
              <a:rPr lang="en-US" dirty="0"/>
              <a:t>agnitude </a:t>
            </a:r>
            <a:r>
              <a:rPr lang="en-US" b="1" dirty="0"/>
              <a:t>P</a:t>
            </a:r>
            <a:r>
              <a:rPr lang="en-US" dirty="0"/>
              <a:t>runing (IMP)</a:t>
            </a:r>
          </a:p>
          <a:p>
            <a:pPr marL="971550" lvl="1" indent="-514350">
              <a:lnSpc>
                <a:spcPct val="90000"/>
              </a:lnSpc>
              <a:buAutoNum type="arabicPeriod"/>
            </a:pPr>
            <a:r>
              <a:rPr lang="en-US" sz="2800" dirty="0"/>
              <a:t>Train the network</a:t>
            </a:r>
          </a:p>
          <a:p>
            <a:pPr marL="971550" lvl="1" indent="-514350">
              <a:lnSpc>
                <a:spcPct val="90000"/>
              </a:lnSpc>
              <a:buAutoNum type="arabicPeriod"/>
            </a:pPr>
            <a:r>
              <a:rPr lang="en-US" sz="2800" dirty="0"/>
              <a:t>Saves the weights</a:t>
            </a:r>
          </a:p>
          <a:p>
            <a:pPr marL="971550" lvl="1" indent="-514350">
              <a:lnSpc>
                <a:spcPct val="90000"/>
              </a:lnSpc>
              <a:buAutoNum type="arabicPeriod"/>
            </a:pPr>
            <a:r>
              <a:rPr lang="en-US" sz="2800" dirty="0"/>
              <a:t>Continues training</a:t>
            </a:r>
          </a:p>
          <a:p>
            <a:pPr marL="971550" lvl="1" indent="-514350">
              <a:lnSpc>
                <a:spcPct val="90000"/>
              </a:lnSpc>
              <a:buAutoNum type="arabicPeriod"/>
            </a:pPr>
            <a:r>
              <a:rPr lang="en-US" sz="2800" dirty="0"/>
              <a:t>Removes unneeded weights</a:t>
            </a:r>
          </a:p>
          <a:p>
            <a:pPr marL="971550" lvl="1" indent="-514350">
              <a:lnSpc>
                <a:spcPct val="90000"/>
              </a:lnSpc>
              <a:buAutoNum type="arabicPeriod"/>
            </a:pPr>
            <a:r>
              <a:rPr lang="en-US" sz="2800" dirty="0"/>
              <a:t>Reset remaining weights to (2)</a:t>
            </a:r>
            <a:endParaRPr lang="en-US" dirty="0"/>
          </a:p>
        </p:txBody>
      </p:sp>
      <p:grpSp>
        <p:nvGrpSpPr>
          <p:cNvPr id="4" name="Group 3">
            <a:extLst>
              <a:ext uri="{FF2B5EF4-FFF2-40B4-BE49-F238E27FC236}">
                <a16:creationId xmlns:a16="http://schemas.microsoft.com/office/drawing/2014/main" id="{8208A997-140F-0074-5EDA-5E21C3A3BA14}"/>
              </a:ext>
            </a:extLst>
          </p:cNvPr>
          <p:cNvGrpSpPr/>
          <p:nvPr/>
        </p:nvGrpSpPr>
        <p:grpSpPr>
          <a:xfrm>
            <a:off x="5809573" y="1395866"/>
            <a:ext cx="6382427" cy="4675750"/>
            <a:chOff x="2611225" y="1696825"/>
            <a:chExt cx="6127422" cy="4364610"/>
          </a:xfrm>
        </p:grpSpPr>
        <p:pic>
          <p:nvPicPr>
            <p:cNvPr id="5" name="Graphic 4">
              <a:extLst>
                <a:ext uri="{FF2B5EF4-FFF2-40B4-BE49-F238E27FC236}">
                  <a16:creationId xmlns:a16="http://schemas.microsoft.com/office/drawing/2014/main" id="{3F16B819-71CD-3516-4AD4-5158B4C649B3}"/>
                </a:ext>
              </a:extLst>
            </p:cNvPr>
            <p:cNvPicPr>
              <a:picLocks noChangeAspect="1"/>
            </p:cNvPicPr>
            <p:nvPr/>
          </p:nvPicPr>
          <p:blipFill>
            <a:blip r:embed="rId3">
              <a:extLst>
                <a:ext uri="{96DAC541-7B7A-43D3-8B79-37D633B846F1}">
                  <asvg:svgBlip xmlns:asvg="http://schemas.microsoft.com/office/drawing/2016/SVG/main" r:embed="rId4"/>
                </a:ext>
              </a:extLst>
            </a:blip>
            <a:srcRect l="722" t="3436" r="54749" b="42385"/>
            <a:stretch>
              <a:fillRect/>
            </a:stretch>
          </p:blipFill>
          <p:spPr>
            <a:xfrm>
              <a:off x="2611225" y="1696825"/>
              <a:ext cx="6127422" cy="4364610"/>
            </a:xfrm>
            <a:prstGeom prst="rect">
              <a:avLst/>
            </a:prstGeom>
          </p:spPr>
        </p:pic>
        <p:sp>
          <p:nvSpPr>
            <p:cNvPr id="6" name="Rectangle 5">
              <a:extLst>
                <a:ext uri="{FF2B5EF4-FFF2-40B4-BE49-F238E27FC236}">
                  <a16:creationId xmlns:a16="http://schemas.microsoft.com/office/drawing/2014/main" id="{91D788D2-80CC-D4D0-9DB9-7A3966BD3812}"/>
                </a:ext>
              </a:extLst>
            </p:cNvPr>
            <p:cNvSpPr/>
            <p:nvPr/>
          </p:nvSpPr>
          <p:spPr>
            <a:xfrm>
              <a:off x="2611225" y="1696825"/>
              <a:ext cx="305711" cy="2234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Slide Number Placeholder 6">
            <a:extLst>
              <a:ext uri="{FF2B5EF4-FFF2-40B4-BE49-F238E27FC236}">
                <a16:creationId xmlns:a16="http://schemas.microsoft.com/office/drawing/2014/main" id="{13E227F9-853E-CE4E-5A65-9E4DA5CD6DF3}"/>
              </a:ext>
            </a:extLst>
          </p:cNvPr>
          <p:cNvSpPr>
            <a:spLocks noGrp="1"/>
          </p:cNvSpPr>
          <p:nvPr>
            <p:ph type="sldNum" sz="quarter" idx="11"/>
          </p:nvPr>
        </p:nvSpPr>
        <p:spPr/>
        <p:txBody>
          <a:bodyPr/>
          <a:lstStyle/>
          <a:p>
            <a:fld id="{C6684DFB-8BCD-4B6F-9AA1-83F3BA61DF41}" type="slidenum">
              <a:rPr lang="en-US" smtClean="0"/>
              <a:pPr/>
              <a:t>15</a:t>
            </a:fld>
            <a:endParaRPr lang="en-US" dirty="0"/>
          </a:p>
        </p:txBody>
      </p:sp>
    </p:spTree>
    <p:extLst>
      <p:ext uri="{BB962C8B-B14F-4D97-AF65-F5344CB8AC3E}">
        <p14:creationId xmlns:p14="http://schemas.microsoft.com/office/powerpoint/2010/main" val="4041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BAEBD-64B1-E78C-B9AD-34DA9E4519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BA5C28-D713-405B-5E35-5DBC85D080CD}"/>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AA3BD537-348B-98D5-0BCD-B3449C745CE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3DF15EE-1A7F-8A09-1749-5254226EC7F4}"/>
              </a:ext>
            </a:extLst>
          </p:cNvPr>
          <p:cNvSpPr>
            <a:spLocks noGrp="1"/>
          </p:cNvSpPr>
          <p:nvPr>
            <p:ph type="sldNum" sz="quarter" idx="10"/>
          </p:nvPr>
        </p:nvSpPr>
        <p:spPr/>
        <p:txBody>
          <a:bodyPr/>
          <a:lstStyle/>
          <a:p>
            <a:fld id="{C6684DFB-8BCD-4B6F-9AA1-83F3BA61DF41}" type="slidenum">
              <a:rPr lang="en-US" smtClean="0"/>
              <a:pPr/>
              <a:t>16</a:t>
            </a:fld>
            <a:endParaRPr lang="en-US"/>
          </a:p>
        </p:txBody>
      </p:sp>
    </p:spTree>
    <p:extLst>
      <p:ext uri="{BB962C8B-B14F-4D97-AF65-F5344CB8AC3E}">
        <p14:creationId xmlns:p14="http://schemas.microsoft.com/office/powerpoint/2010/main" val="1152320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61CF8-95CE-6835-2E66-9233D1C8D66F}"/>
              </a:ext>
            </a:extLst>
          </p:cNvPr>
          <p:cNvSpPr>
            <a:spLocks noGrp="1"/>
          </p:cNvSpPr>
          <p:nvPr>
            <p:ph type="title"/>
          </p:nvPr>
        </p:nvSpPr>
        <p:spPr>
          <a:xfrm>
            <a:off x="952497" y="479855"/>
            <a:ext cx="10287001" cy="869089"/>
          </a:xfrm>
        </p:spPr>
        <p:txBody>
          <a:bodyPr>
            <a:normAutofit fontScale="90000"/>
          </a:bodyPr>
          <a:lstStyle/>
          <a:p>
            <a:r>
              <a:rPr lang="en-US" dirty="0"/>
              <a:t>How does IMP change weights across Stages?</a:t>
            </a:r>
          </a:p>
        </p:txBody>
      </p:sp>
      <p:sp>
        <p:nvSpPr>
          <p:cNvPr id="3" name="Content Placeholder 2">
            <a:extLst>
              <a:ext uri="{FF2B5EF4-FFF2-40B4-BE49-F238E27FC236}">
                <a16:creationId xmlns:a16="http://schemas.microsoft.com/office/drawing/2014/main" id="{0AC775BB-194B-1D53-2799-6B071DFD256A}"/>
              </a:ext>
            </a:extLst>
          </p:cNvPr>
          <p:cNvSpPr>
            <a:spLocks noGrp="1"/>
          </p:cNvSpPr>
          <p:nvPr>
            <p:ph idx="10"/>
          </p:nvPr>
        </p:nvSpPr>
        <p:spPr/>
        <p:txBody>
          <a:bodyPr/>
          <a:lstStyle/>
          <a:p>
            <a:r>
              <a:rPr lang="en-US" dirty="0"/>
              <a:t>Within all stages, which are pruned more?</a:t>
            </a:r>
          </a:p>
        </p:txBody>
      </p:sp>
      <p:pic>
        <p:nvPicPr>
          <p:cNvPr id="4" name="Content Placeholder 4">
            <a:extLst>
              <a:ext uri="{FF2B5EF4-FFF2-40B4-BE49-F238E27FC236}">
                <a16:creationId xmlns:a16="http://schemas.microsoft.com/office/drawing/2014/main" id="{7DF71904-CF90-08A5-8676-1D7B72E7BB71}"/>
              </a:ext>
            </a:extLst>
          </p:cNvPr>
          <p:cNvPicPr>
            <a:picLocks noChangeAspect="1"/>
          </p:cNvPicPr>
          <p:nvPr/>
        </p:nvPicPr>
        <p:blipFill>
          <a:blip r:embed="rId2">
            <a:extLst>
              <a:ext uri="{96DAC541-7B7A-43D3-8B79-37D633B846F1}">
                <asvg:svgBlip xmlns:asvg="http://schemas.microsoft.com/office/drawing/2016/SVG/main" r:embed="rId3"/>
              </a:ext>
            </a:extLst>
          </a:blip>
          <a:srcRect r="53289" b="45826"/>
          <a:stretch>
            <a:fillRect/>
          </a:stretch>
        </p:blipFill>
        <p:spPr>
          <a:xfrm>
            <a:off x="3631207" y="2537996"/>
            <a:ext cx="4929583" cy="3585284"/>
          </a:xfrm>
          <a:prstGeom prst="rect">
            <a:avLst/>
          </a:prstGeom>
        </p:spPr>
      </p:pic>
      <p:sp>
        <p:nvSpPr>
          <p:cNvPr id="5" name="Slide Number Placeholder 4">
            <a:extLst>
              <a:ext uri="{FF2B5EF4-FFF2-40B4-BE49-F238E27FC236}">
                <a16:creationId xmlns:a16="http://schemas.microsoft.com/office/drawing/2014/main" id="{30DCED62-1870-42C8-BA65-D3E3883CBB12}"/>
              </a:ext>
            </a:extLst>
          </p:cNvPr>
          <p:cNvSpPr>
            <a:spLocks noGrp="1"/>
          </p:cNvSpPr>
          <p:nvPr>
            <p:ph type="sldNum" sz="quarter" idx="11"/>
          </p:nvPr>
        </p:nvSpPr>
        <p:spPr/>
        <p:txBody>
          <a:bodyPr/>
          <a:lstStyle/>
          <a:p>
            <a:fld id="{C6684DFB-8BCD-4B6F-9AA1-83F3BA61DF41}" type="slidenum">
              <a:rPr lang="en-US" smtClean="0"/>
              <a:pPr/>
              <a:t>17</a:t>
            </a:fld>
            <a:endParaRPr lang="en-US"/>
          </a:p>
        </p:txBody>
      </p:sp>
    </p:spTree>
    <p:extLst>
      <p:ext uri="{BB962C8B-B14F-4D97-AF65-F5344CB8AC3E}">
        <p14:creationId xmlns:p14="http://schemas.microsoft.com/office/powerpoint/2010/main" val="27489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CE324-3D19-4C63-125B-B4A9FB69B045}"/>
              </a:ext>
            </a:extLst>
          </p:cNvPr>
          <p:cNvSpPr>
            <a:spLocks noGrp="1"/>
          </p:cNvSpPr>
          <p:nvPr>
            <p:ph type="title"/>
          </p:nvPr>
        </p:nvSpPr>
        <p:spPr/>
        <p:txBody>
          <a:bodyPr>
            <a:normAutofit fontScale="90000"/>
          </a:bodyPr>
          <a:lstStyle/>
          <a:p>
            <a:r>
              <a:rPr lang="en-US"/>
              <a:t>Finding 1: Preferential Pruning of Deep Layers</a:t>
            </a:r>
          </a:p>
        </p:txBody>
      </p:sp>
      <p:sp>
        <p:nvSpPr>
          <p:cNvPr id="3" name="Content Placeholder 2">
            <a:extLst>
              <a:ext uri="{FF2B5EF4-FFF2-40B4-BE49-F238E27FC236}">
                <a16:creationId xmlns:a16="http://schemas.microsoft.com/office/drawing/2014/main" id="{79C22065-97ED-BACC-37CE-FDA617A2B2F4}"/>
              </a:ext>
            </a:extLst>
          </p:cNvPr>
          <p:cNvSpPr>
            <a:spLocks noGrp="1"/>
          </p:cNvSpPr>
          <p:nvPr>
            <p:ph idx="10"/>
          </p:nvPr>
        </p:nvSpPr>
        <p:spPr/>
        <p:txBody>
          <a:bodyPr/>
          <a:lstStyle/>
          <a:p>
            <a:r>
              <a:rPr lang="en-US"/>
              <a:t>Later stages are pruned more than early stages. </a:t>
            </a:r>
          </a:p>
          <a:p>
            <a:endParaRPr lang="en-US"/>
          </a:p>
          <a:p>
            <a:pPr marL="0" indent="0">
              <a:buNone/>
            </a:pPr>
            <a:endParaRPr lang="en-US"/>
          </a:p>
          <a:p>
            <a:r>
              <a:rPr lang="en-US"/>
              <a:t>This pattern emerges early in the unstructured pruning process. </a:t>
            </a:r>
          </a:p>
        </p:txBody>
      </p:sp>
      <p:pic>
        <p:nvPicPr>
          <p:cNvPr id="5" name="Graphic 4">
            <a:extLst>
              <a:ext uri="{FF2B5EF4-FFF2-40B4-BE49-F238E27FC236}">
                <a16:creationId xmlns:a16="http://schemas.microsoft.com/office/drawing/2014/main" id="{C11785A6-620B-17EA-213F-9CA065F0B009}"/>
              </a:ext>
            </a:extLst>
          </p:cNvPr>
          <p:cNvPicPr>
            <a:picLocks noChangeAspect="1"/>
          </p:cNvPicPr>
          <p:nvPr/>
        </p:nvPicPr>
        <p:blipFill>
          <a:blip r:embed="rId3">
            <a:extLst>
              <a:ext uri="{96DAC541-7B7A-43D3-8B79-37D633B846F1}">
                <asvg:svgBlip xmlns:asvg="http://schemas.microsoft.com/office/drawing/2016/SVG/main" r:embed="rId4"/>
              </a:ext>
            </a:extLst>
          </a:blip>
          <a:srcRect r="50443" b="52294"/>
          <a:stretch>
            <a:fillRect/>
          </a:stretch>
        </p:blipFill>
        <p:spPr>
          <a:xfrm>
            <a:off x="1665364" y="1395866"/>
            <a:ext cx="8203849" cy="4310977"/>
          </a:xfrm>
          <a:prstGeom prst="rect">
            <a:avLst/>
          </a:prstGeom>
        </p:spPr>
      </p:pic>
      <p:sp>
        <p:nvSpPr>
          <p:cNvPr id="4" name="Arrow: Right 3">
            <a:extLst>
              <a:ext uri="{FF2B5EF4-FFF2-40B4-BE49-F238E27FC236}">
                <a16:creationId xmlns:a16="http://schemas.microsoft.com/office/drawing/2014/main" id="{3F78B5B0-CE95-4E80-C23B-769F0360A7C0}"/>
              </a:ext>
            </a:extLst>
          </p:cNvPr>
          <p:cNvSpPr/>
          <p:nvPr/>
        </p:nvSpPr>
        <p:spPr>
          <a:xfrm>
            <a:off x="4394719" y="5788561"/>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2BC4DDA6-0222-ECB1-1085-C588A9E66080}"/>
              </a:ext>
            </a:extLst>
          </p:cNvPr>
          <p:cNvSpPr txBox="1"/>
          <p:nvPr/>
        </p:nvSpPr>
        <p:spPr>
          <a:xfrm>
            <a:off x="7371691" y="5702464"/>
            <a:ext cx="3300249" cy="338554"/>
          </a:xfrm>
          <a:prstGeom prst="rect">
            <a:avLst/>
          </a:prstGeom>
          <a:noFill/>
        </p:spPr>
        <p:txBody>
          <a:bodyPr wrap="square" rtlCol="0">
            <a:spAutoFit/>
          </a:bodyPr>
          <a:lstStyle/>
          <a:p>
            <a:r>
              <a:rPr lang="en-US" sz="1600"/>
              <a:t>More Network Sparse</a:t>
            </a:r>
          </a:p>
        </p:txBody>
      </p:sp>
      <p:sp>
        <p:nvSpPr>
          <p:cNvPr id="7" name="TextBox 6">
            <a:extLst>
              <a:ext uri="{FF2B5EF4-FFF2-40B4-BE49-F238E27FC236}">
                <a16:creationId xmlns:a16="http://schemas.microsoft.com/office/drawing/2014/main" id="{4D9ECC09-FDDF-D2D0-0CC5-E68941216FD3}"/>
              </a:ext>
            </a:extLst>
          </p:cNvPr>
          <p:cNvSpPr txBox="1"/>
          <p:nvPr/>
        </p:nvSpPr>
        <p:spPr>
          <a:xfrm>
            <a:off x="2205857" y="5702464"/>
            <a:ext cx="3300249" cy="338554"/>
          </a:xfrm>
          <a:prstGeom prst="rect">
            <a:avLst/>
          </a:prstGeom>
          <a:noFill/>
        </p:spPr>
        <p:txBody>
          <a:bodyPr wrap="square" rtlCol="0">
            <a:spAutoFit/>
          </a:bodyPr>
          <a:lstStyle/>
          <a:p>
            <a:r>
              <a:rPr lang="en-US" sz="1600"/>
              <a:t>Less Network Sparse</a:t>
            </a:r>
          </a:p>
        </p:txBody>
      </p:sp>
      <p:sp>
        <p:nvSpPr>
          <p:cNvPr id="8" name="Slide Number Placeholder 7">
            <a:extLst>
              <a:ext uri="{FF2B5EF4-FFF2-40B4-BE49-F238E27FC236}">
                <a16:creationId xmlns:a16="http://schemas.microsoft.com/office/drawing/2014/main" id="{92C6F0CB-B35C-E638-42C2-349167108A19}"/>
              </a:ext>
            </a:extLst>
          </p:cNvPr>
          <p:cNvSpPr>
            <a:spLocks noGrp="1"/>
          </p:cNvSpPr>
          <p:nvPr>
            <p:ph type="sldNum" sz="quarter" idx="11"/>
          </p:nvPr>
        </p:nvSpPr>
        <p:spPr/>
        <p:txBody>
          <a:bodyPr/>
          <a:lstStyle/>
          <a:p>
            <a:fld id="{C6684DFB-8BCD-4B6F-9AA1-83F3BA61DF41}" type="slidenum">
              <a:rPr lang="en-US" smtClean="0"/>
              <a:pPr/>
              <a:t>18</a:t>
            </a:fld>
            <a:endParaRPr lang="en-US"/>
          </a:p>
        </p:txBody>
      </p:sp>
    </p:spTree>
    <p:extLst>
      <p:ext uri="{BB962C8B-B14F-4D97-AF65-F5344CB8AC3E}">
        <p14:creationId xmlns:p14="http://schemas.microsoft.com/office/powerpoint/2010/main" val="72211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2FCE7-AEFB-2D9B-AC13-32B82515DFA7}"/>
              </a:ext>
            </a:extLst>
          </p:cNvPr>
          <p:cNvSpPr>
            <a:spLocks noGrp="1"/>
          </p:cNvSpPr>
          <p:nvPr>
            <p:ph type="title"/>
          </p:nvPr>
        </p:nvSpPr>
        <p:spPr/>
        <p:txBody>
          <a:bodyPr>
            <a:normAutofit/>
          </a:bodyPr>
          <a:lstStyle/>
          <a:p>
            <a:r>
              <a:rPr lang="en-US"/>
              <a:t>Do neurons get effectively removed?</a:t>
            </a:r>
          </a:p>
        </p:txBody>
      </p:sp>
      <p:sp>
        <p:nvSpPr>
          <p:cNvPr id="3" name="Content Placeholder 2">
            <a:extLst>
              <a:ext uri="{FF2B5EF4-FFF2-40B4-BE49-F238E27FC236}">
                <a16:creationId xmlns:a16="http://schemas.microsoft.com/office/drawing/2014/main" id="{B22C576E-D136-E3A9-9DDB-93B252FDE4E2}"/>
              </a:ext>
            </a:extLst>
          </p:cNvPr>
          <p:cNvSpPr>
            <a:spLocks noGrp="1"/>
          </p:cNvSpPr>
          <p:nvPr>
            <p:ph idx="10"/>
          </p:nvPr>
        </p:nvSpPr>
        <p:spPr/>
        <p:txBody>
          <a:bodyPr/>
          <a:lstStyle/>
          <a:p>
            <a:r>
              <a:rPr lang="en-US"/>
              <a:t>Neuron Sparsity: Percentage of pruned weights for each neuron. </a:t>
            </a:r>
          </a:p>
        </p:txBody>
      </p:sp>
      <p:pic>
        <p:nvPicPr>
          <p:cNvPr id="5" name="Content Placeholder 4">
            <a:extLst>
              <a:ext uri="{FF2B5EF4-FFF2-40B4-BE49-F238E27FC236}">
                <a16:creationId xmlns:a16="http://schemas.microsoft.com/office/drawing/2014/main" id="{2E4FB7CB-46B0-933B-59E6-D1759CE88D38}"/>
              </a:ext>
            </a:extLst>
          </p:cNvPr>
          <p:cNvPicPr>
            <a:picLocks noChangeAspect="1"/>
          </p:cNvPicPr>
          <p:nvPr/>
        </p:nvPicPr>
        <p:blipFill>
          <a:blip r:embed="rId2">
            <a:extLst>
              <a:ext uri="{96DAC541-7B7A-43D3-8B79-37D633B846F1}">
                <asvg:svgBlip xmlns:asvg="http://schemas.microsoft.com/office/drawing/2016/SVG/main" r:embed="rId3"/>
              </a:ext>
            </a:extLst>
          </a:blip>
          <a:srcRect l="46275" b="46067"/>
          <a:stretch>
            <a:fillRect/>
          </a:stretch>
        </p:blipFill>
        <p:spPr>
          <a:xfrm>
            <a:off x="2986446" y="2358097"/>
            <a:ext cx="6183630" cy="3892807"/>
          </a:xfrm>
          <a:prstGeom prst="rect">
            <a:avLst/>
          </a:prstGeom>
        </p:spPr>
      </p:pic>
      <p:sp>
        <p:nvSpPr>
          <p:cNvPr id="4" name="Slide Number Placeholder 3">
            <a:extLst>
              <a:ext uri="{FF2B5EF4-FFF2-40B4-BE49-F238E27FC236}">
                <a16:creationId xmlns:a16="http://schemas.microsoft.com/office/drawing/2014/main" id="{F5837D62-85B8-9030-165F-66F33BD9AC56}"/>
              </a:ext>
            </a:extLst>
          </p:cNvPr>
          <p:cNvSpPr>
            <a:spLocks noGrp="1"/>
          </p:cNvSpPr>
          <p:nvPr>
            <p:ph type="sldNum" sz="quarter" idx="11"/>
          </p:nvPr>
        </p:nvSpPr>
        <p:spPr/>
        <p:txBody>
          <a:bodyPr/>
          <a:lstStyle/>
          <a:p>
            <a:fld id="{C6684DFB-8BCD-4B6F-9AA1-83F3BA61DF41}" type="slidenum">
              <a:rPr lang="en-US" smtClean="0"/>
              <a:pPr/>
              <a:t>19</a:t>
            </a:fld>
            <a:endParaRPr lang="en-US"/>
          </a:p>
        </p:txBody>
      </p:sp>
    </p:spTree>
    <p:extLst>
      <p:ext uri="{BB962C8B-B14F-4D97-AF65-F5344CB8AC3E}">
        <p14:creationId xmlns:p14="http://schemas.microsoft.com/office/powerpoint/2010/main" val="28775641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6FB29-5127-1313-B339-BCCCE08897ED}"/>
              </a:ext>
            </a:extLst>
          </p:cNvPr>
          <p:cNvSpPr>
            <a:spLocks noGrp="1"/>
          </p:cNvSpPr>
          <p:nvPr>
            <p:ph type="title"/>
          </p:nvPr>
        </p:nvSpPr>
        <p:spPr>
          <a:xfrm>
            <a:off x="952498" y="376909"/>
            <a:ext cx="10287001" cy="869089"/>
          </a:xfrm>
        </p:spPr>
        <p:txBody>
          <a:bodyPr>
            <a:normAutofit/>
          </a:bodyPr>
          <a:lstStyle/>
          <a:p>
            <a:r>
              <a:rPr lang="en-US"/>
              <a:t>Finding 2: Persistence of Sparse Neurons</a:t>
            </a:r>
          </a:p>
        </p:txBody>
      </p:sp>
      <p:sp>
        <p:nvSpPr>
          <p:cNvPr id="3" name="Content Placeholder 2">
            <a:extLst>
              <a:ext uri="{FF2B5EF4-FFF2-40B4-BE49-F238E27FC236}">
                <a16:creationId xmlns:a16="http://schemas.microsoft.com/office/drawing/2014/main" id="{9D54D421-77DD-3A14-0AE5-693EDB556526}"/>
              </a:ext>
            </a:extLst>
          </p:cNvPr>
          <p:cNvSpPr>
            <a:spLocks noGrp="1"/>
          </p:cNvSpPr>
          <p:nvPr>
            <p:ph idx="10"/>
          </p:nvPr>
        </p:nvSpPr>
        <p:spPr/>
        <p:txBody>
          <a:bodyPr/>
          <a:lstStyle/>
          <a:p>
            <a:r>
              <a:rPr lang="en-US"/>
              <a:t>Even at high </a:t>
            </a:r>
            <a:r>
              <a:rPr lang="en-US" err="1"/>
              <a:t>sparsities</a:t>
            </a:r>
            <a:r>
              <a:rPr lang="en-US"/>
              <a:t> there are </a:t>
            </a:r>
            <a:r>
              <a:rPr lang="en-US" b="1" u="sng"/>
              <a:t>NO</a:t>
            </a:r>
            <a:r>
              <a:rPr lang="en-US"/>
              <a:t> Neurons that are completely removed. </a:t>
            </a:r>
          </a:p>
          <a:p>
            <a:endParaRPr lang="en-US"/>
          </a:p>
          <a:p>
            <a:r>
              <a:rPr lang="en-US"/>
              <a:t>The remaining weights in a neuron undergo larger gradient updates, decreasing the probability of their future removal</a:t>
            </a:r>
          </a:p>
        </p:txBody>
      </p:sp>
      <p:grpSp>
        <p:nvGrpSpPr>
          <p:cNvPr id="11" name="Group 10">
            <a:extLst>
              <a:ext uri="{FF2B5EF4-FFF2-40B4-BE49-F238E27FC236}">
                <a16:creationId xmlns:a16="http://schemas.microsoft.com/office/drawing/2014/main" id="{1D3FE82D-4813-EC15-BB3C-0B1D67B3FFC8}"/>
              </a:ext>
            </a:extLst>
          </p:cNvPr>
          <p:cNvGrpSpPr/>
          <p:nvPr/>
        </p:nvGrpSpPr>
        <p:grpSpPr>
          <a:xfrm>
            <a:off x="1762637" y="1395866"/>
            <a:ext cx="7927901" cy="4480989"/>
            <a:chOff x="1279161" y="1279388"/>
            <a:chExt cx="8211360" cy="4895711"/>
          </a:xfrm>
        </p:grpSpPr>
        <p:grpSp>
          <p:nvGrpSpPr>
            <p:cNvPr id="9" name="Group 8">
              <a:extLst>
                <a:ext uri="{FF2B5EF4-FFF2-40B4-BE49-F238E27FC236}">
                  <a16:creationId xmlns:a16="http://schemas.microsoft.com/office/drawing/2014/main" id="{51ED95EF-CDFB-7C14-23AB-597DAA408C51}"/>
                </a:ext>
              </a:extLst>
            </p:cNvPr>
            <p:cNvGrpSpPr/>
            <p:nvPr/>
          </p:nvGrpSpPr>
          <p:grpSpPr>
            <a:xfrm>
              <a:off x="1279161" y="1648720"/>
              <a:ext cx="8211360" cy="4526379"/>
              <a:chOff x="1782081" y="4385259"/>
              <a:chExt cx="8211360" cy="4526379"/>
            </a:xfrm>
          </p:grpSpPr>
          <p:pic>
            <p:nvPicPr>
              <p:cNvPr id="5" name="Graphic 4">
                <a:extLst>
                  <a:ext uri="{FF2B5EF4-FFF2-40B4-BE49-F238E27FC236}">
                    <a16:creationId xmlns:a16="http://schemas.microsoft.com/office/drawing/2014/main" id="{40228F27-4899-8F50-45C4-ECD007C89DA1}"/>
                  </a:ext>
                </a:extLst>
              </p:cNvPr>
              <p:cNvPicPr>
                <a:picLocks noChangeAspect="1"/>
              </p:cNvPicPr>
              <p:nvPr/>
            </p:nvPicPr>
            <p:blipFill>
              <a:blip r:embed="rId2">
                <a:extLst>
                  <a:ext uri="{96DAC541-7B7A-43D3-8B79-37D633B846F1}">
                    <asvg:svgBlip xmlns:asvg="http://schemas.microsoft.com/office/drawing/2016/SVG/main" r:embed="rId3"/>
                  </a:ext>
                </a:extLst>
              </a:blip>
              <a:srcRect l="2797" t="65370"/>
              <a:stretch>
                <a:fillRect/>
              </a:stretch>
            </p:blipFill>
            <p:spPr>
              <a:xfrm>
                <a:off x="1782081" y="4385259"/>
                <a:ext cx="8211360" cy="4526379"/>
              </a:xfrm>
              <a:prstGeom prst="rect">
                <a:avLst/>
              </a:prstGeom>
            </p:spPr>
          </p:pic>
          <p:cxnSp>
            <p:nvCxnSpPr>
              <p:cNvPr id="6" name="Straight Connector 5">
                <a:extLst>
                  <a:ext uri="{FF2B5EF4-FFF2-40B4-BE49-F238E27FC236}">
                    <a16:creationId xmlns:a16="http://schemas.microsoft.com/office/drawing/2014/main" id="{739A3715-A7E6-6A1F-62DC-5D3C4398181D}"/>
                  </a:ext>
                </a:extLst>
              </p:cNvPr>
              <p:cNvCxnSpPr>
                <a:cxnSpLocks/>
              </p:cNvCxnSpPr>
              <p:nvPr/>
            </p:nvCxnSpPr>
            <p:spPr>
              <a:xfrm>
                <a:off x="2042160" y="4385260"/>
                <a:ext cx="7951281" cy="0"/>
              </a:xfrm>
              <a:prstGeom prst="line">
                <a:avLst/>
              </a:prstGeom>
            </p:spPr>
            <p:style>
              <a:lnRef idx="1">
                <a:schemeClr val="dk1"/>
              </a:lnRef>
              <a:fillRef idx="0">
                <a:schemeClr val="dk1"/>
              </a:fillRef>
              <a:effectRef idx="0">
                <a:schemeClr val="dk1"/>
              </a:effectRef>
              <a:fontRef idx="minor">
                <a:schemeClr val="tx1"/>
              </a:fontRef>
            </p:style>
          </p:cxnSp>
        </p:grpSp>
        <p:sp>
          <p:nvSpPr>
            <p:cNvPr id="10" name="TextBox 9">
              <a:extLst>
                <a:ext uri="{FF2B5EF4-FFF2-40B4-BE49-F238E27FC236}">
                  <a16:creationId xmlns:a16="http://schemas.microsoft.com/office/drawing/2014/main" id="{DED54570-FCEB-7501-0903-DA18D8FEA643}"/>
                </a:ext>
              </a:extLst>
            </p:cNvPr>
            <p:cNvSpPr txBox="1"/>
            <p:nvPr/>
          </p:nvSpPr>
          <p:spPr>
            <a:xfrm>
              <a:off x="4516048" y="1279388"/>
              <a:ext cx="1997663" cy="369332"/>
            </a:xfrm>
            <a:prstGeom prst="rect">
              <a:avLst/>
            </a:prstGeom>
            <a:noFill/>
          </p:spPr>
          <p:txBody>
            <a:bodyPr wrap="none" rtlCol="0">
              <a:spAutoFit/>
            </a:bodyPr>
            <a:lstStyle/>
            <a:p>
              <a:r>
                <a:rPr lang="en-US"/>
                <a:t>ResNet20 Cifar10</a:t>
              </a:r>
            </a:p>
          </p:txBody>
        </p:sp>
      </p:grpSp>
      <p:sp>
        <p:nvSpPr>
          <p:cNvPr id="4" name="Rectangle 3">
            <a:extLst>
              <a:ext uri="{FF2B5EF4-FFF2-40B4-BE49-F238E27FC236}">
                <a16:creationId xmlns:a16="http://schemas.microsoft.com/office/drawing/2014/main" id="{75A02358-CB94-3C8D-5DA2-7BB9161784E4}"/>
              </a:ext>
            </a:extLst>
          </p:cNvPr>
          <p:cNvSpPr/>
          <p:nvPr/>
        </p:nvSpPr>
        <p:spPr>
          <a:xfrm>
            <a:off x="1650124" y="5381297"/>
            <a:ext cx="367862" cy="562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6B48A6D8-330A-AA76-A503-4416E5A53FFC}"/>
              </a:ext>
            </a:extLst>
          </p:cNvPr>
          <p:cNvGrpSpPr/>
          <p:nvPr/>
        </p:nvGrpSpPr>
        <p:grpSpPr>
          <a:xfrm>
            <a:off x="1949322" y="5851019"/>
            <a:ext cx="7760039" cy="383472"/>
            <a:chOff x="1849819" y="5648308"/>
            <a:chExt cx="7760039" cy="383472"/>
          </a:xfrm>
        </p:grpSpPr>
        <p:sp>
          <p:nvSpPr>
            <p:cNvPr id="7" name="Arrow: Right 6">
              <a:extLst>
                <a:ext uri="{FF2B5EF4-FFF2-40B4-BE49-F238E27FC236}">
                  <a16:creationId xmlns:a16="http://schemas.microsoft.com/office/drawing/2014/main" id="{DB54C471-2D4C-AD12-AD3A-2075A17E1C46}"/>
                </a:ext>
              </a:extLst>
            </p:cNvPr>
            <p:cNvSpPr/>
            <p:nvPr/>
          </p:nvSpPr>
          <p:spPr>
            <a:xfrm>
              <a:off x="2697454" y="5699864"/>
              <a:ext cx="5780690"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11B671-B661-A084-BAF6-B66DC2728DD4}"/>
                </a:ext>
              </a:extLst>
            </p:cNvPr>
            <p:cNvSpPr txBox="1"/>
            <p:nvPr/>
          </p:nvSpPr>
          <p:spPr>
            <a:xfrm>
              <a:off x="8558824" y="5662448"/>
              <a:ext cx="1051034" cy="369332"/>
            </a:xfrm>
            <a:prstGeom prst="rect">
              <a:avLst/>
            </a:prstGeom>
            <a:noFill/>
          </p:spPr>
          <p:txBody>
            <a:bodyPr wrap="square" rtlCol="0">
              <a:spAutoFit/>
            </a:bodyPr>
            <a:lstStyle/>
            <a:p>
              <a:r>
                <a:rPr lang="en-US"/>
                <a:t>Deeper</a:t>
              </a:r>
            </a:p>
          </p:txBody>
        </p:sp>
        <p:sp>
          <p:nvSpPr>
            <p:cNvPr id="12" name="TextBox 11">
              <a:extLst>
                <a:ext uri="{FF2B5EF4-FFF2-40B4-BE49-F238E27FC236}">
                  <a16:creationId xmlns:a16="http://schemas.microsoft.com/office/drawing/2014/main" id="{DC5E21EA-6CD0-78D7-CA30-37019399360A}"/>
                </a:ext>
              </a:extLst>
            </p:cNvPr>
            <p:cNvSpPr txBox="1"/>
            <p:nvPr/>
          </p:nvSpPr>
          <p:spPr>
            <a:xfrm>
              <a:off x="1849819" y="5648308"/>
              <a:ext cx="1051034" cy="369332"/>
            </a:xfrm>
            <a:prstGeom prst="rect">
              <a:avLst/>
            </a:prstGeom>
            <a:noFill/>
          </p:spPr>
          <p:txBody>
            <a:bodyPr wrap="square" rtlCol="0">
              <a:spAutoFit/>
            </a:bodyPr>
            <a:lstStyle/>
            <a:p>
              <a:r>
                <a:rPr lang="en-US"/>
                <a:t>Earlier</a:t>
              </a:r>
            </a:p>
          </p:txBody>
        </p:sp>
      </p:grpSp>
      <p:grpSp>
        <p:nvGrpSpPr>
          <p:cNvPr id="16" name="Group 15">
            <a:extLst>
              <a:ext uri="{FF2B5EF4-FFF2-40B4-BE49-F238E27FC236}">
                <a16:creationId xmlns:a16="http://schemas.microsoft.com/office/drawing/2014/main" id="{95F7E7C9-1038-187D-E502-AD3C68292E62}"/>
              </a:ext>
            </a:extLst>
          </p:cNvPr>
          <p:cNvGrpSpPr/>
          <p:nvPr/>
        </p:nvGrpSpPr>
        <p:grpSpPr>
          <a:xfrm>
            <a:off x="585329" y="1821445"/>
            <a:ext cx="1544478" cy="2748104"/>
            <a:chOff x="990398" y="1788438"/>
            <a:chExt cx="1544478" cy="2748104"/>
          </a:xfrm>
        </p:grpSpPr>
        <p:sp>
          <p:nvSpPr>
            <p:cNvPr id="13" name="Arrow: Up 12">
              <a:extLst>
                <a:ext uri="{FF2B5EF4-FFF2-40B4-BE49-F238E27FC236}">
                  <a16:creationId xmlns:a16="http://schemas.microsoft.com/office/drawing/2014/main" id="{153D123A-E1A9-B2F6-4451-03CB424FEEAC}"/>
                </a:ext>
              </a:extLst>
            </p:cNvPr>
            <p:cNvSpPr/>
            <p:nvPr/>
          </p:nvSpPr>
          <p:spPr>
            <a:xfrm>
              <a:off x="1534510" y="2123090"/>
              <a:ext cx="228127" cy="199696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03B9620-ED79-22E2-B077-B0D691978560}"/>
                </a:ext>
              </a:extLst>
            </p:cNvPr>
            <p:cNvSpPr txBox="1"/>
            <p:nvPr/>
          </p:nvSpPr>
          <p:spPr>
            <a:xfrm>
              <a:off x="990398" y="1788438"/>
              <a:ext cx="1544478" cy="369332"/>
            </a:xfrm>
            <a:prstGeom prst="rect">
              <a:avLst/>
            </a:prstGeom>
            <a:noFill/>
          </p:spPr>
          <p:txBody>
            <a:bodyPr wrap="square" rtlCol="0">
              <a:spAutoFit/>
            </a:bodyPr>
            <a:lstStyle/>
            <a:p>
              <a:r>
                <a:rPr lang="en-US"/>
                <a:t>More sparse</a:t>
              </a:r>
            </a:p>
          </p:txBody>
        </p:sp>
        <p:sp>
          <p:nvSpPr>
            <p:cNvPr id="15" name="TextBox 14">
              <a:extLst>
                <a:ext uri="{FF2B5EF4-FFF2-40B4-BE49-F238E27FC236}">
                  <a16:creationId xmlns:a16="http://schemas.microsoft.com/office/drawing/2014/main" id="{867353BE-CEFC-7D94-2F73-BB57A3F818C1}"/>
                </a:ext>
              </a:extLst>
            </p:cNvPr>
            <p:cNvSpPr txBox="1"/>
            <p:nvPr/>
          </p:nvSpPr>
          <p:spPr>
            <a:xfrm>
              <a:off x="990398" y="4167210"/>
              <a:ext cx="1544478" cy="369332"/>
            </a:xfrm>
            <a:prstGeom prst="rect">
              <a:avLst/>
            </a:prstGeom>
            <a:noFill/>
          </p:spPr>
          <p:txBody>
            <a:bodyPr wrap="square" rtlCol="0">
              <a:spAutoFit/>
            </a:bodyPr>
            <a:lstStyle/>
            <a:p>
              <a:r>
                <a:rPr lang="en-US"/>
                <a:t>Less sparse</a:t>
              </a:r>
            </a:p>
          </p:txBody>
        </p:sp>
      </p:grpSp>
      <p:sp>
        <p:nvSpPr>
          <p:cNvPr id="20" name="Block Arc 19">
            <a:extLst>
              <a:ext uri="{FF2B5EF4-FFF2-40B4-BE49-F238E27FC236}">
                <a16:creationId xmlns:a16="http://schemas.microsoft.com/office/drawing/2014/main" id="{EB8D041D-7E86-8745-8EEB-01DDFE805735}"/>
              </a:ext>
            </a:extLst>
          </p:cNvPr>
          <p:cNvSpPr/>
          <p:nvPr/>
        </p:nvSpPr>
        <p:spPr>
          <a:xfrm rot="10800000">
            <a:off x="3200399" y="2879031"/>
            <a:ext cx="2305050" cy="549969"/>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Block Arc 20">
            <a:extLst>
              <a:ext uri="{FF2B5EF4-FFF2-40B4-BE49-F238E27FC236}">
                <a16:creationId xmlns:a16="http://schemas.microsoft.com/office/drawing/2014/main" id="{3FBD9C65-68FB-223B-AC2A-5DC6B0245ED5}"/>
              </a:ext>
            </a:extLst>
          </p:cNvPr>
          <p:cNvSpPr/>
          <p:nvPr/>
        </p:nvSpPr>
        <p:spPr>
          <a:xfrm rot="10800000">
            <a:off x="5785650" y="2517583"/>
            <a:ext cx="2061677" cy="549945"/>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Block Arc 21">
            <a:extLst>
              <a:ext uri="{FF2B5EF4-FFF2-40B4-BE49-F238E27FC236}">
                <a16:creationId xmlns:a16="http://schemas.microsoft.com/office/drawing/2014/main" id="{FB278F12-77A5-5422-11D4-DEF20EDC208B}"/>
              </a:ext>
            </a:extLst>
          </p:cNvPr>
          <p:cNvSpPr/>
          <p:nvPr/>
        </p:nvSpPr>
        <p:spPr>
          <a:xfrm rot="10800000">
            <a:off x="8196747" y="2157770"/>
            <a:ext cx="1242527" cy="549910"/>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Rectangle 22">
            <a:extLst>
              <a:ext uri="{FF2B5EF4-FFF2-40B4-BE49-F238E27FC236}">
                <a16:creationId xmlns:a16="http://schemas.microsoft.com/office/drawing/2014/main" id="{30B7DCBB-7AB6-663E-9589-AE6DF42F9058}"/>
              </a:ext>
            </a:extLst>
          </p:cNvPr>
          <p:cNvSpPr/>
          <p:nvPr/>
        </p:nvSpPr>
        <p:spPr>
          <a:xfrm>
            <a:off x="9141804" y="1828800"/>
            <a:ext cx="367943" cy="5499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lide Number Placeholder 17">
            <a:extLst>
              <a:ext uri="{FF2B5EF4-FFF2-40B4-BE49-F238E27FC236}">
                <a16:creationId xmlns:a16="http://schemas.microsoft.com/office/drawing/2014/main" id="{A2DDB466-0349-510E-845F-57F9DBA1CB3D}"/>
              </a:ext>
            </a:extLst>
          </p:cNvPr>
          <p:cNvSpPr>
            <a:spLocks noGrp="1"/>
          </p:cNvSpPr>
          <p:nvPr>
            <p:ph type="sldNum" sz="quarter" idx="11"/>
          </p:nvPr>
        </p:nvSpPr>
        <p:spPr/>
        <p:txBody>
          <a:bodyPr/>
          <a:lstStyle/>
          <a:p>
            <a:fld id="{C6684DFB-8BCD-4B6F-9AA1-83F3BA61DF41}" type="slidenum">
              <a:rPr lang="en-US" smtClean="0"/>
              <a:pPr/>
              <a:t>20</a:t>
            </a:fld>
            <a:endParaRPr lang="en-US"/>
          </a:p>
        </p:txBody>
      </p:sp>
      <p:sp>
        <p:nvSpPr>
          <p:cNvPr id="19" name="Rectangle 18">
            <a:extLst>
              <a:ext uri="{FF2B5EF4-FFF2-40B4-BE49-F238E27FC236}">
                <a16:creationId xmlns:a16="http://schemas.microsoft.com/office/drawing/2014/main" id="{8F695221-91B9-6BA0-A610-52653581E27E}"/>
              </a:ext>
            </a:extLst>
          </p:cNvPr>
          <p:cNvSpPr/>
          <p:nvPr/>
        </p:nvSpPr>
        <p:spPr>
          <a:xfrm>
            <a:off x="7838066" y="2805432"/>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72A2BEC-D078-37E4-C0EA-9F32F6D8662C}"/>
              </a:ext>
            </a:extLst>
          </p:cNvPr>
          <p:cNvSpPr/>
          <p:nvPr/>
        </p:nvSpPr>
        <p:spPr>
          <a:xfrm>
            <a:off x="5580525" y="2879031"/>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627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20" grpId="0" animBg="1"/>
      <p:bldP spid="21" grpId="0" animBg="1"/>
      <p:bldP spid="22" grpId="0" animBg="1"/>
      <p:bldP spid="23" grpId="0" animBg="1"/>
      <p:bldP spid="19" grpId="0" animBg="1"/>
      <p:bldP spid="2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26E03-8D4E-5E6E-ABA9-5BE2025FCEE9}"/>
              </a:ext>
            </a:extLst>
          </p:cNvPr>
          <p:cNvSpPr>
            <a:spLocks noGrp="1"/>
          </p:cNvSpPr>
          <p:nvPr>
            <p:ph type="title"/>
          </p:nvPr>
        </p:nvSpPr>
        <p:spPr/>
        <p:txBody>
          <a:bodyPr>
            <a:normAutofit/>
          </a:bodyPr>
          <a:lstStyle/>
          <a:p>
            <a:r>
              <a:rPr lang="en-US"/>
              <a:t>How important are the remaining Neurons?</a:t>
            </a:r>
          </a:p>
        </p:txBody>
      </p:sp>
      <p:sp>
        <p:nvSpPr>
          <p:cNvPr id="3" name="Content Placeholder 2">
            <a:extLst>
              <a:ext uri="{FF2B5EF4-FFF2-40B4-BE49-F238E27FC236}">
                <a16:creationId xmlns:a16="http://schemas.microsoft.com/office/drawing/2014/main" id="{AB1B0304-523E-04CC-E2D3-13B418219D95}"/>
              </a:ext>
            </a:extLst>
          </p:cNvPr>
          <p:cNvSpPr>
            <a:spLocks noGrp="1"/>
          </p:cNvSpPr>
          <p:nvPr>
            <p:ph idx="10"/>
          </p:nvPr>
        </p:nvSpPr>
        <p:spPr/>
        <p:txBody>
          <a:bodyPr/>
          <a:lstStyle/>
          <a:p>
            <a:r>
              <a:rPr lang="en-US"/>
              <a:t>How much impact do remaining weights have on accuracy?</a:t>
            </a:r>
          </a:p>
          <a:p>
            <a:pPr marL="0" indent="0">
              <a:buNone/>
            </a:pPr>
            <a:endParaRPr lang="en-US"/>
          </a:p>
        </p:txBody>
      </p:sp>
      <p:pic>
        <p:nvPicPr>
          <p:cNvPr id="4" name="Content Placeholder 4">
            <a:extLst>
              <a:ext uri="{FF2B5EF4-FFF2-40B4-BE49-F238E27FC236}">
                <a16:creationId xmlns:a16="http://schemas.microsoft.com/office/drawing/2014/main" id="{CDA0B82A-0D86-34E4-84DD-F741FF4F5D3F}"/>
              </a:ext>
            </a:extLst>
          </p:cNvPr>
          <p:cNvPicPr>
            <a:picLocks noChangeAspect="1"/>
          </p:cNvPicPr>
          <p:nvPr/>
        </p:nvPicPr>
        <p:blipFill>
          <a:blip r:embed="rId2">
            <a:extLst>
              <a:ext uri="{96DAC541-7B7A-43D3-8B79-37D633B846F1}">
                <asvg:svgBlip xmlns:asvg="http://schemas.microsoft.com/office/drawing/2016/SVG/main" r:embed="rId3"/>
              </a:ext>
            </a:extLst>
          </a:blip>
          <a:srcRect t="52969" r="53120"/>
          <a:stretch>
            <a:fillRect/>
          </a:stretch>
        </p:blipFill>
        <p:spPr>
          <a:xfrm>
            <a:off x="3218449" y="2345285"/>
            <a:ext cx="5719624" cy="3598315"/>
          </a:xfrm>
          <a:prstGeom prst="rect">
            <a:avLst/>
          </a:prstGeom>
        </p:spPr>
      </p:pic>
      <p:sp>
        <p:nvSpPr>
          <p:cNvPr id="5" name="Slide Number Placeholder 4">
            <a:extLst>
              <a:ext uri="{FF2B5EF4-FFF2-40B4-BE49-F238E27FC236}">
                <a16:creationId xmlns:a16="http://schemas.microsoft.com/office/drawing/2014/main" id="{861C7DF7-5556-D442-D5F8-3B3E5FBFB31C}"/>
              </a:ext>
            </a:extLst>
          </p:cNvPr>
          <p:cNvSpPr>
            <a:spLocks noGrp="1"/>
          </p:cNvSpPr>
          <p:nvPr>
            <p:ph type="sldNum" sz="quarter" idx="11"/>
          </p:nvPr>
        </p:nvSpPr>
        <p:spPr/>
        <p:txBody>
          <a:bodyPr/>
          <a:lstStyle/>
          <a:p>
            <a:fld id="{C6684DFB-8BCD-4B6F-9AA1-83F3BA61DF41}" type="slidenum">
              <a:rPr lang="en-US" smtClean="0"/>
              <a:pPr/>
              <a:t>21</a:t>
            </a:fld>
            <a:endParaRPr lang="en-US"/>
          </a:p>
        </p:txBody>
      </p:sp>
    </p:spTree>
    <p:extLst>
      <p:ext uri="{BB962C8B-B14F-4D97-AF65-F5344CB8AC3E}">
        <p14:creationId xmlns:p14="http://schemas.microsoft.com/office/powerpoint/2010/main" val="570942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37AA3-E982-CD20-2ED1-349F0A854D5F}"/>
              </a:ext>
            </a:extLst>
          </p:cNvPr>
          <p:cNvSpPr>
            <a:spLocks noGrp="1"/>
          </p:cNvSpPr>
          <p:nvPr>
            <p:ph type="title"/>
          </p:nvPr>
        </p:nvSpPr>
        <p:spPr/>
        <p:txBody>
          <a:bodyPr/>
          <a:lstStyle/>
          <a:p>
            <a:r>
              <a:rPr lang="en-US" dirty="0"/>
              <a:t>Finding 3: Stable Neuron-Level Sensitivity</a:t>
            </a:r>
          </a:p>
        </p:txBody>
      </p:sp>
      <p:sp>
        <p:nvSpPr>
          <p:cNvPr id="3" name="Content Placeholder 2">
            <a:extLst>
              <a:ext uri="{FF2B5EF4-FFF2-40B4-BE49-F238E27FC236}">
                <a16:creationId xmlns:a16="http://schemas.microsoft.com/office/drawing/2014/main" id="{B8378490-5E1A-858D-32BB-7A2533E1A67A}"/>
              </a:ext>
            </a:extLst>
          </p:cNvPr>
          <p:cNvSpPr>
            <a:spLocks noGrp="1"/>
          </p:cNvSpPr>
          <p:nvPr>
            <p:ph idx="10"/>
          </p:nvPr>
        </p:nvSpPr>
        <p:spPr>
          <a:xfrm>
            <a:off x="952499" y="1686757"/>
            <a:ext cx="5143502" cy="4256843"/>
          </a:xfrm>
        </p:spPr>
        <p:txBody>
          <a:bodyPr/>
          <a:lstStyle/>
          <a:p>
            <a:r>
              <a:rPr lang="en-US" dirty="0"/>
              <a:t>Neuron Zeroing: Ablation study of each neuron for change in accuracy.</a:t>
            </a:r>
          </a:p>
          <a:p>
            <a:endParaRPr lang="en-US" dirty="0"/>
          </a:p>
          <a:p>
            <a:r>
              <a:rPr lang="en-US" dirty="0"/>
              <a:t>As stages/neurons get more sparse – their impact grows.</a:t>
            </a:r>
          </a:p>
        </p:txBody>
      </p:sp>
      <p:pic>
        <p:nvPicPr>
          <p:cNvPr id="5" name="Picture 4">
            <a:extLst>
              <a:ext uri="{FF2B5EF4-FFF2-40B4-BE49-F238E27FC236}">
                <a16:creationId xmlns:a16="http://schemas.microsoft.com/office/drawing/2014/main" id="{FBFF2942-3D48-4572-766F-63419D41C6DC}"/>
              </a:ext>
            </a:extLst>
          </p:cNvPr>
          <p:cNvPicPr>
            <a:picLocks noChangeAspect="1"/>
          </p:cNvPicPr>
          <p:nvPr/>
        </p:nvPicPr>
        <p:blipFill>
          <a:blip r:embed="rId3"/>
          <a:srcRect l="-1" r="47753"/>
          <a:stretch>
            <a:fillRect/>
          </a:stretch>
        </p:blipFill>
        <p:spPr>
          <a:xfrm>
            <a:off x="6642538" y="0"/>
            <a:ext cx="5174981" cy="6396888"/>
          </a:xfrm>
          <a:prstGeom prst="rect">
            <a:avLst/>
          </a:prstGeom>
        </p:spPr>
      </p:pic>
      <p:cxnSp>
        <p:nvCxnSpPr>
          <p:cNvPr id="7" name="Straight Connector 6">
            <a:extLst>
              <a:ext uri="{FF2B5EF4-FFF2-40B4-BE49-F238E27FC236}">
                <a16:creationId xmlns:a16="http://schemas.microsoft.com/office/drawing/2014/main" id="{DFE404BE-0ABE-661A-51C0-690D84AE9F8C}"/>
              </a:ext>
            </a:extLst>
          </p:cNvPr>
          <p:cNvCxnSpPr/>
          <p:nvPr/>
        </p:nvCxnSpPr>
        <p:spPr>
          <a:xfrm>
            <a:off x="7493876" y="1344337"/>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99D380E-99F5-2747-3A4E-A1A7903E452D}"/>
              </a:ext>
            </a:extLst>
          </p:cNvPr>
          <p:cNvCxnSpPr/>
          <p:nvPr/>
        </p:nvCxnSpPr>
        <p:spPr>
          <a:xfrm>
            <a:off x="7456705" y="3598423"/>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FFD7678-55DF-3944-1600-C791BA76CA2F}"/>
              </a:ext>
            </a:extLst>
          </p:cNvPr>
          <p:cNvCxnSpPr/>
          <p:nvPr/>
        </p:nvCxnSpPr>
        <p:spPr>
          <a:xfrm>
            <a:off x="7456705" y="5638326"/>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42432EF3-E0C7-FAD4-D75A-EF86C2E33134}"/>
              </a:ext>
            </a:extLst>
          </p:cNvPr>
          <p:cNvGrpSpPr/>
          <p:nvPr/>
        </p:nvGrpSpPr>
        <p:grpSpPr>
          <a:xfrm>
            <a:off x="10874829" y="252255"/>
            <a:ext cx="1317169" cy="6003974"/>
            <a:chOff x="10984706" y="252255"/>
            <a:chExt cx="1207292" cy="6605744"/>
          </a:xfrm>
        </p:grpSpPr>
        <p:sp>
          <p:nvSpPr>
            <p:cNvPr id="11" name="Rectangle 10">
              <a:extLst>
                <a:ext uri="{FF2B5EF4-FFF2-40B4-BE49-F238E27FC236}">
                  <a16:creationId xmlns:a16="http://schemas.microsoft.com/office/drawing/2014/main" id="{6BDCFC46-D060-7DF4-F51D-DE5AC1DDC3AF}"/>
                </a:ext>
              </a:extLst>
            </p:cNvPr>
            <p:cNvSpPr/>
            <p:nvPr/>
          </p:nvSpPr>
          <p:spPr>
            <a:xfrm>
              <a:off x="11109433" y="252255"/>
              <a:ext cx="1082565" cy="66057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B09A01B1-3296-EB28-C826-F5857F20C9B5}"/>
                </a:ext>
              </a:extLst>
            </p:cNvPr>
            <p:cNvPicPr>
              <a:picLocks noChangeAspect="1"/>
            </p:cNvPicPr>
            <p:nvPr/>
          </p:nvPicPr>
          <p:blipFill>
            <a:blip r:embed="rId4"/>
            <a:stretch>
              <a:fillRect/>
            </a:stretch>
          </p:blipFill>
          <p:spPr>
            <a:xfrm>
              <a:off x="10984706" y="6498431"/>
              <a:ext cx="117581" cy="202440"/>
            </a:xfrm>
            <a:prstGeom prst="rect">
              <a:avLst/>
            </a:prstGeom>
          </p:spPr>
        </p:pic>
      </p:grpSp>
      <p:sp>
        <p:nvSpPr>
          <p:cNvPr id="19" name="Arrow: Right 18">
            <a:extLst>
              <a:ext uri="{FF2B5EF4-FFF2-40B4-BE49-F238E27FC236}">
                <a16:creationId xmlns:a16="http://schemas.microsoft.com/office/drawing/2014/main" id="{88FFC091-EF76-1D92-173A-CBFF0EEFE2DF}"/>
              </a:ext>
            </a:extLst>
          </p:cNvPr>
          <p:cNvSpPr/>
          <p:nvPr/>
        </p:nvSpPr>
        <p:spPr>
          <a:xfrm>
            <a:off x="7847294" y="5985343"/>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DFB10DD-EEEA-C7AB-D077-C7108C0CC26C}"/>
              </a:ext>
            </a:extLst>
          </p:cNvPr>
          <p:cNvSpPr>
            <a:spLocks noGrp="1"/>
          </p:cNvSpPr>
          <p:nvPr>
            <p:ph type="sldNum" sz="quarter" idx="11"/>
          </p:nvPr>
        </p:nvSpPr>
        <p:spPr/>
        <p:txBody>
          <a:bodyPr/>
          <a:lstStyle/>
          <a:p>
            <a:fld id="{C6684DFB-8BCD-4B6F-9AA1-83F3BA61DF41}" type="slidenum">
              <a:rPr lang="en-US" smtClean="0"/>
              <a:pPr/>
              <a:t>22</a:t>
            </a:fld>
            <a:endParaRPr lang="en-US"/>
          </a:p>
        </p:txBody>
      </p:sp>
    </p:spTree>
    <p:extLst>
      <p:ext uri="{BB962C8B-B14F-4D97-AF65-F5344CB8AC3E}">
        <p14:creationId xmlns:p14="http://schemas.microsoft.com/office/powerpoint/2010/main" val="2517545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142ED-A280-FCA4-A182-241324B945BB}"/>
              </a:ext>
            </a:extLst>
          </p:cNvPr>
          <p:cNvSpPr>
            <a:spLocks noGrp="1"/>
          </p:cNvSpPr>
          <p:nvPr>
            <p:ph type="title"/>
          </p:nvPr>
        </p:nvSpPr>
        <p:spPr>
          <a:xfrm>
            <a:off x="952499" y="378255"/>
            <a:ext cx="10287001" cy="869089"/>
          </a:xfrm>
        </p:spPr>
        <p:txBody>
          <a:bodyPr>
            <a:normAutofit fontScale="90000"/>
          </a:bodyPr>
          <a:lstStyle/>
          <a:p>
            <a:r>
              <a:rPr lang="en-US"/>
              <a:t>How stable are activations and representations under pruning?</a:t>
            </a:r>
          </a:p>
        </p:txBody>
      </p:sp>
      <p:sp>
        <p:nvSpPr>
          <p:cNvPr id="3" name="Content Placeholder 2">
            <a:extLst>
              <a:ext uri="{FF2B5EF4-FFF2-40B4-BE49-F238E27FC236}">
                <a16:creationId xmlns:a16="http://schemas.microsoft.com/office/drawing/2014/main" id="{055CD434-65AD-5BA1-E82C-7C1D41D2E45C}"/>
              </a:ext>
            </a:extLst>
          </p:cNvPr>
          <p:cNvSpPr>
            <a:spLocks noGrp="1"/>
          </p:cNvSpPr>
          <p:nvPr>
            <p:ph idx="10"/>
          </p:nvPr>
        </p:nvSpPr>
        <p:spPr/>
        <p:txBody>
          <a:bodyPr/>
          <a:lstStyle/>
          <a:p>
            <a:r>
              <a:rPr lang="en-US"/>
              <a:t>Does the original model and the pruned model “see” the same things?</a:t>
            </a:r>
          </a:p>
          <a:p>
            <a:pPr marL="0" indent="0">
              <a:buNone/>
            </a:pPr>
            <a:endParaRPr lang="en-US"/>
          </a:p>
        </p:txBody>
      </p:sp>
      <p:pic>
        <p:nvPicPr>
          <p:cNvPr id="4" name="Content Placeholder 4">
            <a:extLst>
              <a:ext uri="{FF2B5EF4-FFF2-40B4-BE49-F238E27FC236}">
                <a16:creationId xmlns:a16="http://schemas.microsoft.com/office/drawing/2014/main" id="{8D31D10A-086A-2B89-7FE6-A5E9FB602101}"/>
              </a:ext>
            </a:extLst>
          </p:cNvPr>
          <p:cNvPicPr>
            <a:picLocks noChangeAspect="1"/>
          </p:cNvPicPr>
          <p:nvPr/>
        </p:nvPicPr>
        <p:blipFill>
          <a:blip r:embed="rId2">
            <a:extLst>
              <a:ext uri="{96DAC541-7B7A-43D3-8B79-37D633B846F1}">
                <asvg:svgBlip xmlns:asvg="http://schemas.microsoft.com/office/drawing/2016/SVG/main" r:embed="rId3"/>
              </a:ext>
            </a:extLst>
          </a:blip>
          <a:srcRect l="46427" t="53211"/>
          <a:stretch>
            <a:fillRect/>
          </a:stretch>
        </p:blipFill>
        <p:spPr>
          <a:xfrm>
            <a:off x="2834640" y="2803394"/>
            <a:ext cx="6115050" cy="3349157"/>
          </a:xfrm>
          <a:prstGeom prst="rect">
            <a:avLst/>
          </a:prstGeom>
        </p:spPr>
      </p:pic>
      <p:sp>
        <p:nvSpPr>
          <p:cNvPr id="5" name="Slide Number Placeholder 4">
            <a:extLst>
              <a:ext uri="{FF2B5EF4-FFF2-40B4-BE49-F238E27FC236}">
                <a16:creationId xmlns:a16="http://schemas.microsoft.com/office/drawing/2014/main" id="{D2D3FBE4-261E-ED6D-EB87-66E1E556000F}"/>
              </a:ext>
            </a:extLst>
          </p:cNvPr>
          <p:cNvSpPr>
            <a:spLocks noGrp="1"/>
          </p:cNvSpPr>
          <p:nvPr>
            <p:ph type="sldNum" sz="quarter" idx="11"/>
          </p:nvPr>
        </p:nvSpPr>
        <p:spPr/>
        <p:txBody>
          <a:bodyPr/>
          <a:lstStyle/>
          <a:p>
            <a:fld id="{C6684DFB-8BCD-4B6F-9AA1-83F3BA61DF41}" type="slidenum">
              <a:rPr lang="en-US" smtClean="0"/>
              <a:pPr/>
              <a:t>23</a:t>
            </a:fld>
            <a:endParaRPr lang="en-US"/>
          </a:p>
        </p:txBody>
      </p:sp>
    </p:spTree>
    <p:extLst>
      <p:ext uri="{BB962C8B-B14F-4D97-AF65-F5344CB8AC3E}">
        <p14:creationId xmlns:p14="http://schemas.microsoft.com/office/powerpoint/2010/main" val="27496233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E05C8-3508-239D-14D7-A1E09C7EA96E}"/>
              </a:ext>
            </a:extLst>
          </p:cNvPr>
          <p:cNvSpPr>
            <a:spLocks noGrp="1"/>
          </p:cNvSpPr>
          <p:nvPr>
            <p:ph type="title"/>
          </p:nvPr>
        </p:nvSpPr>
        <p:spPr>
          <a:xfrm>
            <a:off x="952499" y="526777"/>
            <a:ext cx="10629901" cy="869089"/>
          </a:xfrm>
        </p:spPr>
        <p:txBody>
          <a:bodyPr>
            <a:normAutofit fontScale="90000"/>
          </a:bodyPr>
          <a:lstStyle/>
          <a:p>
            <a:r>
              <a:rPr lang="en-US"/>
              <a:t>Finding 4: Preservation of Feature Representations</a:t>
            </a:r>
          </a:p>
        </p:txBody>
      </p:sp>
      <p:sp>
        <p:nvSpPr>
          <p:cNvPr id="3" name="Content Placeholder 2">
            <a:extLst>
              <a:ext uri="{FF2B5EF4-FFF2-40B4-BE49-F238E27FC236}">
                <a16:creationId xmlns:a16="http://schemas.microsoft.com/office/drawing/2014/main" id="{5B7A0739-5885-A88C-F160-E34C1A2095F3}"/>
              </a:ext>
            </a:extLst>
          </p:cNvPr>
          <p:cNvSpPr>
            <a:spLocks noGrp="1"/>
          </p:cNvSpPr>
          <p:nvPr>
            <p:ph idx="10"/>
          </p:nvPr>
        </p:nvSpPr>
        <p:spPr/>
        <p:txBody>
          <a:bodyPr/>
          <a:lstStyle/>
          <a:p>
            <a:r>
              <a:rPr lang="en-US"/>
              <a:t>The activations of a pruned model are similar to the original model.</a:t>
            </a:r>
          </a:p>
          <a:p>
            <a:endParaRPr lang="en-US"/>
          </a:p>
          <a:p>
            <a:r>
              <a:rPr lang="en-US"/>
              <a:t>IMP minimally perturbs activation patterns throughout pruning.</a:t>
            </a:r>
          </a:p>
        </p:txBody>
      </p:sp>
      <p:pic>
        <p:nvPicPr>
          <p:cNvPr id="5" name="Graphic 4">
            <a:extLst>
              <a:ext uri="{FF2B5EF4-FFF2-40B4-BE49-F238E27FC236}">
                <a16:creationId xmlns:a16="http://schemas.microsoft.com/office/drawing/2014/main" id="{242E5CB8-6FC3-0A81-CCDC-B7CAA8ACACFC}"/>
              </a:ext>
            </a:extLst>
          </p:cNvPr>
          <p:cNvPicPr>
            <a:picLocks noChangeAspect="1"/>
          </p:cNvPicPr>
          <p:nvPr/>
        </p:nvPicPr>
        <p:blipFill>
          <a:blip r:embed="rId2">
            <a:extLst>
              <a:ext uri="{96DAC541-7B7A-43D3-8B79-37D633B846F1}">
                <asvg:svgBlip xmlns:asvg="http://schemas.microsoft.com/office/drawing/2016/SVG/main" r:embed="rId3"/>
              </a:ext>
            </a:extLst>
          </a:blip>
          <a:srcRect r="47930" b="53819"/>
          <a:stretch>
            <a:fillRect/>
          </a:stretch>
        </p:blipFill>
        <p:spPr>
          <a:xfrm>
            <a:off x="1963617" y="1456224"/>
            <a:ext cx="8229288" cy="4086669"/>
          </a:xfrm>
          <a:prstGeom prst="rect">
            <a:avLst/>
          </a:prstGeom>
        </p:spPr>
      </p:pic>
      <p:sp>
        <p:nvSpPr>
          <p:cNvPr id="4" name="Arrow: Right 3">
            <a:extLst>
              <a:ext uri="{FF2B5EF4-FFF2-40B4-BE49-F238E27FC236}">
                <a16:creationId xmlns:a16="http://schemas.microsoft.com/office/drawing/2014/main" id="{46201B86-463C-6D5D-4370-3EBBC4112801}"/>
              </a:ext>
            </a:extLst>
          </p:cNvPr>
          <p:cNvSpPr/>
          <p:nvPr/>
        </p:nvSpPr>
        <p:spPr>
          <a:xfrm>
            <a:off x="3026980" y="5689440"/>
            <a:ext cx="6390289"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D0E7FBF-EAF9-FEC3-F7D5-066ABDB2D7AA}"/>
              </a:ext>
            </a:extLst>
          </p:cNvPr>
          <p:cNvSpPr txBox="1"/>
          <p:nvPr/>
        </p:nvSpPr>
        <p:spPr>
          <a:xfrm>
            <a:off x="9417269" y="5689440"/>
            <a:ext cx="2081049" cy="307777"/>
          </a:xfrm>
          <a:prstGeom prst="rect">
            <a:avLst/>
          </a:prstGeom>
          <a:noFill/>
        </p:spPr>
        <p:txBody>
          <a:bodyPr wrap="square" rtlCol="0">
            <a:spAutoFit/>
          </a:bodyPr>
          <a:lstStyle/>
          <a:p>
            <a:r>
              <a:rPr lang="en-US" sz="1400"/>
              <a:t>High sparsity</a:t>
            </a:r>
          </a:p>
        </p:txBody>
      </p:sp>
      <p:sp>
        <p:nvSpPr>
          <p:cNvPr id="7" name="TextBox 6">
            <a:extLst>
              <a:ext uri="{FF2B5EF4-FFF2-40B4-BE49-F238E27FC236}">
                <a16:creationId xmlns:a16="http://schemas.microsoft.com/office/drawing/2014/main" id="{D3C34FDD-BE8A-BBB3-10C3-411835261DBE}"/>
              </a:ext>
            </a:extLst>
          </p:cNvPr>
          <p:cNvSpPr txBox="1"/>
          <p:nvPr/>
        </p:nvSpPr>
        <p:spPr>
          <a:xfrm>
            <a:off x="1760637" y="5660863"/>
            <a:ext cx="2081049" cy="307777"/>
          </a:xfrm>
          <a:prstGeom prst="rect">
            <a:avLst/>
          </a:prstGeom>
          <a:noFill/>
        </p:spPr>
        <p:txBody>
          <a:bodyPr wrap="square" rtlCol="0">
            <a:spAutoFit/>
          </a:bodyPr>
          <a:lstStyle/>
          <a:p>
            <a:r>
              <a:rPr lang="en-US" sz="1400"/>
              <a:t>Low sparsity</a:t>
            </a:r>
          </a:p>
        </p:txBody>
      </p:sp>
      <p:sp>
        <p:nvSpPr>
          <p:cNvPr id="8" name="Arrow: Right 7">
            <a:extLst>
              <a:ext uri="{FF2B5EF4-FFF2-40B4-BE49-F238E27FC236}">
                <a16:creationId xmlns:a16="http://schemas.microsoft.com/office/drawing/2014/main" id="{B877390B-F39F-C2F4-64B2-0254B790EA03}"/>
              </a:ext>
            </a:extLst>
          </p:cNvPr>
          <p:cNvSpPr/>
          <p:nvPr/>
        </p:nvSpPr>
        <p:spPr>
          <a:xfrm rot="16200000">
            <a:off x="318462" y="3282979"/>
            <a:ext cx="2279193"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94B366-0B9E-915A-9AEB-C59B60E85E1A}"/>
              </a:ext>
            </a:extLst>
          </p:cNvPr>
          <p:cNvSpPr txBox="1"/>
          <p:nvPr/>
        </p:nvSpPr>
        <p:spPr>
          <a:xfrm>
            <a:off x="417532" y="4583237"/>
            <a:ext cx="2081049" cy="523220"/>
          </a:xfrm>
          <a:prstGeom prst="rect">
            <a:avLst/>
          </a:prstGeom>
          <a:noFill/>
        </p:spPr>
        <p:txBody>
          <a:bodyPr wrap="square" rtlCol="0">
            <a:spAutoFit/>
          </a:bodyPr>
          <a:lstStyle/>
          <a:p>
            <a:pPr algn="ctr"/>
            <a:r>
              <a:rPr lang="en-US" sz="1400"/>
              <a:t>Low </a:t>
            </a:r>
          </a:p>
          <a:p>
            <a:pPr algn="ctr"/>
            <a:r>
              <a:rPr lang="en-US" sz="1400"/>
              <a:t>similarity</a:t>
            </a:r>
          </a:p>
        </p:txBody>
      </p:sp>
      <p:sp>
        <p:nvSpPr>
          <p:cNvPr id="10" name="TextBox 9">
            <a:extLst>
              <a:ext uri="{FF2B5EF4-FFF2-40B4-BE49-F238E27FC236}">
                <a16:creationId xmlns:a16="http://schemas.microsoft.com/office/drawing/2014/main" id="{F564DB48-BAA8-E3A5-10A2-32F1473A97CE}"/>
              </a:ext>
            </a:extLst>
          </p:cNvPr>
          <p:cNvSpPr txBox="1"/>
          <p:nvPr/>
        </p:nvSpPr>
        <p:spPr>
          <a:xfrm>
            <a:off x="417532" y="1751543"/>
            <a:ext cx="2081049" cy="523220"/>
          </a:xfrm>
          <a:prstGeom prst="rect">
            <a:avLst/>
          </a:prstGeom>
          <a:noFill/>
        </p:spPr>
        <p:txBody>
          <a:bodyPr wrap="square" rtlCol="0">
            <a:spAutoFit/>
          </a:bodyPr>
          <a:lstStyle/>
          <a:p>
            <a:pPr algn="ctr"/>
            <a:r>
              <a:rPr lang="en-US" sz="1400"/>
              <a:t>High </a:t>
            </a:r>
          </a:p>
          <a:p>
            <a:pPr algn="ctr"/>
            <a:r>
              <a:rPr lang="en-US" sz="1400"/>
              <a:t>similarity</a:t>
            </a:r>
          </a:p>
        </p:txBody>
      </p:sp>
      <p:sp>
        <p:nvSpPr>
          <p:cNvPr id="11" name="Slide Number Placeholder 10">
            <a:extLst>
              <a:ext uri="{FF2B5EF4-FFF2-40B4-BE49-F238E27FC236}">
                <a16:creationId xmlns:a16="http://schemas.microsoft.com/office/drawing/2014/main" id="{B8334A6E-A36F-76A7-A2AC-4BB1EE955DE1}"/>
              </a:ext>
            </a:extLst>
          </p:cNvPr>
          <p:cNvSpPr>
            <a:spLocks noGrp="1"/>
          </p:cNvSpPr>
          <p:nvPr>
            <p:ph type="sldNum" sz="quarter" idx="11"/>
          </p:nvPr>
        </p:nvSpPr>
        <p:spPr/>
        <p:txBody>
          <a:bodyPr/>
          <a:lstStyle/>
          <a:p>
            <a:fld id="{C6684DFB-8BCD-4B6F-9AA1-83F3BA61DF41}" type="slidenum">
              <a:rPr lang="en-US" smtClean="0"/>
              <a:pPr/>
              <a:t>24</a:t>
            </a:fld>
            <a:endParaRPr lang="en-US"/>
          </a:p>
        </p:txBody>
      </p:sp>
    </p:spTree>
    <p:extLst>
      <p:ext uri="{BB962C8B-B14F-4D97-AF65-F5344CB8AC3E}">
        <p14:creationId xmlns:p14="http://schemas.microsoft.com/office/powerpoint/2010/main" val="185969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uiExpand="1" build="p"/>
      <p:bldP spid="4" grpId="0" animBg="1"/>
      <p:bldP spid="6" grpId="0"/>
      <p:bldP spid="7" grpId="0"/>
      <p:bldP spid="8" grpId="0" animBg="1"/>
      <p:bldP spid="9" grpId="0"/>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4378E-0B45-1F42-4242-8E125B1832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3D9CA-57E1-96A5-50C4-F552AD74C158}"/>
              </a:ext>
            </a:extLst>
          </p:cNvPr>
          <p:cNvSpPr>
            <a:spLocks noGrp="1"/>
          </p:cNvSpPr>
          <p:nvPr>
            <p:ph type="title"/>
          </p:nvPr>
        </p:nvSpPr>
        <p:spPr>
          <a:xfrm>
            <a:off x="-164387" y="404918"/>
            <a:ext cx="11729544" cy="869089"/>
          </a:xfrm>
        </p:spPr>
        <p:txBody>
          <a:bodyPr>
            <a:noAutofit/>
          </a:bodyPr>
          <a:lstStyle/>
          <a:p>
            <a:pPr marL="457200" lvl="1" indent="0" algn="l">
              <a:buNone/>
            </a:pPr>
            <a:r>
              <a:rPr lang="en-US" sz="3200" b="1" dirty="0"/>
              <a:t>What internal changes occur when networks are pruned?</a:t>
            </a:r>
          </a:p>
        </p:txBody>
      </p:sp>
      <p:sp>
        <p:nvSpPr>
          <p:cNvPr id="3" name="Content Placeholder 2">
            <a:extLst>
              <a:ext uri="{FF2B5EF4-FFF2-40B4-BE49-F238E27FC236}">
                <a16:creationId xmlns:a16="http://schemas.microsoft.com/office/drawing/2014/main" id="{1C578B0A-CDAB-30F9-8A90-B6708022E3D2}"/>
              </a:ext>
            </a:extLst>
          </p:cNvPr>
          <p:cNvSpPr>
            <a:spLocks noGrp="1"/>
          </p:cNvSpPr>
          <p:nvPr>
            <p:ph idx="10"/>
          </p:nvPr>
        </p:nvSpPr>
        <p:spPr/>
        <p:txBody>
          <a:bodyPr>
            <a:normAutofit/>
          </a:bodyPr>
          <a:lstStyle/>
          <a:p>
            <a:r>
              <a:rPr lang="en-US"/>
              <a:t>How does unstructured pruning redistribute weights across layers/Neurons?</a:t>
            </a:r>
          </a:p>
          <a:p>
            <a:pPr lvl="1"/>
            <a:r>
              <a:rPr lang="en-US"/>
              <a:t>Deeper layers get pruned more.</a:t>
            </a:r>
          </a:p>
          <a:p>
            <a:r>
              <a:rPr lang="en-US"/>
              <a:t>Do neurons get effectively removed?</a:t>
            </a:r>
          </a:p>
          <a:p>
            <a:pPr lvl="1"/>
            <a:r>
              <a:rPr lang="en-US"/>
              <a:t>No, there always exists some small weights.</a:t>
            </a:r>
          </a:p>
          <a:p>
            <a:r>
              <a:rPr lang="en-US"/>
              <a:t>How important are the remaining Neurons?</a:t>
            </a:r>
          </a:p>
          <a:p>
            <a:pPr lvl="1"/>
            <a:r>
              <a:rPr lang="en-US"/>
              <a:t>Increase in importance as you go deeper into the network.</a:t>
            </a:r>
          </a:p>
          <a:p>
            <a:r>
              <a:rPr lang="en-US"/>
              <a:t>How stable are activations and representations under pruning?</a:t>
            </a:r>
          </a:p>
          <a:p>
            <a:pPr lvl="1"/>
            <a:r>
              <a:rPr lang="en-US"/>
              <a:t>Front layers have the highest feature similarity.</a:t>
            </a:r>
          </a:p>
          <a:p>
            <a:endParaRPr lang="en-US"/>
          </a:p>
        </p:txBody>
      </p:sp>
      <p:sp>
        <p:nvSpPr>
          <p:cNvPr id="4" name="Slide Number Placeholder 3">
            <a:extLst>
              <a:ext uri="{FF2B5EF4-FFF2-40B4-BE49-F238E27FC236}">
                <a16:creationId xmlns:a16="http://schemas.microsoft.com/office/drawing/2014/main" id="{B0197867-3888-C2DF-44E6-0647816B7A56}"/>
              </a:ext>
            </a:extLst>
          </p:cNvPr>
          <p:cNvSpPr>
            <a:spLocks noGrp="1"/>
          </p:cNvSpPr>
          <p:nvPr>
            <p:ph type="sldNum" sz="quarter" idx="11"/>
          </p:nvPr>
        </p:nvSpPr>
        <p:spPr/>
        <p:txBody>
          <a:bodyPr/>
          <a:lstStyle/>
          <a:p>
            <a:fld id="{C6684DFB-8BCD-4B6F-9AA1-83F3BA61DF41}" type="slidenum">
              <a:rPr lang="en-US" smtClean="0"/>
              <a:pPr/>
              <a:t>25</a:t>
            </a:fld>
            <a:endParaRPr lang="en-US"/>
          </a:p>
        </p:txBody>
      </p:sp>
    </p:spTree>
    <p:extLst>
      <p:ext uri="{BB962C8B-B14F-4D97-AF65-F5344CB8AC3E}">
        <p14:creationId xmlns:p14="http://schemas.microsoft.com/office/powerpoint/2010/main" val="277892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FF8FB-9A13-4D46-448C-2BA13B8638A4}"/>
              </a:ext>
            </a:extLst>
          </p:cNvPr>
          <p:cNvSpPr>
            <a:spLocks noGrp="1"/>
          </p:cNvSpPr>
          <p:nvPr>
            <p:ph type="title"/>
          </p:nvPr>
        </p:nvSpPr>
        <p:spPr/>
        <p:txBody>
          <a:bodyPr>
            <a:normAutofit/>
          </a:bodyPr>
          <a:lstStyle/>
          <a:p>
            <a:r>
              <a:rPr lang="en-US" dirty="0"/>
              <a:t>Pillar 1: Conclusion</a:t>
            </a:r>
          </a:p>
        </p:txBody>
      </p:sp>
      <p:sp>
        <p:nvSpPr>
          <p:cNvPr id="3" name="Content Placeholder 2">
            <a:extLst>
              <a:ext uri="{FF2B5EF4-FFF2-40B4-BE49-F238E27FC236}">
                <a16:creationId xmlns:a16="http://schemas.microsoft.com/office/drawing/2014/main" id="{7E22FBD9-8392-E206-E02A-D28032D69F90}"/>
              </a:ext>
            </a:extLst>
          </p:cNvPr>
          <p:cNvSpPr>
            <a:spLocks noGrp="1"/>
          </p:cNvSpPr>
          <p:nvPr>
            <p:ph idx="10"/>
          </p:nvPr>
        </p:nvSpPr>
        <p:spPr/>
        <p:txBody>
          <a:bodyPr>
            <a:normAutofit/>
          </a:bodyPr>
          <a:lstStyle/>
          <a:p>
            <a:r>
              <a:rPr lang="en-US" dirty="0"/>
              <a:t>IMP creates a surprising amount of internal structure</a:t>
            </a:r>
          </a:p>
          <a:p>
            <a:pPr lvl="1"/>
            <a:r>
              <a:rPr lang="en-US" dirty="0"/>
              <a:t>Preferential pruning of deep layers, preservation of feature representations. </a:t>
            </a:r>
          </a:p>
          <a:p>
            <a:pPr lvl="1"/>
            <a:endParaRPr lang="en-US" dirty="0"/>
          </a:p>
          <a:p>
            <a:r>
              <a:rPr lang="en-US" dirty="0"/>
              <a:t>We can reach around 93% sparsity without drop in accuracy, but it is difficult to take advantage of the sparsity</a:t>
            </a:r>
          </a:p>
          <a:p>
            <a:endParaRPr lang="en-US" dirty="0"/>
          </a:p>
          <a:p>
            <a:pPr marL="0" indent="0">
              <a:buNone/>
            </a:pPr>
            <a:r>
              <a:rPr lang="en-US" dirty="0"/>
              <a:t>Under review to the Journal of Applied Intelligence</a:t>
            </a:r>
          </a:p>
          <a:p>
            <a:endParaRPr lang="en-US" dirty="0"/>
          </a:p>
        </p:txBody>
      </p:sp>
      <p:sp>
        <p:nvSpPr>
          <p:cNvPr id="4" name="Slide Number Placeholder 3">
            <a:extLst>
              <a:ext uri="{FF2B5EF4-FFF2-40B4-BE49-F238E27FC236}">
                <a16:creationId xmlns:a16="http://schemas.microsoft.com/office/drawing/2014/main" id="{4FDBE560-5ACF-1AB4-6592-CB996F8C01BA}"/>
              </a:ext>
            </a:extLst>
          </p:cNvPr>
          <p:cNvSpPr>
            <a:spLocks noGrp="1"/>
          </p:cNvSpPr>
          <p:nvPr>
            <p:ph type="sldNum" sz="quarter" idx="11"/>
          </p:nvPr>
        </p:nvSpPr>
        <p:spPr/>
        <p:txBody>
          <a:bodyPr/>
          <a:lstStyle/>
          <a:p>
            <a:fld id="{C6684DFB-8BCD-4B6F-9AA1-83F3BA61DF41}" type="slidenum">
              <a:rPr lang="en-US" smtClean="0"/>
              <a:pPr/>
              <a:t>26</a:t>
            </a:fld>
            <a:endParaRPr lang="en-US"/>
          </a:p>
        </p:txBody>
      </p:sp>
      <p:sp>
        <p:nvSpPr>
          <p:cNvPr id="17" name="TextBox 16">
            <a:extLst>
              <a:ext uri="{FF2B5EF4-FFF2-40B4-BE49-F238E27FC236}">
                <a16:creationId xmlns:a16="http://schemas.microsoft.com/office/drawing/2014/main" id="{9EF98021-3D95-263E-898B-29BB5272964D}"/>
              </a:ext>
            </a:extLst>
          </p:cNvPr>
          <p:cNvSpPr txBox="1"/>
          <p:nvPr/>
        </p:nvSpPr>
        <p:spPr>
          <a:xfrm>
            <a:off x="2388283" y="5943600"/>
            <a:ext cx="9097212" cy="523220"/>
          </a:xfrm>
          <a:prstGeom prst="rect">
            <a:avLst/>
          </a:prstGeom>
          <a:noFill/>
        </p:spPr>
        <p:txBody>
          <a:bodyPr wrap="square">
            <a:spAutoFit/>
          </a:bodyPr>
          <a:lstStyle/>
          <a:p>
            <a:r>
              <a:rPr lang="en-US" sz="1400" dirty="0"/>
              <a:t>This work was authored by the National Renewable Energy Laboratory for the U.S. Department of Energy (DOE) under Contract No. DE-AC36-08GO28308.</a:t>
            </a:r>
          </a:p>
        </p:txBody>
      </p:sp>
    </p:spTree>
    <p:extLst>
      <p:ext uri="{BB962C8B-B14F-4D97-AF65-F5344CB8AC3E}">
        <p14:creationId xmlns:p14="http://schemas.microsoft.com/office/powerpoint/2010/main" val="3026152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F3339-F177-99F8-F0A4-53FF37852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597755-E839-0C62-43DB-2C587770D1D3}"/>
              </a:ext>
            </a:extLst>
          </p:cNvPr>
          <p:cNvSpPr>
            <a:spLocks noGrp="1"/>
          </p:cNvSpPr>
          <p:nvPr>
            <p:ph type="title"/>
          </p:nvPr>
        </p:nvSpPr>
        <p:spPr>
          <a:xfrm>
            <a:off x="952500" y="718876"/>
            <a:ext cx="10287000" cy="1331865"/>
          </a:xfrm>
        </p:spPr>
        <p:txBody>
          <a:bodyPr/>
          <a:lstStyle/>
          <a:p>
            <a:r>
              <a:rPr lang="en-US"/>
              <a:t>Motivation</a:t>
            </a:r>
          </a:p>
        </p:txBody>
      </p:sp>
      <p:sp>
        <p:nvSpPr>
          <p:cNvPr id="3" name="Content Placeholder 2">
            <a:extLst>
              <a:ext uri="{FF2B5EF4-FFF2-40B4-BE49-F238E27FC236}">
                <a16:creationId xmlns:a16="http://schemas.microsoft.com/office/drawing/2014/main" id="{0AB5E402-AD00-B5E9-EEA9-597F905D8048}"/>
              </a:ext>
            </a:extLst>
          </p:cNvPr>
          <p:cNvSpPr>
            <a:spLocks noGrp="1"/>
          </p:cNvSpPr>
          <p:nvPr>
            <p:ph idx="1"/>
          </p:nvPr>
        </p:nvSpPr>
        <p:spPr/>
        <p:txBody>
          <a:bodyPr>
            <a:normAutofit lnSpcReduction="10000"/>
          </a:bodyPr>
          <a:lstStyle/>
          <a:p>
            <a:r>
              <a:rPr lang="en-US" dirty="0"/>
              <a:t>How do we make these pruned models’ resource efficient?</a:t>
            </a:r>
          </a:p>
          <a:p>
            <a:endParaRPr lang="en-US" dirty="0"/>
          </a:p>
          <a:p>
            <a:r>
              <a:rPr lang="en-US" dirty="0"/>
              <a:t>Given what we know:</a:t>
            </a:r>
          </a:p>
          <a:p>
            <a:pPr lvl="1"/>
            <a:r>
              <a:rPr lang="en-US" dirty="0"/>
              <a:t>Unequal distribution of sparsity (tail end being more sparse)</a:t>
            </a:r>
          </a:p>
          <a:p>
            <a:pPr lvl="2"/>
            <a:r>
              <a:rPr lang="en-US" dirty="0"/>
              <a:t>Specialized software will not work on the whole model</a:t>
            </a:r>
          </a:p>
          <a:p>
            <a:pPr lvl="1"/>
            <a:r>
              <a:rPr lang="en-US" dirty="0"/>
              <a:t>With no orphaned Neurons</a:t>
            </a:r>
          </a:p>
          <a:p>
            <a:pPr lvl="2"/>
            <a:r>
              <a:rPr lang="en-US" dirty="0"/>
              <a:t>We are not saving memory</a:t>
            </a:r>
          </a:p>
          <a:p>
            <a:pPr marL="0" indent="0">
              <a:buNone/>
            </a:pPr>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CF07B39F-CDD5-D6CA-B20D-65E50A7688D6}"/>
              </a:ext>
            </a:extLst>
          </p:cNvPr>
          <p:cNvSpPr>
            <a:spLocks noGrp="1"/>
          </p:cNvSpPr>
          <p:nvPr>
            <p:ph type="sldNum" sz="quarter" idx="10"/>
          </p:nvPr>
        </p:nvSpPr>
        <p:spPr/>
        <p:txBody>
          <a:bodyPr/>
          <a:lstStyle/>
          <a:p>
            <a:fld id="{C6684DFB-8BCD-4B6F-9AA1-83F3BA61DF41}" type="slidenum">
              <a:rPr lang="en-US" smtClean="0"/>
              <a:pPr/>
              <a:t>27</a:t>
            </a:fld>
            <a:endParaRPr lang="en-US"/>
          </a:p>
        </p:txBody>
      </p:sp>
    </p:spTree>
    <p:extLst>
      <p:ext uri="{BB962C8B-B14F-4D97-AF65-F5344CB8AC3E}">
        <p14:creationId xmlns:p14="http://schemas.microsoft.com/office/powerpoint/2010/main" val="387106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0DDA9-4E30-396C-B68D-36A3A92C56F3}"/>
              </a:ext>
            </a:extLst>
          </p:cNvPr>
          <p:cNvSpPr>
            <a:spLocks noGrp="1"/>
          </p:cNvSpPr>
          <p:nvPr>
            <p:ph type="title"/>
          </p:nvPr>
        </p:nvSpPr>
        <p:spPr/>
        <p:txBody>
          <a:bodyPr/>
          <a:lstStyle/>
          <a:p>
            <a:r>
              <a:rPr lang="en-US" dirty="0">
                <a:latin typeface="Roboto"/>
                <a:ea typeface="Roboto"/>
                <a:cs typeface="Arial"/>
              </a:rPr>
              <a:t>Network Optimization</a:t>
            </a:r>
          </a:p>
        </p:txBody>
      </p:sp>
      <p:sp>
        <p:nvSpPr>
          <p:cNvPr id="3" name="Content Placeholder 2">
            <a:extLst>
              <a:ext uri="{FF2B5EF4-FFF2-40B4-BE49-F238E27FC236}">
                <a16:creationId xmlns:a16="http://schemas.microsoft.com/office/drawing/2014/main" id="{A4938098-F041-A598-9174-3EC2D14B4E3E}"/>
              </a:ext>
            </a:extLst>
          </p:cNvPr>
          <p:cNvSpPr>
            <a:spLocks noGrp="1"/>
          </p:cNvSpPr>
          <p:nvPr>
            <p:ph idx="1"/>
          </p:nvPr>
        </p:nvSpPr>
        <p:spPr/>
        <p:txBody>
          <a:bodyPr vert="horz" lIns="0" tIns="0" rIns="0" bIns="0" rtlCol="0" anchor="t">
            <a:normAutofit/>
          </a:bodyPr>
          <a:lstStyle/>
          <a:p>
            <a:r>
              <a:rPr lang="en-US" dirty="0">
                <a:latin typeface="Roboto"/>
                <a:ea typeface="Roboto"/>
                <a:cs typeface="Arial"/>
              </a:rPr>
              <a:t>The problem: Modern CNN’s maximize accuracy through extreme depth, creating massive sequential overhead</a:t>
            </a:r>
          </a:p>
          <a:p>
            <a:endParaRPr lang="en-US" dirty="0"/>
          </a:p>
          <a:p>
            <a:r>
              <a:rPr lang="en-US" dirty="0">
                <a:latin typeface="Roboto"/>
                <a:ea typeface="Roboto"/>
                <a:cs typeface="Arial"/>
              </a:rPr>
              <a:t>Limitations: Traditional pruning reduces weights, but ignores structure.</a:t>
            </a:r>
          </a:p>
        </p:txBody>
      </p:sp>
      <p:sp>
        <p:nvSpPr>
          <p:cNvPr id="4" name="Slide Number Placeholder 3">
            <a:extLst>
              <a:ext uri="{FF2B5EF4-FFF2-40B4-BE49-F238E27FC236}">
                <a16:creationId xmlns:a16="http://schemas.microsoft.com/office/drawing/2014/main" id="{8B8F6FF3-8D80-CAFD-ADAC-F2CF22CF4EEC}"/>
              </a:ext>
            </a:extLst>
          </p:cNvPr>
          <p:cNvSpPr>
            <a:spLocks noGrp="1"/>
          </p:cNvSpPr>
          <p:nvPr>
            <p:ph type="sldNum" sz="quarter" idx="10"/>
          </p:nvPr>
        </p:nvSpPr>
        <p:spPr/>
        <p:txBody>
          <a:bodyPr/>
          <a:lstStyle/>
          <a:p>
            <a:fld id="{C6684DFB-8BCD-4B6F-9AA1-83F3BA61DF41}" type="slidenum">
              <a:rPr lang="en-US" smtClean="0"/>
              <a:pPr/>
              <a:t>28</a:t>
            </a:fld>
            <a:endParaRPr lang="en-US"/>
          </a:p>
        </p:txBody>
      </p:sp>
    </p:spTree>
    <p:extLst>
      <p:ext uri="{BB962C8B-B14F-4D97-AF65-F5344CB8AC3E}">
        <p14:creationId xmlns:p14="http://schemas.microsoft.com/office/powerpoint/2010/main" val="7375678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6D0BC-CFD3-9661-6083-F59CB1CEBA50}"/>
              </a:ext>
            </a:extLst>
          </p:cNvPr>
          <p:cNvSpPr>
            <a:spLocks noGrp="1"/>
          </p:cNvSpPr>
          <p:nvPr>
            <p:ph type="title"/>
          </p:nvPr>
        </p:nvSpPr>
        <p:spPr/>
        <p:txBody>
          <a:bodyPr/>
          <a:lstStyle/>
          <a:p>
            <a:r>
              <a:rPr lang="en-US" dirty="0"/>
              <a:t>Definitions</a:t>
            </a:r>
          </a:p>
        </p:txBody>
      </p:sp>
      <p:sp>
        <p:nvSpPr>
          <p:cNvPr id="3" name="Content Placeholder 2">
            <a:extLst>
              <a:ext uri="{FF2B5EF4-FFF2-40B4-BE49-F238E27FC236}">
                <a16:creationId xmlns:a16="http://schemas.microsoft.com/office/drawing/2014/main" id="{ECF96AB9-AD8C-199A-BBAF-F33A69F4013E}"/>
              </a:ext>
            </a:extLst>
          </p:cNvPr>
          <p:cNvSpPr>
            <a:spLocks noGrp="1"/>
          </p:cNvSpPr>
          <p:nvPr>
            <p:ph idx="1"/>
          </p:nvPr>
        </p:nvSpPr>
        <p:spPr/>
        <p:txBody>
          <a:bodyPr/>
          <a:lstStyle/>
          <a:p>
            <a:r>
              <a:rPr lang="en-US" dirty="0"/>
              <a:t>Diminishing Depth Return: When adjacent layers contribute negligibly to the overall accuracy.</a:t>
            </a:r>
          </a:p>
          <a:p>
            <a:r>
              <a:rPr lang="en-US" dirty="0"/>
              <a:t>Resource Utilization: FLOP’s, Latency, Memory</a:t>
            </a:r>
          </a:p>
          <a:p>
            <a:r>
              <a:rPr lang="en-US" dirty="0"/>
              <a:t>Center Kernel Alignment: A metric used in machine learning to compare the similarity between two different feature representations for the same set of data points.</a:t>
            </a:r>
          </a:p>
          <a:p>
            <a:endParaRPr lang="en-US" dirty="0"/>
          </a:p>
        </p:txBody>
      </p:sp>
      <p:sp>
        <p:nvSpPr>
          <p:cNvPr id="4" name="Slide Number Placeholder 3">
            <a:extLst>
              <a:ext uri="{FF2B5EF4-FFF2-40B4-BE49-F238E27FC236}">
                <a16:creationId xmlns:a16="http://schemas.microsoft.com/office/drawing/2014/main" id="{C2660FCD-4955-E878-9388-0A2D32458317}"/>
              </a:ext>
            </a:extLst>
          </p:cNvPr>
          <p:cNvSpPr>
            <a:spLocks noGrp="1"/>
          </p:cNvSpPr>
          <p:nvPr>
            <p:ph type="sldNum" sz="quarter" idx="10"/>
          </p:nvPr>
        </p:nvSpPr>
        <p:spPr/>
        <p:txBody>
          <a:bodyPr/>
          <a:lstStyle/>
          <a:p>
            <a:fld id="{C6684DFB-8BCD-4B6F-9AA1-83F3BA61DF41}" type="slidenum">
              <a:rPr lang="en-US" smtClean="0"/>
              <a:pPr/>
              <a:t>29</a:t>
            </a:fld>
            <a:endParaRPr lang="en-US"/>
          </a:p>
        </p:txBody>
      </p:sp>
    </p:spTree>
    <p:extLst>
      <p:ext uri="{BB962C8B-B14F-4D97-AF65-F5344CB8AC3E}">
        <p14:creationId xmlns:p14="http://schemas.microsoft.com/office/powerpoint/2010/main" val="36115683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6049A-84C5-C90B-AFD2-223A53299428}"/>
              </a:ext>
            </a:extLst>
          </p:cNvPr>
          <p:cNvSpPr>
            <a:spLocks noGrp="1"/>
          </p:cNvSpPr>
          <p:nvPr>
            <p:ph type="title"/>
          </p:nvPr>
        </p:nvSpPr>
        <p:spPr/>
        <p:txBody>
          <a:bodyPr/>
          <a:lstStyle/>
          <a:p>
            <a:r>
              <a:rPr lang="en-US" dirty="0"/>
              <a:t>Layer-by-Layer (LBL) Collapse</a:t>
            </a:r>
          </a:p>
        </p:txBody>
      </p:sp>
      <p:sp>
        <p:nvSpPr>
          <p:cNvPr id="4" name="Slide Number Placeholder 3">
            <a:extLst>
              <a:ext uri="{FF2B5EF4-FFF2-40B4-BE49-F238E27FC236}">
                <a16:creationId xmlns:a16="http://schemas.microsoft.com/office/drawing/2014/main" id="{D03A09D1-9EBD-22CB-01F7-055FB7C1EA57}"/>
              </a:ext>
            </a:extLst>
          </p:cNvPr>
          <p:cNvSpPr>
            <a:spLocks noGrp="1"/>
          </p:cNvSpPr>
          <p:nvPr>
            <p:ph type="sldNum" sz="quarter" idx="10"/>
          </p:nvPr>
        </p:nvSpPr>
        <p:spPr/>
        <p:txBody>
          <a:bodyPr/>
          <a:lstStyle/>
          <a:p>
            <a:fld id="{C6684DFB-8BCD-4B6F-9AA1-83F3BA61DF41}" type="slidenum">
              <a:rPr lang="en-US" smtClean="0"/>
              <a:pPr/>
              <a:t>30</a:t>
            </a:fld>
            <a:endParaRPr lang="en-US" dirty="0"/>
          </a:p>
        </p:txBody>
      </p:sp>
      <p:pic>
        <p:nvPicPr>
          <p:cNvPr id="6" name="Picture 5">
            <a:extLst>
              <a:ext uri="{FF2B5EF4-FFF2-40B4-BE49-F238E27FC236}">
                <a16:creationId xmlns:a16="http://schemas.microsoft.com/office/drawing/2014/main" id="{092B5CC7-D7F8-8B22-0415-9A6BDD0DA53C}"/>
              </a:ext>
            </a:extLst>
          </p:cNvPr>
          <p:cNvPicPr>
            <a:picLocks noChangeAspect="1"/>
          </p:cNvPicPr>
          <p:nvPr/>
        </p:nvPicPr>
        <p:blipFill>
          <a:blip r:embed="rId2"/>
          <a:srcRect r="61678"/>
          <a:stretch>
            <a:fillRect/>
          </a:stretch>
        </p:blipFill>
        <p:spPr>
          <a:xfrm>
            <a:off x="6279609" y="1546913"/>
            <a:ext cx="2572160" cy="2527326"/>
          </a:xfrm>
          <a:prstGeom prst="rect">
            <a:avLst/>
          </a:prstGeom>
        </p:spPr>
      </p:pic>
      <p:pic>
        <p:nvPicPr>
          <p:cNvPr id="8" name="Picture 7">
            <a:extLst>
              <a:ext uri="{FF2B5EF4-FFF2-40B4-BE49-F238E27FC236}">
                <a16:creationId xmlns:a16="http://schemas.microsoft.com/office/drawing/2014/main" id="{14148C18-E838-C04A-C603-E6A17BC74F29}"/>
              </a:ext>
            </a:extLst>
          </p:cNvPr>
          <p:cNvPicPr>
            <a:picLocks noChangeAspect="1"/>
          </p:cNvPicPr>
          <p:nvPr/>
        </p:nvPicPr>
        <p:blipFill>
          <a:blip r:embed="rId3"/>
          <a:stretch>
            <a:fillRect/>
          </a:stretch>
        </p:blipFill>
        <p:spPr>
          <a:xfrm>
            <a:off x="4790175" y="4645134"/>
            <a:ext cx="6792544" cy="1064502"/>
          </a:xfrm>
          <a:prstGeom prst="rect">
            <a:avLst/>
          </a:prstGeom>
        </p:spPr>
      </p:pic>
      <p:sp>
        <p:nvSpPr>
          <p:cNvPr id="9" name="Rectangle 8">
            <a:extLst>
              <a:ext uri="{FF2B5EF4-FFF2-40B4-BE49-F238E27FC236}">
                <a16:creationId xmlns:a16="http://schemas.microsoft.com/office/drawing/2014/main" id="{6F227090-C0D3-8156-21E4-687E5F48FA33}"/>
              </a:ext>
            </a:extLst>
          </p:cNvPr>
          <p:cNvSpPr/>
          <p:nvPr/>
        </p:nvSpPr>
        <p:spPr>
          <a:xfrm>
            <a:off x="6096000" y="1480008"/>
            <a:ext cx="5656446" cy="259423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7079D4-2517-FA11-0D26-F5B8402438C6}"/>
              </a:ext>
            </a:extLst>
          </p:cNvPr>
          <p:cNvSpPr/>
          <p:nvPr/>
        </p:nvSpPr>
        <p:spPr>
          <a:xfrm>
            <a:off x="4716379" y="4377285"/>
            <a:ext cx="7036067" cy="160020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9A96818-B00C-1222-541E-0E27606E18F9}"/>
              </a:ext>
            </a:extLst>
          </p:cNvPr>
          <p:cNvPicPr>
            <a:picLocks noChangeAspect="1"/>
          </p:cNvPicPr>
          <p:nvPr/>
        </p:nvPicPr>
        <p:blipFill>
          <a:blip r:embed="rId2"/>
          <a:srcRect l="80914" t="9023" b="9664"/>
          <a:stretch>
            <a:fillRect/>
          </a:stretch>
        </p:blipFill>
        <p:spPr>
          <a:xfrm>
            <a:off x="10072748" y="1783054"/>
            <a:ext cx="1281052" cy="2055045"/>
          </a:xfrm>
          <a:prstGeom prst="rect">
            <a:avLst/>
          </a:prstGeom>
        </p:spPr>
      </p:pic>
      <p:sp>
        <p:nvSpPr>
          <p:cNvPr id="12" name="Arrow: Right 11">
            <a:extLst>
              <a:ext uri="{FF2B5EF4-FFF2-40B4-BE49-F238E27FC236}">
                <a16:creationId xmlns:a16="http://schemas.microsoft.com/office/drawing/2014/main" id="{69D532B4-F9A3-78EA-A26B-D931A2C8EA8F}"/>
              </a:ext>
            </a:extLst>
          </p:cNvPr>
          <p:cNvSpPr/>
          <p:nvPr/>
        </p:nvSpPr>
        <p:spPr>
          <a:xfrm>
            <a:off x="9127607" y="2593759"/>
            <a:ext cx="669303" cy="4336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48E6CDF-0C5A-5512-7E06-A2B716117979}"/>
              </a:ext>
            </a:extLst>
          </p:cNvPr>
          <p:cNvSpPr txBox="1"/>
          <p:nvPr/>
        </p:nvSpPr>
        <p:spPr>
          <a:xfrm>
            <a:off x="677368" y="1945273"/>
            <a:ext cx="3714161" cy="3785652"/>
          </a:xfrm>
          <a:prstGeom prst="rect">
            <a:avLst/>
          </a:prstGeom>
          <a:noFill/>
        </p:spPr>
        <p:txBody>
          <a:bodyPr wrap="square" rtlCol="0">
            <a:spAutoFit/>
          </a:bodyPr>
          <a:lstStyle/>
          <a:p>
            <a:r>
              <a:rPr lang="en-US" sz="2400" dirty="0"/>
              <a:t>Given a subset of adjacent layers, we collapse them into a 1x1 convolution projection feature space without changing spatial resolution, halting unnecessary expansion.</a:t>
            </a:r>
          </a:p>
          <a:p>
            <a:endParaRPr lang="en-US" sz="2400" dirty="0"/>
          </a:p>
          <a:p>
            <a:endParaRPr lang="en-US" sz="2400" dirty="0"/>
          </a:p>
        </p:txBody>
      </p:sp>
      <p:pic>
        <p:nvPicPr>
          <p:cNvPr id="7" name="Picture 6">
            <a:extLst>
              <a:ext uri="{FF2B5EF4-FFF2-40B4-BE49-F238E27FC236}">
                <a16:creationId xmlns:a16="http://schemas.microsoft.com/office/drawing/2014/main" id="{6C1AA344-4FF1-22E1-6610-8ADB272D76DD}"/>
              </a:ext>
            </a:extLst>
          </p:cNvPr>
          <p:cNvPicPr>
            <a:picLocks noChangeAspect="1"/>
          </p:cNvPicPr>
          <p:nvPr/>
        </p:nvPicPr>
        <p:blipFill>
          <a:blip r:embed="rId4"/>
          <a:stretch>
            <a:fillRect/>
          </a:stretch>
        </p:blipFill>
        <p:spPr>
          <a:xfrm>
            <a:off x="5419466" y="1497785"/>
            <a:ext cx="5656445" cy="4522211"/>
          </a:xfrm>
          <a:prstGeom prst="rect">
            <a:avLst/>
          </a:prstGeom>
        </p:spPr>
      </p:pic>
    </p:spTree>
    <p:extLst>
      <p:ext uri="{BB962C8B-B14F-4D97-AF65-F5344CB8AC3E}">
        <p14:creationId xmlns:p14="http://schemas.microsoft.com/office/powerpoint/2010/main" val="21863668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7D90E-AE2C-46B4-CCA6-913BA0FBCF09}"/>
              </a:ext>
            </a:extLst>
          </p:cNvPr>
          <p:cNvSpPr>
            <a:spLocks noGrp="1"/>
          </p:cNvSpPr>
          <p:nvPr>
            <p:ph type="title"/>
          </p:nvPr>
        </p:nvSpPr>
        <p:spPr/>
        <p:txBody>
          <a:bodyPr/>
          <a:lstStyle/>
          <a:p>
            <a:r>
              <a:rPr lang="en-US" dirty="0"/>
              <a:t>Sliding Window Approach</a:t>
            </a:r>
          </a:p>
        </p:txBody>
      </p:sp>
      <p:sp>
        <p:nvSpPr>
          <p:cNvPr id="3" name="Content Placeholder 2">
            <a:extLst>
              <a:ext uri="{FF2B5EF4-FFF2-40B4-BE49-F238E27FC236}">
                <a16:creationId xmlns:a16="http://schemas.microsoft.com/office/drawing/2014/main" id="{2D1D1A8A-A4DD-C89E-EFB8-9E73DB2164C3}"/>
              </a:ext>
            </a:extLst>
          </p:cNvPr>
          <p:cNvSpPr>
            <a:spLocks noGrp="1"/>
          </p:cNvSpPr>
          <p:nvPr>
            <p:ph idx="1"/>
          </p:nvPr>
        </p:nvSpPr>
        <p:spPr/>
        <p:txBody>
          <a:bodyPr/>
          <a:lstStyle/>
          <a:p>
            <a:r>
              <a:rPr lang="en-US" dirty="0"/>
              <a:t>Using the CKA, we identify points of redundancy and collapse them.</a:t>
            </a:r>
          </a:p>
          <a:p>
            <a:endParaRPr lang="en-US" dirty="0"/>
          </a:p>
          <a:p>
            <a:r>
              <a:rPr lang="en-US" dirty="0"/>
              <a:t>Given a neural network we specify a collapse range and collapse it, measuring key metrics such as:</a:t>
            </a:r>
          </a:p>
          <a:p>
            <a:pPr lvl="1"/>
            <a:r>
              <a:rPr lang="en-US" dirty="0"/>
              <a:t>Latency</a:t>
            </a:r>
          </a:p>
          <a:p>
            <a:pPr lvl="1"/>
            <a:r>
              <a:rPr lang="en-US" dirty="0"/>
              <a:t>Flops</a:t>
            </a:r>
          </a:p>
          <a:p>
            <a:pPr lvl="1"/>
            <a:r>
              <a:rPr lang="en-US" dirty="0"/>
              <a:t>Memory</a:t>
            </a:r>
          </a:p>
        </p:txBody>
      </p:sp>
      <p:sp>
        <p:nvSpPr>
          <p:cNvPr id="4" name="Slide Number Placeholder 3">
            <a:extLst>
              <a:ext uri="{FF2B5EF4-FFF2-40B4-BE49-F238E27FC236}">
                <a16:creationId xmlns:a16="http://schemas.microsoft.com/office/drawing/2014/main" id="{7E3557D2-406B-CB91-C842-2D6D7BDBB10E}"/>
              </a:ext>
            </a:extLst>
          </p:cNvPr>
          <p:cNvSpPr>
            <a:spLocks noGrp="1"/>
          </p:cNvSpPr>
          <p:nvPr>
            <p:ph type="sldNum" sz="quarter" idx="10"/>
          </p:nvPr>
        </p:nvSpPr>
        <p:spPr/>
        <p:txBody>
          <a:bodyPr/>
          <a:lstStyle/>
          <a:p>
            <a:fld id="{C6684DFB-8BCD-4B6F-9AA1-83F3BA61DF41}" type="slidenum">
              <a:rPr lang="en-US" smtClean="0"/>
              <a:pPr/>
              <a:t>31</a:t>
            </a:fld>
            <a:endParaRPr lang="en-US"/>
          </a:p>
        </p:txBody>
      </p:sp>
    </p:spTree>
    <p:extLst>
      <p:ext uri="{BB962C8B-B14F-4D97-AF65-F5344CB8AC3E}">
        <p14:creationId xmlns:p14="http://schemas.microsoft.com/office/powerpoint/2010/main" val="41815958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77D2-8916-3066-31D9-D6385366DF1B}"/>
              </a:ext>
            </a:extLst>
          </p:cNvPr>
          <p:cNvSpPr>
            <a:spLocks noGrp="1"/>
          </p:cNvSpPr>
          <p:nvPr>
            <p:ph type="title"/>
          </p:nvPr>
        </p:nvSpPr>
        <p:spPr/>
        <p:txBody>
          <a:bodyPr/>
          <a:lstStyle/>
          <a:p>
            <a:r>
              <a:rPr lang="en-US" dirty="0"/>
              <a:t>Supplemental Experiments</a:t>
            </a:r>
          </a:p>
        </p:txBody>
      </p:sp>
      <p:sp>
        <p:nvSpPr>
          <p:cNvPr id="4" name="Slide Number Placeholder 3">
            <a:extLst>
              <a:ext uri="{FF2B5EF4-FFF2-40B4-BE49-F238E27FC236}">
                <a16:creationId xmlns:a16="http://schemas.microsoft.com/office/drawing/2014/main" id="{6E925552-A3F3-2520-EF33-DCFA48A71F8A}"/>
              </a:ext>
            </a:extLst>
          </p:cNvPr>
          <p:cNvSpPr>
            <a:spLocks noGrp="1"/>
          </p:cNvSpPr>
          <p:nvPr>
            <p:ph type="sldNum" sz="quarter" idx="10"/>
          </p:nvPr>
        </p:nvSpPr>
        <p:spPr/>
        <p:txBody>
          <a:bodyPr/>
          <a:lstStyle/>
          <a:p>
            <a:fld id="{C6684DFB-8BCD-4B6F-9AA1-83F3BA61DF41}" type="slidenum">
              <a:rPr lang="en-US" smtClean="0"/>
              <a:pPr/>
              <a:t>32</a:t>
            </a:fld>
            <a:endParaRPr lang="en-US"/>
          </a:p>
        </p:txBody>
      </p:sp>
      <p:pic>
        <p:nvPicPr>
          <p:cNvPr id="6" name="Picture 5">
            <a:extLst>
              <a:ext uri="{FF2B5EF4-FFF2-40B4-BE49-F238E27FC236}">
                <a16:creationId xmlns:a16="http://schemas.microsoft.com/office/drawing/2014/main" id="{D0514FDE-6530-C712-BDC7-7BCF965CDBC4}"/>
              </a:ext>
            </a:extLst>
          </p:cNvPr>
          <p:cNvPicPr>
            <a:picLocks noChangeAspect="1"/>
          </p:cNvPicPr>
          <p:nvPr/>
        </p:nvPicPr>
        <p:blipFill>
          <a:blip r:embed="rId2"/>
          <a:stretch>
            <a:fillRect/>
          </a:stretch>
        </p:blipFill>
        <p:spPr>
          <a:xfrm>
            <a:off x="623190" y="1875399"/>
            <a:ext cx="10945619" cy="4326926"/>
          </a:xfrm>
          <a:prstGeom prst="rect">
            <a:avLst/>
          </a:prstGeom>
        </p:spPr>
      </p:pic>
    </p:spTree>
    <p:extLst>
      <p:ext uri="{BB962C8B-B14F-4D97-AF65-F5344CB8AC3E}">
        <p14:creationId xmlns:p14="http://schemas.microsoft.com/office/powerpoint/2010/main" val="31955000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93AE3-2CDB-4066-868B-E63D58E8AF1F}"/>
              </a:ext>
            </a:extLst>
          </p:cNvPr>
          <p:cNvSpPr>
            <a:spLocks noGrp="1"/>
          </p:cNvSpPr>
          <p:nvPr>
            <p:ph type="title"/>
          </p:nvPr>
        </p:nvSpPr>
        <p:spPr/>
        <p:txBody>
          <a:bodyPr/>
          <a:lstStyle/>
          <a:p>
            <a:r>
              <a:rPr lang="en-US" dirty="0"/>
              <a:t>Compression Landscape</a:t>
            </a:r>
          </a:p>
        </p:txBody>
      </p:sp>
      <p:sp>
        <p:nvSpPr>
          <p:cNvPr id="4" name="Slide Number Placeholder 3">
            <a:extLst>
              <a:ext uri="{FF2B5EF4-FFF2-40B4-BE49-F238E27FC236}">
                <a16:creationId xmlns:a16="http://schemas.microsoft.com/office/drawing/2014/main" id="{C0B7E84B-B5DE-2F94-3DF5-E7DE48FA86B2}"/>
              </a:ext>
            </a:extLst>
          </p:cNvPr>
          <p:cNvSpPr>
            <a:spLocks noGrp="1"/>
          </p:cNvSpPr>
          <p:nvPr>
            <p:ph type="sldNum" sz="quarter" idx="10"/>
          </p:nvPr>
        </p:nvSpPr>
        <p:spPr/>
        <p:txBody>
          <a:bodyPr/>
          <a:lstStyle/>
          <a:p>
            <a:fld id="{C6684DFB-8BCD-4B6F-9AA1-83F3BA61DF41}" type="slidenum">
              <a:rPr lang="en-US" smtClean="0"/>
              <a:pPr/>
              <a:t>33</a:t>
            </a:fld>
            <a:endParaRPr lang="en-US"/>
          </a:p>
        </p:txBody>
      </p:sp>
      <p:cxnSp>
        <p:nvCxnSpPr>
          <p:cNvPr id="6" name="Straight Connector 5">
            <a:extLst>
              <a:ext uri="{FF2B5EF4-FFF2-40B4-BE49-F238E27FC236}">
                <a16:creationId xmlns:a16="http://schemas.microsoft.com/office/drawing/2014/main" id="{1951C047-6258-FB18-9B94-416F134070BC}"/>
              </a:ext>
            </a:extLst>
          </p:cNvPr>
          <p:cNvCxnSpPr>
            <a:cxnSpLocks/>
          </p:cNvCxnSpPr>
          <p:nvPr/>
        </p:nvCxnSpPr>
        <p:spPr>
          <a:xfrm>
            <a:off x="5568696" y="2258568"/>
            <a:ext cx="82296" cy="3236976"/>
          </a:xfrm>
          <a:prstGeom prst="line">
            <a:avLst/>
          </a:prstGeom>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6E946675-6A3C-7772-215D-8109C528C43A}"/>
              </a:ext>
            </a:extLst>
          </p:cNvPr>
          <p:cNvCxnSpPr>
            <a:cxnSpLocks/>
          </p:cNvCxnSpPr>
          <p:nvPr/>
        </p:nvCxnSpPr>
        <p:spPr>
          <a:xfrm flipH="1">
            <a:off x="2843784" y="3956304"/>
            <a:ext cx="5641848" cy="0"/>
          </a:xfrm>
          <a:prstGeom prst="line">
            <a:avLst/>
          </a:prstGeom>
        </p:spPr>
        <p:style>
          <a:lnRef idx="3">
            <a:schemeClr val="dk1"/>
          </a:lnRef>
          <a:fillRef idx="0">
            <a:schemeClr val="dk1"/>
          </a:fillRef>
          <a:effectRef idx="2">
            <a:schemeClr val="dk1"/>
          </a:effectRef>
          <a:fontRef idx="minor">
            <a:schemeClr val="tx1"/>
          </a:fontRef>
        </p:style>
      </p:cxnSp>
      <p:sp>
        <p:nvSpPr>
          <p:cNvPr id="12" name="Rectangle 11">
            <a:extLst>
              <a:ext uri="{FF2B5EF4-FFF2-40B4-BE49-F238E27FC236}">
                <a16:creationId xmlns:a16="http://schemas.microsoft.com/office/drawing/2014/main" id="{42328E1C-C45F-5D39-0C4D-ECC6D8C0F8E0}"/>
              </a:ext>
            </a:extLst>
          </p:cNvPr>
          <p:cNvSpPr/>
          <p:nvPr/>
        </p:nvSpPr>
        <p:spPr>
          <a:xfrm>
            <a:off x="2843784" y="2258568"/>
            <a:ext cx="5641848" cy="3236976"/>
          </a:xfrm>
          <a:prstGeom prst="rect">
            <a:avLst/>
          </a:prstGeom>
          <a:noFill/>
          <a:ln w="285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TextBox 12">
            <a:extLst>
              <a:ext uri="{FF2B5EF4-FFF2-40B4-BE49-F238E27FC236}">
                <a16:creationId xmlns:a16="http://schemas.microsoft.com/office/drawing/2014/main" id="{DF1D7C60-38B8-DD76-80CA-6B735EA7EB0A}"/>
              </a:ext>
            </a:extLst>
          </p:cNvPr>
          <p:cNvSpPr txBox="1"/>
          <p:nvPr/>
        </p:nvSpPr>
        <p:spPr>
          <a:xfrm>
            <a:off x="2843784" y="2452420"/>
            <a:ext cx="2724912" cy="1323439"/>
          </a:xfrm>
          <a:prstGeom prst="rect">
            <a:avLst/>
          </a:prstGeom>
          <a:noFill/>
        </p:spPr>
        <p:txBody>
          <a:bodyPr wrap="square" rtlCol="0">
            <a:spAutoFit/>
          </a:bodyPr>
          <a:lstStyle/>
          <a:p>
            <a:pPr algn="ctr"/>
            <a:r>
              <a:rPr lang="en-US" sz="2000" b="1" dirty="0"/>
              <a:t>Pruning</a:t>
            </a:r>
          </a:p>
          <a:p>
            <a:pPr algn="ctr"/>
            <a:endParaRPr lang="en-US" dirty="0"/>
          </a:p>
          <a:p>
            <a:pPr algn="ctr"/>
            <a:r>
              <a:rPr lang="en-US" sz="1400" dirty="0"/>
              <a:t>Creates sparse matrices.</a:t>
            </a:r>
          </a:p>
          <a:p>
            <a:pPr algn="ctr"/>
            <a:r>
              <a:rPr lang="en-US" sz="1400" dirty="0"/>
              <a:t>Requires special hardware</a:t>
            </a:r>
          </a:p>
          <a:p>
            <a:pPr algn="ctr"/>
            <a:r>
              <a:rPr lang="en-US" sz="1400" dirty="0"/>
              <a:t>Doesn’t reduce depth</a:t>
            </a:r>
          </a:p>
        </p:txBody>
      </p:sp>
      <p:sp>
        <p:nvSpPr>
          <p:cNvPr id="14" name="TextBox 13">
            <a:extLst>
              <a:ext uri="{FF2B5EF4-FFF2-40B4-BE49-F238E27FC236}">
                <a16:creationId xmlns:a16="http://schemas.microsoft.com/office/drawing/2014/main" id="{41676E7E-D810-F523-50CC-D7062BC259E3}"/>
              </a:ext>
            </a:extLst>
          </p:cNvPr>
          <p:cNvSpPr txBox="1"/>
          <p:nvPr/>
        </p:nvSpPr>
        <p:spPr>
          <a:xfrm>
            <a:off x="5664708" y="2417065"/>
            <a:ext cx="2724912" cy="1323439"/>
          </a:xfrm>
          <a:prstGeom prst="rect">
            <a:avLst/>
          </a:prstGeom>
          <a:noFill/>
        </p:spPr>
        <p:txBody>
          <a:bodyPr wrap="square" rtlCol="0">
            <a:spAutoFit/>
          </a:bodyPr>
          <a:lstStyle/>
          <a:p>
            <a:pPr algn="ctr"/>
            <a:r>
              <a:rPr lang="en-US" sz="2000" b="1" dirty="0"/>
              <a:t>LBL Collapse</a:t>
            </a:r>
          </a:p>
          <a:p>
            <a:pPr algn="ctr"/>
            <a:endParaRPr lang="en-US" dirty="0"/>
          </a:p>
          <a:p>
            <a:pPr algn="ctr"/>
            <a:r>
              <a:rPr lang="en-US" sz="1400" dirty="0"/>
              <a:t>Collapse depth redundancy</a:t>
            </a:r>
          </a:p>
          <a:p>
            <a:pPr algn="ctr"/>
            <a:r>
              <a:rPr lang="en-US" sz="1400" dirty="0"/>
              <a:t>Hardware agnostic</a:t>
            </a:r>
          </a:p>
          <a:p>
            <a:pPr algn="ctr"/>
            <a:r>
              <a:rPr lang="en-US" sz="1400" dirty="0"/>
              <a:t>Something</a:t>
            </a:r>
          </a:p>
        </p:txBody>
      </p:sp>
      <p:sp>
        <p:nvSpPr>
          <p:cNvPr id="15" name="TextBox 14">
            <a:extLst>
              <a:ext uri="{FF2B5EF4-FFF2-40B4-BE49-F238E27FC236}">
                <a16:creationId xmlns:a16="http://schemas.microsoft.com/office/drawing/2014/main" id="{6EF663F5-B1EC-1AD3-8A0D-850B2B9AA02C}"/>
              </a:ext>
            </a:extLst>
          </p:cNvPr>
          <p:cNvSpPr txBox="1"/>
          <p:nvPr/>
        </p:nvSpPr>
        <p:spPr>
          <a:xfrm>
            <a:off x="5650992" y="4055061"/>
            <a:ext cx="2724912" cy="1138773"/>
          </a:xfrm>
          <a:prstGeom prst="rect">
            <a:avLst/>
          </a:prstGeom>
          <a:noFill/>
        </p:spPr>
        <p:txBody>
          <a:bodyPr wrap="square" lIns="91440" tIns="45720" rIns="91440" bIns="45720" rtlCol="0" anchor="t">
            <a:spAutoFit/>
          </a:bodyPr>
          <a:lstStyle/>
          <a:p>
            <a:pPr algn="ctr"/>
            <a:r>
              <a:rPr lang="en-US" sz="2000" b="1" dirty="0"/>
              <a:t>Network Architecture Search (NAS)</a:t>
            </a:r>
            <a:endParaRPr lang="en-US" sz="2000" b="1" dirty="0">
              <a:ea typeface="Roboto"/>
            </a:endParaRPr>
          </a:p>
          <a:p>
            <a:pPr algn="ctr"/>
            <a:r>
              <a:rPr lang="en-US" sz="1400" dirty="0"/>
              <a:t>Computationally expensive</a:t>
            </a:r>
          </a:p>
          <a:p>
            <a:pPr algn="ctr"/>
            <a:r>
              <a:rPr lang="en-US" sz="1400" dirty="0"/>
              <a:t>Highly specific networks</a:t>
            </a:r>
          </a:p>
        </p:txBody>
      </p:sp>
      <p:sp>
        <p:nvSpPr>
          <p:cNvPr id="16" name="TextBox 15">
            <a:extLst>
              <a:ext uri="{FF2B5EF4-FFF2-40B4-BE49-F238E27FC236}">
                <a16:creationId xmlns:a16="http://schemas.microsoft.com/office/drawing/2014/main" id="{7B9C9413-38DF-D258-F090-71D32E058A05}"/>
              </a:ext>
            </a:extLst>
          </p:cNvPr>
          <p:cNvSpPr txBox="1"/>
          <p:nvPr/>
        </p:nvSpPr>
        <p:spPr>
          <a:xfrm>
            <a:off x="2835026" y="4334721"/>
            <a:ext cx="2724912" cy="707886"/>
          </a:xfrm>
          <a:prstGeom prst="rect">
            <a:avLst/>
          </a:prstGeom>
          <a:noFill/>
        </p:spPr>
        <p:txBody>
          <a:bodyPr wrap="square" rtlCol="0">
            <a:spAutoFit/>
          </a:bodyPr>
          <a:lstStyle/>
          <a:p>
            <a:pPr algn="ctr"/>
            <a:r>
              <a:rPr lang="en-US" sz="2000" b="1" dirty="0"/>
              <a:t>Post Training</a:t>
            </a:r>
          </a:p>
          <a:p>
            <a:pPr algn="ctr"/>
            <a:r>
              <a:rPr lang="en-US" sz="2000" b="1" dirty="0"/>
              <a:t>Quantization</a:t>
            </a:r>
            <a:endParaRPr lang="en-US" sz="1400" dirty="0"/>
          </a:p>
        </p:txBody>
      </p:sp>
      <p:sp>
        <p:nvSpPr>
          <p:cNvPr id="18" name="TextBox 17">
            <a:extLst>
              <a:ext uri="{FF2B5EF4-FFF2-40B4-BE49-F238E27FC236}">
                <a16:creationId xmlns:a16="http://schemas.microsoft.com/office/drawing/2014/main" id="{90C5FF84-976B-F1CC-C579-A945B1D88A42}"/>
              </a:ext>
            </a:extLst>
          </p:cNvPr>
          <p:cNvSpPr txBox="1"/>
          <p:nvPr/>
        </p:nvSpPr>
        <p:spPr>
          <a:xfrm>
            <a:off x="1151233" y="3725471"/>
            <a:ext cx="1228344" cy="276999"/>
          </a:xfrm>
          <a:prstGeom prst="rect">
            <a:avLst/>
          </a:prstGeom>
          <a:noFill/>
        </p:spPr>
        <p:txBody>
          <a:bodyPr wrap="square" rtlCol="0">
            <a:spAutoFit/>
          </a:bodyPr>
          <a:lstStyle/>
          <a:p>
            <a:pPr algn="ctr"/>
            <a:r>
              <a:rPr lang="en-US" sz="1200" dirty="0" err="1"/>
              <a:t>MLOps</a:t>
            </a:r>
            <a:endParaRPr lang="en-US" sz="1000" dirty="0"/>
          </a:p>
        </p:txBody>
      </p:sp>
      <p:sp>
        <p:nvSpPr>
          <p:cNvPr id="19" name="TextBox 18">
            <a:extLst>
              <a:ext uri="{FF2B5EF4-FFF2-40B4-BE49-F238E27FC236}">
                <a16:creationId xmlns:a16="http://schemas.microsoft.com/office/drawing/2014/main" id="{089C4A1A-E7C5-34A2-6F26-AE9D136F00B0}"/>
              </a:ext>
            </a:extLst>
          </p:cNvPr>
          <p:cNvSpPr txBox="1"/>
          <p:nvPr/>
        </p:nvSpPr>
        <p:spPr>
          <a:xfrm>
            <a:off x="5050536" y="5839106"/>
            <a:ext cx="1228344" cy="276999"/>
          </a:xfrm>
          <a:prstGeom prst="rect">
            <a:avLst/>
          </a:prstGeom>
          <a:noFill/>
        </p:spPr>
        <p:txBody>
          <a:bodyPr wrap="square" rtlCol="0">
            <a:spAutoFit/>
          </a:bodyPr>
          <a:lstStyle/>
          <a:p>
            <a:pPr algn="ctr"/>
            <a:r>
              <a:rPr lang="en-US" sz="1200" dirty="0"/>
              <a:t>Target Scope</a:t>
            </a:r>
            <a:endParaRPr lang="en-US" sz="1000" dirty="0"/>
          </a:p>
        </p:txBody>
      </p:sp>
      <p:sp>
        <p:nvSpPr>
          <p:cNvPr id="20" name="TextBox 19">
            <a:extLst>
              <a:ext uri="{FF2B5EF4-FFF2-40B4-BE49-F238E27FC236}">
                <a16:creationId xmlns:a16="http://schemas.microsoft.com/office/drawing/2014/main" id="{F058E24E-169C-F756-B5A5-CA097248D897}"/>
              </a:ext>
            </a:extLst>
          </p:cNvPr>
          <p:cNvSpPr txBox="1"/>
          <p:nvPr/>
        </p:nvSpPr>
        <p:spPr>
          <a:xfrm>
            <a:off x="695785" y="1937707"/>
            <a:ext cx="2139241" cy="707886"/>
          </a:xfrm>
          <a:prstGeom prst="rect">
            <a:avLst/>
          </a:prstGeom>
          <a:noFill/>
        </p:spPr>
        <p:txBody>
          <a:bodyPr wrap="square" lIns="91440" tIns="45720" rIns="91440" bIns="45720" rtlCol="0" anchor="t">
            <a:spAutoFit/>
          </a:bodyPr>
          <a:lstStyle/>
          <a:p>
            <a:pPr algn="ctr"/>
            <a:r>
              <a:rPr lang="en-US" sz="2000" dirty="0"/>
              <a:t>Any Stage of </a:t>
            </a:r>
            <a:r>
              <a:rPr lang="en-US" sz="2000" dirty="0" err="1"/>
              <a:t>MLOps</a:t>
            </a:r>
            <a:endParaRPr lang="en-US" sz="2000" dirty="0">
              <a:ea typeface="Roboto"/>
            </a:endParaRPr>
          </a:p>
        </p:txBody>
      </p:sp>
      <p:sp>
        <p:nvSpPr>
          <p:cNvPr id="21" name="TextBox 20">
            <a:extLst>
              <a:ext uri="{FF2B5EF4-FFF2-40B4-BE49-F238E27FC236}">
                <a16:creationId xmlns:a16="http://schemas.microsoft.com/office/drawing/2014/main" id="{F893DD69-0C6F-EFEF-041A-5F52D6047AFF}"/>
              </a:ext>
            </a:extLst>
          </p:cNvPr>
          <p:cNvSpPr txBox="1"/>
          <p:nvPr/>
        </p:nvSpPr>
        <p:spPr>
          <a:xfrm>
            <a:off x="297267" y="5210024"/>
            <a:ext cx="2936275" cy="400110"/>
          </a:xfrm>
          <a:prstGeom prst="rect">
            <a:avLst/>
          </a:prstGeom>
          <a:noFill/>
        </p:spPr>
        <p:txBody>
          <a:bodyPr wrap="square" lIns="91440" tIns="45720" rIns="91440" bIns="45720" rtlCol="0" anchor="t">
            <a:spAutoFit/>
          </a:bodyPr>
          <a:lstStyle/>
          <a:p>
            <a:pPr algn="ctr"/>
            <a:r>
              <a:rPr lang="en-US" sz="2000" dirty="0"/>
              <a:t>Single Stage</a:t>
            </a:r>
            <a:endParaRPr lang="en-US" dirty="0"/>
          </a:p>
        </p:txBody>
      </p:sp>
      <p:sp>
        <p:nvSpPr>
          <p:cNvPr id="22" name="TextBox 21">
            <a:extLst>
              <a:ext uri="{FF2B5EF4-FFF2-40B4-BE49-F238E27FC236}">
                <a16:creationId xmlns:a16="http://schemas.microsoft.com/office/drawing/2014/main" id="{171AE79E-F4C4-69C4-F74E-5B07C7F823E3}"/>
              </a:ext>
            </a:extLst>
          </p:cNvPr>
          <p:cNvSpPr txBox="1"/>
          <p:nvPr/>
        </p:nvSpPr>
        <p:spPr>
          <a:xfrm>
            <a:off x="3095244" y="5777551"/>
            <a:ext cx="1228344" cy="400110"/>
          </a:xfrm>
          <a:prstGeom prst="rect">
            <a:avLst/>
          </a:prstGeom>
          <a:noFill/>
        </p:spPr>
        <p:txBody>
          <a:bodyPr wrap="square" rtlCol="0">
            <a:spAutoFit/>
          </a:bodyPr>
          <a:lstStyle/>
          <a:p>
            <a:pPr algn="ctr"/>
            <a:r>
              <a:rPr lang="en-US" sz="2000" dirty="0"/>
              <a:t>Weights</a:t>
            </a:r>
            <a:endParaRPr lang="en-US" sz="1400" dirty="0"/>
          </a:p>
        </p:txBody>
      </p:sp>
      <p:sp>
        <p:nvSpPr>
          <p:cNvPr id="23" name="TextBox 22">
            <a:extLst>
              <a:ext uri="{FF2B5EF4-FFF2-40B4-BE49-F238E27FC236}">
                <a16:creationId xmlns:a16="http://schemas.microsoft.com/office/drawing/2014/main" id="{C7851F18-302B-A0DB-482B-238E6965808B}"/>
              </a:ext>
            </a:extLst>
          </p:cNvPr>
          <p:cNvSpPr txBox="1"/>
          <p:nvPr/>
        </p:nvSpPr>
        <p:spPr>
          <a:xfrm>
            <a:off x="6812280" y="5777551"/>
            <a:ext cx="1798320" cy="400110"/>
          </a:xfrm>
          <a:prstGeom prst="rect">
            <a:avLst/>
          </a:prstGeom>
          <a:noFill/>
        </p:spPr>
        <p:txBody>
          <a:bodyPr wrap="square" rtlCol="0">
            <a:spAutoFit/>
          </a:bodyPr>
          <a:lstStyle/>
          <a:p>
            <a:pPr algn="ctr"/>
            <a:r>
              <a:rPr lang="en-US" sz="2000" dirty="0"/>
              <a:t>Architecture</a:t>
            </a:r>
            <a:endParaRPr lang="en-US" sz="1400" dirty="0"/>
          </a:p>
        </p:txBody>
      </p:sp>
      <p:cxnSp>
        <p:nvCxnSpPr>
          <p:cNvPr id="25" name="Straight Arrow Connector 24">
            <a:extLst>
              <a:ext uri="{FF2B5EF4-FFF2-40B4-BE49-F238E27FC236}">
                <a16:creationId xmlns:a16="http://schemas.microsoft.com/office/drawing/2014/main" id="{A2CE0F82-8385-745B-CE18-B9FCCF2C2765}"/>
              </a:ext>
            </a:extLst>
          </p:cNvPr>
          <p:cNvCxnSpPr>
            <a:cxnSpLocks/>
            <a:stCxn id="18" idx="0"/>
            <a:endCxn id="20" idx="2"/>
          </p:cNvCxnSpPr>
          <p:nvPr/>
        </p:nvCxnSpPr>
        <p:spPr>
          <a:xfrm flipV="1">
            <a:off x="1765405" y="2645593"/>
            <a:ext cx="1" cy="10798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059DEA7-64ED-286B-500D-4DF1C65F4452}"/>
              </a:ext>
            </a:extLst>
          </p:cNvPr>
          <p:cNvCxnSpPr>
            <a:cxnSpLocks/>
            <a:stCxn id="18" idx="2"/>
            <a:endCxn id="21" idx="0"/>
          </p:cNvCxnSpPr>
          <p:nvPr/>
        </p:nvCxnSpPr>
        <p:spPr>
          <a:xfrm>
            <a:off x="1765405" y="4002470"/>
            <a:ext cx="0" cy="120755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5CACD9-B464-CE6A-EC49-8EA0A0C48A9E}"/>
              </a:ext>
            </a:extLst>
          </p:cNvPr>
          <p:cNvCxnSpPr>
            <a:stCxn id="19" idx="3"/>
            <a:endCxn id="23" idx="1"/>
          </p:cNvCxnSpPr>
          <p:nvPr/>
        </p:nvCxnSpPr>
        <p:spPr>
          <a:xfrm>
            <a:off x="6278880" y="5977606"/>
            <a:ext cx="53340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A390BA-EE6C-BC55-6831-0EBD0EAB14B1}"/>
              </a:ext>
            </a:extLst>
          </p:cNvPr>
          <p:cNvCxnSpPr>
            <a:stCxn id="19" idx="1"/>
            <a:endCxn id="22" idx="3"/>
          </p:cNvCxnSpPr>
          <p:nvPr/>
        </p:nvCxnSpPr>
        <p:spPr>
          <a:xfrm flipH="1">
            <a:off x="4323588" y="5977606"/>
            <a:ext cx="7269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56308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52A40-4D0D-D288-B185-D7F5FC9F5CED}"/>
              </a:ext>
            </a:extLst>
          </p:cNvPr>
          <p:cNvSpPr>
            <a:spLocks noGrp="1"/>
          </p:cNvSpPr>
          <p:nvPr>
            <p:ph type="title"/>
          </p:nvPr>
        </p:nvSpPr>
        <p:spPr/>
        <p:txBody>
          <a:bodyPr/>
          <a:lstStyle/>
          <a:p>
            <a:r>
              <a:rPr lang="en-US" dirty="0"/>
              <a:t>Experimental Setup</a:t>
            </a:r>
          </a:p>
        </p:txBody>
      </p:sp>
      <p:sp>
        <p:nvSpPr>
          <p:cNvPr id="3" name="Content Placeholder 2">
            <a:extLst>
              <a:ext uri="{FF2B5EF4-FFF2-40B4-BE49-F238E27FC236}">
                <a16:creationId xmlns:a16="http://schemas.microsoft.com/office/drawing/2014/main" id="{24275D31-9A49-7E1A-FC12-8C44C576EF17}"/>
              </a:ext>
            </a:extLst>
          </p:cNvPr>
          <p:cNvSpPr>
            <a:spLocks noGrp="1"/>
          </p:cNvSpPr>
          <p:nvPr>
            <p:ph idx="1"/>
          </p:nvPr>
        </p:nvSpPr>
        <p:spPr>
          <a:xfrm>
            <a:off x="952500" y="2050741"/>
            <a:ext cx="10287000" cy="555299"/>
          </a:xfrm>
        </p:spPr>
        <p:txBody>
          <a:bodyPr/>
          <a:lstStyle/>
          <a:p>
            <a:r>
              <a:rPr lang="en-US" dirty="0">
                <a:solidFill>
                  <a:srgbClr val="0070C0"/>
                </a:solidFill>
              </a:rPr>
              <a:t>Post-Hoc Compression </a:t>
            </a:r>
            <a:r>
              <a:rPr lang="en-US" dirty="0"/>
              <a:t>vs. </a:t>
            </a:r>
            <a:r>
              <a:rPr lang="en-US" dirty="0">
                <a:solidFill>
                  <a:schemeClr val="accent6"/>
                </a:solidFill>
              </a:rPr>
              <a:t>Design Stage Optimization</a:t>
            </a:r>
          </a:p>
        </p:txBody>
      </p:sp>
      <p:sp>
        <p:nvSpPr>
          <p:cNvPr id="4" name="Slide Number Placeholder 3">
            <a:extLst>
              <a:ext uri="{FF2B5EF4-FFF2-40B4-BE49-F238E27FC236}">
                <a16:creationId xmlns:a16="http://schemas.microsoft.com/office/drawing/2014/main" id="{D5403A90-02FE-18A5-AE5F-82B629032A76}"/>
              </a:ext>
            </a:extLst>
          </p:cNvPr>
          <p:cNvSpPr>
            <a:spLocks noGrp="1"/>
          </p:cNvSpPr>
          <p:nvPr>
            <p:ph type="sldNum" sz="quarter" idx="10"/>
          </p:nvPr>
        </p:nvSpPr>
        <p:spPr/>
        <p:txBody>
          <a:bodyPr/>
          <a:lstStyle/>
          <a:p>
            <a:fld id="{C6684DFB-8BCD-4B6F-9AA1-83F3BA61DF41}" type="slidenum">
              <a:rPr lang="en-US" smtClean="0"/>
              <a:pPr/>
              <a:t>34</a:t>
            </a:fld>
            <a:endParaRPr lang="en-US"/>
          </a:p>
        </p:txBody>
      </p:sp>
      <p:pic>
        <p:nvPicPr>
          <p:cNvPr id="12" name="Picture 11">
            <a:extLst>
              <a:ext uri="{FF2B5EF4-FFF2-40B4-BE49-F238E27FC236}">
                <a16:creationId xmlns:a16="http://schemas.microsoft.com/office/drawing/2014/main" id="{9CAC60E6-2026-5DA5-155C-98A40959F08D}"/>
              </a:ext>
            </a:extLst>
          </p:cNvPr>
          <p:cNvPicPr>
            <a:picLocks noChangeAspect="1"/>
          </p:cNvPicPr>
          <p:nvPr/>
        </p:nvPicPr>
        <p:blipFill>
          <a:blip r:embed="rId2"/>
          <a:stretch>
            <a:fillRect/>
          </a:stretch>
        </p:blipFill>
        <p:spPr>
          <a:xfrm>
            <a:off x="2364259" y="2815002"/>
            <a:ext cx="6881313" cy="2985195"/>
          </a:xfrm>
          <a:prstGeom prst="rect">
            <a:avLst/>
          </a:prstGeom>
        </p:spPr>
      </p:pic>
    </p:spTree>
    <p:extLst>
      <p:ext uri="{BB962C8B-B14F-4D97-AF65-F5344CB8AC3E}">
        <p14:creationId xmlns:p14="http://schemas.microsoft.com/office/powerpoint/2010/main" val="23856441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6767D-1A47-2CE1-BCA0-AE88D3017D65}"/>
              </a:ext>
            </a:extLst>
          </p:cNvPr>
          <p:cNvSpPr>
            <a:spLocks noGrp="1"/>
          </p:cNvSpPr>
          <p:nvPr>
            <p:ph type="title"/>
          </p:nvPr>
        </p:nvSpPr>
        <p:spPr/>
        <p:txBody>
          <a:bodyPr/>
          <a:lstStyle/>
          <a:p>
            <a:r>
              <a:rPr lang="en-US" dirty="0"/>
              <a:t>Architectural Selection Strategy</a:t>
            </a:r>
          </a:p>
        </p:txBody>
      </p:sp>
      <p:sp>
        <p:nvSpPr>
          <p:cNvPr id="4" name="Slide Number Placeholder 3">
            <a:extLst>
              <a:ext uri="{FF2B5EF4-FFF2-40B4-BE49-F238E27FC236}">
                <a16:creationId xmlns:a16="http://schemas.microsoft.com/office/drawing/2014/main" id="{B002E157-EFF6-DA24-0266-ABE796417D26}"/>
              </a:ext>
            </a:extLst>
          </p:cNvPr>
          <p:cNvSpPr>
            <a:spLocks noGrp="1"/>
          </p:cNvSpPr>
          <p:nvPr>
            <p:ph type="sldNum" sz="quarter" idx="10"/>
          </p:nvPr>
        </p:nvSpPr>
        <p:spPr/>
        <p:txBody>
          <a:bodyPr/>
          <a:lstStyle/>
          <a:p>
            <a:fld id="{C6684DFB-8BCD-4B6F-9AA1-83F3BA61DF41}" type="slidenum">
              <a:rPr lang="en-US" smtClean="0"/>
              <a:pPr/>
              <a:t>35</a:t>
            </a:fld>
            <a:endParaRPr lang="en-US"/>
          </a:p>
        </p:txBody>
      </p:sp>
      <p:pic>
        <p:nvPicPr>
          <p:cNvPr id="6" name="Picture 5">
            <a:extLst>
              <a:ext uri="{FF2B5EF4-FFF2-40B4-BE49-F238E27FC236}">
                <a16:creationId xmlns:a16="http://schemas.microsoft.com/office/drawing/2014/main" id="{C92EAB28-31C4-4D18-1BE3-2709052B89C1}"/>
              </a:ext>
            </a:extLst>
          </p:cNvPr>
          <p:cNvPicPr>
            <a:picLocks noChangeAspect="1"/>
          </p:cNvPicPr>
          <p:nvPr/>
        </p:nvPicPr>
        <p:blipFill>
          <a:blip r:embed="rId2"/>
          <a:stretch>
            <a:fillRect/>
          </a:stretch>
        </p:blipFill>
        <p:spPr>
          <a:xfrm>
            <a:off x="1847088" y="2060770"/>
            <a:ext cx="8949757" cy="3829463"/>
          </a:xfrm>
          <a:prstGeom prst="rect">
            <a:avLst/>
          </a:prstGeom>
        </p:spPr>
      </p:pic>
    </p:spTree>
    <p:extLst>
      <p:ext uri="{BB962C8B-B14F-4D97-AF65-F5344CB8AC3E}">
        <p14:creationId xmlns:p14="http://schemas.microsoft.com/office/powerpoint/2010/main" val="6818699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B061-558B-DED6-152F-FD520D0C4226}"/>
              </a:ext>
            </a:extLst>
          </p:cNvPr>
          <p:cNvSpPr>
            <a:spLocks noGrp="1"/>
          </p:cNvSpPr>
          <p:nvPr>
            <p:ph type="title"/>
          </p:nvPr>
        </p:nvSpPr>
        <p:spPr/>
        <p:txBody>
          <a:bodyPr/>
          <a:lstStyle/>
          <a:p>
            <a:r>
              <a:rPr lang="en-US" dirty="0"/>
              <a:t>Areas of Focus</a:t>
            </a:r>
          </a:p>
        </p:txBody>
      </p:sp>
      <p:sp>
        <p:nvSpPr>
          <p:cNvPr id="3" name="Content Placeholder 2">
            <a:extLst>
              <a:ext uri="{FF2B5EF4-FFF2-40B4-BE49-F238E27FC236}">
                <a16:creationId xmlns:a16="http://schemas.microsoft.com/office/drawing/2014/main" id="{E5B98D12-0EA5-B71E-9880-5DA6A24AED81}"/>
              </a:ext>
            </a:extLst>
          </p:cNvPr>
          <p:cNvSpPr>
            <a:spLocks noGrp="1"/>
          </p:cNvSpPr>
          <p:nvPr>
            <p:ph idx="1"/>
          </p:nvPr>
        </p:nvSpPr>
        <p:spPr/>
        <p:txBody>
          <a:bodyPr vert="horz" lIns="0" tIns="0" rIns="0" bIns="0" rtlCol="0" anchor="t">
            <a:normAutofit/>
          </a:bodyPr>
          <a:lstStyle/>
          <a:p>
            <a:r>
              <a:rPr lang="en-US" dirty="0">
                <a:latin typeface="Roboto"/>
                <a:ea typeface="Roboto"/>
                <a:cs typeface="Arial"/>
              </a:rPr>
              <a:t>Using the CKA and a set DDR how does LBL affect </a:t>
            </a:r>
            <a:r>
              <a:rPr lang="en-US" b="1" dirty="0">
                <a:latin typeface="Roboto"/>
                <a:ea typeface="Roboto"/>
                <a:cs typeface="Arial"/>
              </a:rPr>
              <a:t>Resource Utilization </a:t>
            </a:r>
            <a:r>
              <a:rPr lang="en-US" dirty="0">
                <a:latin typeface="Roboto"/>
                <a:ea typeface="Roboto"/>
                <a:cs typeface="Arial"/>
              </a:rPr>
              <a:t>while maintaining "deployment usage"</a:t>
            </a:r>
            <a:r>
              <a:rPr lang="en-US" b="1" dirty="0">
                <a:latin typeface="Roboto"/>
                <a:ea typeface="Roboto"/>
                <a:cs typeface="Arial"/>
              </a:rPr>
              <a:t>. </a:t>
            </a:r>
            <a:endParaRPr lang="en-US" dirty="0">
              <a:latin typeface="Roboto"/>
              <a:ea typeface="Roboto"/>
              <a:cs typeface="Arial"/>
            </a:endParaRPr>
          </a:p>
        </p:txBody>
      </p:sp>
      <p:sp>
        <p:nvSpPr>
          <p:cNvPr id="4" name="Slide Number Placeholder 3">
            <a:extLst>
              <a:ext uri="{FF2B5EF4-FFF2-40B4-BE49-F238E27FC236}">
                <a16:creationId xmlns:a16="http://schemas.microsoft.com/office/drawing/2014/main" id="{F1205500-37AA-9981-59C1-DEBEC9BB3141}"/>
              </a:ext>
            </a:extLst>
          </p:cNvPr>
          <p:cNvSpPr>
            <a:spLocks noGrp="1"/>
          </p:cNvSpPr>
          <p:nvPr>
            <p:ph type="sldNum" sz="quarter" idx="10"/>
          </p:nvPr>
        </p:nvSpPr>
        <p:spPr/>
        <p:txBody>
          <a:bodyPr/>
          <a:lstStyle/>
          <a:p>
            <a:fld id="{C6684DFB-8BCD-4B6F-9AA1-83F3BA61DF41}" type="slidenum">
              <a:rPr lang="en-US" smtClean="0"/>
              <a:pPr/>
              <a:t>36</a:t>
            </a:fld>
            <a:endParaRPr lang="en-US"/>
          </a:p>
        </p:txBody>
      </p:sp>
      <p:pic>
        <p:nvPicPr>
          <p:cNvPr id="6" name="Picture 5">
            <a:extLst>
              <a:ext uri="{FF2B5EF4-FFF2-40B4-BE49-F238E27FC236}">
                <a16:creationId xmlns:a16="http://schemas.microsoft.com/office/drawing/2014/main" id="{5E4960F7-11BF-7E90-3BCF-113CA2E2EA6C}"/>
              </a:ext>
            </a:extLst>
          </p:cNvPr>
          <p:cNvPicPr>
            <a:picLocks noChangeAspect="1"/>
          </p:cNvPicPr>
          <p:nvPr/>
        </p:nvPicPr>
        <p:blipFill>
          <a:blip r:embed="rId2"/>
          <a:stretch>
            <a:fillRect/>
          </a:stretch>
        </p:blipFill>
        <p:spPr>
          <a:xfrm>
            <a:off x="1581912" y="3022287"/>
            <a:ext cx="6739128" cy="3066169"/>
          </a:xfrm>
          <a:prstGeom prst="rect">
            <a:avLst/>
          </a:prstGeom>
        </p:spPr>
      </p:pic>
    </p:spTree>
    <p:extLst>
      <p:ext uri="{BB962C8B-B14F-4D97-AF65-F5344CB8AC3E}">
        <p14:creationId xmlns:p14="http://schemas.microsoft.com/office/powerpoint/2010/main" val="29065781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E3B59-A4B2-6997-24FB-4FCF82721C82}"/>
              </a:ext>
            </a:extLst>
          </p:cNvPr>
          <p:cNvSpPr>
            <a:spLocks noGrp="1"/>
          </p:cNvSpPr>
          <p:nvPr>
            <p:ph type="title"/>
          </p:nvPr>
        </p:nvSpPr>
        <p:spPr/>
        <p:txBody>
          <a:bodyPr/>
          <a:lstStyle/>
          <a:p>
            <a:r>
              <a:rPr lang="en-US" dirty="0">
                <a:latin typeface="Roboto"/>
                <a:ea typeface="Roboto"/>
                <a:cs typeface="Arial"/>
              </a:rPr>
              <a:t>Network Explainability &amp; Security</a:t>
            </a:r>
            <a:endParaRPr lang="en-US" dirty="0"/>
          </a:p>
        </p:txBody>
      </p:sp>
      <p:sp>
        <p:nvSpPr>
          <p:cNvPr id="3" name="Content Placeholder 2">
            <a:extLst>
              <a:ext uri="{FF2B5EF4-FFF2-40B4-BE49-F238E27FC236}">
                <a16:creationId xmlns:a16="http://schemas.microsoft.com/office/drawing/2014/main" id="{FA4D06A1-6BA3-9C38-A902-6D4F77F1A469}"/>
              </a:ext>
            </a:extLst>
          </p:cNvPr>
          <p:cNvSpPr>
            <a:spLocks noGrp="1"/>
          </p:cNvSpPr>
          <p:nvPr>
            <p:ph idx="1"/>
          </p:nvPr>
        </p:nvSpPr>
        <p:spPr/>
        <p:txBody>
          <a:bodyPr/>
          <a:lstStyle/>
          <a:p>
            <a:r>
              <a:rPr lang="en-US" dirty="0"/>
              <a:t>Deployed Neural Networks are accessible to the public, never trust the public. </a:t>
            </a:r>
          </a:p>
          <a:p>
            <a:endParaRPr lang="en-US" dirty="0"/>
          </a:p>
          <a:p>
            <a:pPr marL="0" indent="0" algn="ctr">
              <a:buNone/>
            </a:pPr>
            <a:r>
              <a:rPr lang="en-US" sz="3600" b="1" dirty="0"/>
              <a:t>How can we trust Neural Networks?</a:t>
            </a:r>
          </a:p>
          <a:p>
            <a:pPr marL="0" indent="0" algn="ctr">
              <a:buNone/>
            </a:pPr>
            <a:endParaRPr lang="en-US" sz="3600" b="1" dirty="0"/>
          </a:p>
          <a:p>
            <a:pPr marL="0" indent="0">
              <a:buNone/>
            </a:pPr>
            <a:r>
              <a:rPr lang="en-US" dirty="0"/>
              <a:t>Explainable AI (XAI) A field of AI Devoted to understanding </a:t>
            </a:r>
            <a:r>
              <a:rPr lang="en-US" b="1" dirty="0"/>
              <a:t>HOW </a:t>
            </a:r>
            <a:r>
              <a:rPr lang="en-US" dirty="0"/>
              <a:t>and </a:t>
            </a:r>
            <a:r>
              <a:rPr lang="en-US" b="1" dirty="0"/>
              <a:t>WHY </a:t>
            </a:r>
            <a:r>
              <a:rPr lang="en-US" dirty="0"/>
              <a:t>networks make decisions.</a:t>
            </a:r>
          </a:p>
        </p:txBody>
      </p:sp>
      <p:sp>
        <p:nvSpPr>
          <p:cNvPr id="4" name="Slide Number Placeholder 3">
            <a:extLst>
              <a:ext uri="{FF2B5EF4-FFF2-40B4-BE49-F238E27FC236}">
                <a16:creationId xmlns:a16="http://schemas.microsoft.com/office/drawing/2014/main" id="{478B98A5-6C22-74AE-8C15-2F6A4F4473A0}"/>
              </a:ext>
            </a:extLst>
          </p:cNvPr>
          <p:cNvSpPr>
            <a:spLocks noGrp="1"/>
          </p:cNvSpPr>
          <p:nvPr>
            <p:ph type="sldNum" sz="quarter" idx="10"/>
          </p:nvPr>
        </p:nvSpPr>
        <p:spPr/>
        <p:txBody>
          <a:bodyPr/>
          <a:lstStyle/>
          <a:p>
            <a:fld id="{C6684DFB-8BCD-4B6F-9AA1-83F3BA61DF41}" type="slidenum">
              <a:rPr lang="en-US" smtClean="0"/>
              <a:pPr/>
              <a:t>37</a:t>
            </a:fld>
            <a:endParaRPr lang="en-US"/>
          </a:p>
        </p:txBody>
      </p:sp>
    </p:spTree>
    <p:extLst>
      <p:ext uri="{BB962C8B-B14F-4D97-AF65-F5344CB8AC3E}">
        <p14:creationId xmlns:p14="http://schemas.microsoft.com/office/powerpoint/2010/main" val="17893745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25019-8353-1ACC-22A3-69061543060D}"/>
              </a:ext>
            </a:extLst>
          </p:cNvPr>
          <p:cNvSpPr>
            <a:spLocks noGrp="1"/>
          </p:cNvSpPr>
          <p:nvPr>
            <p:ph type="title"/>
          </p:nvPr>
        </p:nvSpPr>
        <p:spPr/>
        <p:txBody>
          <a:bodyPr/>
          <a:lstStyle/>
          <a:p>
            <a:r>
              <a:rPr lang="en-US" dirty="0"/>
              <a:t>How secure are these models</a:t>
            </a:r>
          </a:p>
        </p:txBody>
      </p:sp>
      <p:sp>
        <p:nvSpPr>
          <p:cNvPr id="3" name="Content Placeholder 2">
            <a:extLst>
              <a:ext uri="{FF2B5EF4-FFF2-40B4-BE49-F238E27FC236}">
                <a16:creationId xmlns:a16="http://schemas.microsoft.com/office/drawing/2014/main" id="{783615F6-F22E-C25C-F24C-F1DADEFD204B}"/>
              </a:ext>
            </a:extLst>
          </p:cNvPr>
          <p:cNvSpPr>
            <a:spLocks noGrp="1"/>
          </p:cNvSpPr>
          <p:nvPr>
            <p:ph idx="1"/>
          </p:nvPr>
        </p:nvSpPr>
        <p:spPr/>
        <p:txBody>
          <a:bodyPr>
            <a:normAutofit lnSpcReduction="10000"/>
          </a:bodyPr>
          <a:lstStyle/>
          <a:p>
            <a:r>
              <a:rPr lang="en-US" dirty="0"/>
              <a:t>Saliency Map: Compute the gradient of the model output w.r.t the input </a:t>
            </a:r>
          </a:p>
          <a:p>
            <a:endParaRPr lang="en-US" dirty="0"/>
          </a:p>
          <a:p>
            <a:r>
              <a:rPr lang="en-US" dirty="0" err="1"/>
              <a:t>DeepLIFT</a:t>
            </a:r>
            <a:r>
              <a:rPr lang="en-US" dirty="0"/>
              <a:t> SHAP: Approximate Shapley Additive </a:t>
            </a:r>
            <a:r>
              <a:rPr lang="en-US" dirty="0" err="1"/>
              <a:t>exPlanations</a:t>
            </a:r>
            <a:r>
              <a:rPr lang="en-US" dirty="0"/>
              <a:t> (SHAP) by comparing input to some ‘baseline’</a:t>
            </a:r>
          </a:p>
          <a:p>
            <a:endParaRPr lang="en-US" dirty="0"/>
          </a:p>
          <a:p>
            <a:r>
              <a:rPr lang="en-US" dirty="0"/>
              <a:t>Integrated Gradients: Compute the integration of the gradients from the baseline of input to the actual input</a:t>
            </a:r>
          </a:p>
        </p:txBody>
      </p:sp>
      <p:sp>
        <p:nvSpPr>
          <p:cNvPr id="4" name="Slide Number Placeholder 3">
            <a:extLst>
              <a:ext uri="{FF2B5EF4-FFF2-40B4-BE49-F238E27FC236}">
                <a16:creationId xmlns:a16="http://schemas.microsoft.com/office/drawing/2014/main" id="{2DA95285-910B-593D-6E17-D16427778D61}"/>
              </a:ext>
            </a:extLst>
          </p:cNvPr>
          <p:cNvSpPr>
            <a:spLocks noGrp="1"/>
          </p:cNvSpPr>
          <p:nvPr>
            <p:ph type="sldNum" sz="quarter" idx="10"/>
          </p:nvPr>
        </p:nvSpPr>
        <p:spPr/>
        <p:txBody>
          <a:bodyPr/>
          <a:lstStyle/>
          <a:p>
            <a:fld id="{C6684DFB-8BCD-4B6F-9AA1-83F3BA61DF41}" type="slidenum">
              <a:rPr lang="en-US" smtClean="0"/>
              <a:pPr/>
              <a:t>38</a:t>
            </a:fld>
            <a:endParaRPr lang="en-US"/>
          </a:p>
        </p:txBody>
      </p:sp>
      <p:sp>
        <p:nvSpPr>
          <p:cNvPr id="6" name="TextBox 5">
            <a:extLst>
              <a:ext uri="{FF2B5EF4-FFF2-40B4-BE49-F238E27FC236}">
                <a16:creationId xmlns:a16="http://schemas.microsoft.com/office/drawing/2014/main" id="{6DC930C1-575D-F68C-97D3-2106396ED52A}"/>
              </a:ext>
            </a:extLst>
          </p:cNvPr>
          <p:cNvSpPr txBox="1"/>
          <p:nvPr/>
        </p:nvSpPr>
        <p:spPr>
          <a:xfrm>
            <a:off x="1631442" y="2871323"/>
            <a:ext cx="9608058" cy="253916"/>
          </a:xfrm>
          <a:prstGeom prst="rect">
            <a:avLst/>
          </a:prstGeom>
          <a:noFill/>
        </p:spPr>
        <p:txBody>
          <a:bodyPr wrap="square">
            <a:spAutoFit/>
          </a:bodyPr>
          <a:lstStyle/>
          <a:p>
            <a:r>
              <a:rPr lang="en-US" sz="1050" dirty="0"/>
              <a:t>“Deep Inside Convolutional Networks: </a:t>
            </a:r>
            <a:r>
              <a:rPr lang="en-US" sz="1050" dirty="0" err="1"/>
              <a:t>Visualising</a:t>
            </a:r>
            <a:r>
              <a:rPr lang="en-US" sz="1050" dirty="0"/>
              <a:t> Image Classification Models and Saliency Maps” Karen Simonyan, Andrea </a:t>
            </a:r>
            <a:r>
              <a:rPr lang="en-US" sz="1050" dirty="0" err="1"/>
              <a:t>Vedaldi</a:t>
            </a:r>
            <a:r>
              <a:rPr lang="en-US" sz="1050" dirty="0"/>
              <a:t>, Andrew Zisserman (2014)</a:t>
            </a:r>
          </a:p>
        </p:txBody>
      </p:sp>
      <p:sp>
        <p:nvSpPr>
          <p:cNvPr id="8" name="TextBox 7">
            <a:extLst>
              <a:ext uri="{FF2B5EF4-FFF2-40B4-BE49-F238E27FC236}">
                <a16:creationId xmlns:a16="http://schemas.microsoft.com/office/drawing/2014/main" id="{8B716CCE-3FD4-0B47-729F-64541089E2BD}"/>
              </a:ext>
            </a:extLst>
          </p:cNvPr>
          <p:cNvSpPr txBox="1"/>
          <p:nvPr/>
        </p:nvSpPr>
        <p:spPr>
          <a:xfrm>
            <a:off x="1631442" y="4280503"/>
            <a:ext cx="6094476" cy="253916"/>
          </a:xfrm>
          <a:prstGeom prst="rect">
            <a:avLst/>
          </a:prstGeom>
          <a:noFill/>
        </p:spPr>
        <p:txBody>
          <a:bodyPr wrap="square">
            <a:spAutoFit/>
          </a:bodyPr>
          <a:lstStyle/>
          <a:p>
            <a:r>
              <a:rPr lang="en-US" sz="1050"/>
              <a:t>“A Unified Approach to Interpreting Model Predictions” Scott Lundberg, Su-In Lee (2017)</a:t>
            </a:r>
            <a:endParaRPr lang="en-US" sz="1050" dirty="0"/>
          </a:p>
        </p:txBody>
      </p:sp>
      <p:sp>
        <p:nvSpPr>
          <p:cNvPr id="10" name="TextBox 9">
            <a:extLst>
              <a:ext uri="{FF2B5EF4-FFF2-40B4-BE49-F238E27FC236}">
                <a16:creationId xmlns:a16="http://schemas.microsoft.com/office/drawing/2014/main" id="{3B4E4962-3263-8342-ACDF-15ADDFA0C1CE}"/>
              </a:ext>
            </a:extLst>
          </p:cNvPr>
          <p:cNvSpPr txBox="1"/>
          <p:nvPr/>
        </p:nvSpPr>
        <p:spPr>
          <a:xfrm>
            <a:off x="1631442" y="5681990"/>
            <a:ext cx="6094476" cy="261610"/>
          </a:xfrm>
          <a:prstGeom prst="rect">
            <a:avLst/>
          </a:prstGeom>
          <a:noFill/>
        </p:spPr>
        <p:txBody>
          <a:bodyPr wrap="square">
            <a:spAutoFit/>
          </a:bodyPr>
          <a:lstStyle/>
          <a:p>
            <a:r>
              <a:rPr lang="en-US" sz="1050" dirty="0"/>
              <a:t>“Axiomatic Attribution for Deep Networks” Mukund Sundararajan, Ankur Taly, </a:t>
            </a:r>
            <a:r>
              <a:rPr lang="en-US" sz="1050" dirty="0" err="1"/>
              <a:t>Qiqi</a:t>
            </a:r>
            <a:r>
              <a:rPr lang="en-US" sz="1050" dirty="0"/>
              <a:t> Yan (2017)</a:t>
            </a:r>
          </a:p>
        </p:txBody>
      </p:sp>
    </p:spTree>
    <p:extLst>
      <p:ext uri="{BB962C8B-B14F-4D97-AF65-F5344CB8AC3E}">
        <p14:creationId xmlns:p14="http://schemas.microsoft.com/office/powerpoint/2010/main" val="3058302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30A8D-B99F-08B6-138D-4D04EB64B7DB}"/>
              </a:ext>
            </a:extLst>
          </p:cNvPr>
          <p:cNvSpPr>
            <a:spLocks noGrp="1"/>
          </p:cNvSpPr>
          <p:nvPr>
            <p:ph type="title"/>
          </p:nvPr>
        </p:nvSpPr>
        <p:spPr/>
        <p:txBody>
          <a:bodyPr/>
          <a:lstStyle/>
          <a:p>
            <a:r>
              <a:rPr lang="en-US" dirty="0"/>
              <a:t>What do these XAI techniques reveal?</a:t>
            </a:r>
          </a:p>
        </p:txBody>
      </p:sp>
      <p:sp>
        <p:nvSpPr>
          <p:cNvPr id="4" name="Slide Number Placeholder 3">
            <a:extLst>
              <a:ext uri="{FF2B5EF4-FFF2-40B4-BE49-F238E27FC236}">
                <a16:creationId xmlns:a16="http://schemas.microsoft.com/office/drawing/2014/main" id="{F392977B-E8B5-5F4A-3C12-FD41A184DFA1}"/>
              </a:ext>
            </a:extLst>
          </p:cNvPr>
          <p:cNvSpPr>
            <a:spLocks noGrp="1"/>
          </p:cNvSpPr>
          <p:nvPr>
            <p:ph type="sldNum" sz="quarter" idx="10"/>
          </p:nvPr>
        </p:nvSpPr>
        <p:spPr/>
        <p:txBody>
          <a:bodyPr/>
          <a:lstStyle/>
          <a:p>
            <a:fld id="{C6684DFB-8BCD-4B6F-9AA1-83F3BA61DF41}" type="slidenum">
              <a:rPr lang="en-US" smtClean="0"/>
              <a:pPr/>
              <a:t>39</a:t>
            </a:fld>
            <a:endParaRPr lang="en-US"/>
          </a:p>
        </p:txBody>
      </p:sp>
      <p:pic>
        <p:nvPicPr>
          <p:cNvPr id="6" name="Picture 5">
            <a:extLst>
              <a:ext uri="{FF2B5EF4-FFF2-40B4-BE49-F238E27FC236}">
                <a16:creationId xmlns:a16="http://schemas.microsoft.com/office/drawing/2014/main" id="{07BBE696-74EA-4A94-5FFC-F64B22B6F514}"/>
              </a:ext>
            </a:extLst>
          </p:cNvPr>
          <p:cNvPicPr>
            <a:picLocks noChangeAspect="1"/>
          </p:cNvPicPr>
          <p:nvPr/>
        </p:nvPicPr>
        <p:blipFill>
          <a:blip r:embed="rId2"/>
          <a:stretch>
            <a:fillRect/>
          </a:stretch>
        </p:blipFill>
        <p:spPr>
          <a:xfrm>
            <a:off x="1619671" y="1886108"/>
            <a:ext cx="9112498" cy="4276256"/>
          </a:xfrm>
          <a:prstGeom prst="rect">
            <a:avLst/>
          </a:prstGeom>
        </p:spPr>
      </p:pic>
    </p:spTree>
    <p:extLst>
      <p:ext uri="{BB962C8B-B14F-4D97-AF65-F5344CB8AC3E}">
        <p14:creationId xmlns:p14="http://schemas.microsoft.com/office/powerpoint/2010/main" val="29911653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3D618-689B-8A4D-EF04-5627A1F8244D}"/>
              </a:ext>
            </a:extLst>
          </p:cNvPr>
          <p:cNvSpPr>
            <a:spLocks noGrp="1"/>
          </p:cNvSpPr>
          <p:nvPr>
            <p:ph type="title"/>
          </p:nvPr>
        </p:nvSpPr>
        <p:spPr/>
        <p:txBody>
          <a:bodyPr/>
          <a:lstStyle/>
          <a:p>
            <a:r>
              <a:rPr lang="en-US" dirty="0"/>
              <a:t>Key limitation for XAI</a:t>
            </a:r>
          </a:p>
        </p:txBody>
      </p:sp>
      <p:sp>
        <p:nvSpPr>
          <p:cNvPr id="3" name="Content Placeholder 2">
            <a:extLst>
              <a:ext uri="{FF2B5EF4-FFF2-40B4-BE49-F238E27FC236}">
                <a16:creationId xmlns:a16="http://schemas.microsoft.com/office/drawing/2014/main" id="{76C69EE3-E22C-B7FD-BBAC-B92CB92062CB}"/>
              </a:ext>
            </a:extLst>
          </p:cNvPr>
          <p:cNvSpPr>
            <a:spLocks noGrp="1"/>
          </p:cNvSpPr>
          <p:nvPr>
            <p:ph idx="1"/>
          </p:nvPr>
        </p:nvSpPr>
        <p:spPr>
          <a:xfrm>
            <a:off x="705612" y="1886149"/>
            <a:ext cx="10287000" cy="3892859"/>
          </a:xfrm>
        </p:spPr>
        <p:txBody>
          <a:bodyPr/>
          <a:lstStyle/>
          <a:p>
            <a:r>
              <a:rPr lang="en-US" dirty="0"/>
              <a:t>You typically need holdout data and the model weights to see what these models learned.</a:t>
            </a:r>
          </a:p>
          <a:p>
            <a:pPr marL="0" indent="0" algn="ctr">
              <a:buNone/>
            </a:pPr>
            <a:r>
              <a:rPr lang="en-US" dirty="0"/>
              <a:t>What happens if your training data is compromised? </a:t>
            </a:r>
          </a:p>
        </p:txBody>
      </p:sp>
      <p:sp>
        <p:nvSpPr>
          <p:cNvPr id="4" name="Slide Number Placeholder 3">
            <a:extLst>
              <a:ext uri="{FF2B5EF4-FFF2-40B4-BE49-F238E27FC236}">
                <a16:creationId xmlns:a16="http://schemas.microsoft.com/office/drawing/2014/main" id="{090A6921-5D47-BAA2-445C-F86B7AF4B5BA}"/>
              </a:ext>
            </a:extLst>
          </p:cNvPr>
          <p:cNvSpPr>
            <a:spLocks noGrp="1"/>
          </p:cNvSpPr>
          <p:nvPr>
            <p:ph type="sldNum" sz="quarter" idx="10"/>
          </p:nvPr>
        </p:nvSpPr>
        <p:spPr/>
        <p:txBody>
          <a:bodyPr/>
          <a:lstStyle/>
          <a:p>
            <a:fld id="{C6684DFB-8BCD-4B6F-9AA1-83F3BA61DF41}" type="slidenum">
              <a:rPr lang="en-US" smtClean="0"/>
              <a:pPr/>
              <a:t>40</a:t>
            </a:fld>
            <a:endParaRPr lang="en-US"/>
          </a:p>
        </p:txBody>
      </p:sp>
      <p:pic>
        <p:nvPicPr>
          <p:cNvPr id="6" name="Picture 5">
            <a:extLst>
              <a:ext uri="{FF2B5EF4-FFF2-40B4-BE49-F238E27FC236}">
                <a16:creationId xmlns:a16="http://schemas.microsoft.com/office/drawing/2014/main" id="{F2D947F5-184F-155C-170D-DCAB32B2378E}"/>
              </a:ext>
            </a:extLst>
          </p:cNvPr>
          <p:cNvPicPr>
            <a:picLocks noChangeAspect="1"/>
          </p:cNvPicPr>
          <p:nvPr/>
        </p:nvPicPr>
        <p:blipFill>
          <a:blip r:embed="rId2"/>
          <a:stretch>
            <a:fillRect/>
          </a:stretch>
        </p:blipFill>
        <p:spPr>
          <a:xfrm>
            <a:off x="245608" y="3323923"/>
            <a:ext cx="4696480" cy="2162477"/>
          </a:xfrm>
          <a:prstGeom prst="rect">
            <a:avLst/>
          </a:prstGeom>
        </p:spPr>
      </p:pic>
      <p:sp>
        <p:nvSpPr>
          <p:cNvPr id="8" name="TextBox 7">
            <a:extLst>
              <a:ext uri="{FF2B5EF4-FFF2-40B4-BE49-F238E27FC236}">
                <a16:creationId xmlns:a16="http://schemas.microsoft.com/office/drawing/2014/main" id="{CC317FA9-C75B-2442-3BAA-95C2D8BF231A}"/>
              </a:ext>
            </a:extLst>
          </p:cNvPr>
          <p:cNvSpPr txBox="1"/>
          <p:nvPr/>
        </p:nvSpPr>
        <p:spPr>
          <a:xfrm>
            <a:off x="245608" y="5606013"/>
            <a:ext cx="6094476" cy="461665"/>
          </a:xfrm>
          <a:prstGeom prst="rect">
            <a:avLst/>
          </a:prstGeom>
          <a:noFill/>
        </p:spPr>
        <p:txBody>
          <a:bodyPr wrap="square">
            <a:spAutoFit/>
          </a:bodyPr>
          <a:lstStyle/>
          <a:p>
            <a:r>
              <a:rPr lang="en-US" sz="1200" dirty="0"/>
              <a:t>“An Embarrassingly Simple Approach for Trojan Attack in Deep Neural Networks“ </a:t>
            </a:r>
            <a:r>
              <a:rPr lang="en-US" sz="1200" dirty="0" err="1"/>
              <a:t>Ruixiang</a:t>
            </a:r>
            <a:r>
              <a:rPr lang="en-US" sz="1200" dirty="0"/>
              <a:t> Tang, </a:t>
            </a:r>
            <a:r>
              <a:rPr lang="en-US" sz="1200" dirty="0" err="1"/>
              <a:t>Mengnan</a:t>
            </a:r>
            <a:r>
              <a:rPr lang="en-US" sz="1200" dirty="0"/>
              <a:t> Du, </a:t>
            </a:r>
            <a:r>
              <a:rPr lang="en-US" sz="1200" dirty="0" err="1"/>
              <a:t>Ninghao</a:t>
            </a:r>
            <a:r>
              <a:rPr lang="en-US" sz="1200" dirty="0"/>
              <a:t> Liu, Fan Yang, Xia Hu</a:t>
            </a:r>
          </a:p>
        </p:txBody>
      </p:sp>
      <p:pic>
        <p:nvPicPr>
          <p:cNvPr id="10" name="Picture 9">
            <a:extLst>
              <a:ext uri="{FF2B5EF4-FFF2-40B4-BE49-F238E27FC236}">
                <a16:creationId xmlns:a16="http://schemas.microsoft.com/office/drawing/2014/main" id="{A9D2056B-F116-8A7D-C317-CBD0D47A020A}"/>
              </a:ext>
            </a:extLst>
          </p:cNvPr>
          <p:cNvPicPr>
            <a:picLocks noChangeAspect="1"/>
          </p:cNvPicPr>
          <p:nvPr/>
        </p:nvPicPr>
        <p:blipFill>
          <a:blip r:embed="rId3"/>
          <a:stretch>
            <a:fillRect/>
          </a:stretch>
        </p:blipFill>
        <p:spPr>
          <a:xfrm>
            <a:off x="6251240" y="3278707"/>
            <a:ext cx="5201376" cy="2038635"/>
          </a:xfrm>
          <a:prstGeom prst="rect">
            <a:avLst/>
          </a:prstGeom>
        </p:spPr>
      </p:pic>
      <p:sp>
        <p:nvSpPr>
          <p:cNvPr id="12" name="TextBox 11">
            <a:extLst>
              <a:ext uri="{FF2B5EF4-FFF2-40B4-BE49-F238E27FC236}">
                <a16:creationId xmlns:a16="http://schemas.microsoft.com/office/drawing/2014/main" id="{00BAD739-25CF-5628-FEA6-8A500913AE1B}"/>
              </a:ext>
            </a:extLst>
          </p:cNvPr>
          <p:cNvSpPr txBox="1"/>
          <p:nvPr/>
        </p:nvSpPr>
        <p:spPr>
          <a:xfrm>
            <a:off x="6097524" y="5421346"/>
            <a:ext cx="6094476" cy="830997"/>
          </a:xfrm>
          <a:prstGeom prst="rect">
            <a:avLst/>
          </a:prstGeom>
          <a:noFill/>
        </p:spPr>
        <p:txBody>
          <a:bodyPr wrap="square">
            <a:spAutoFit/>
          </a:bodyPr>
          <a:lstStyle/>
          <a:p>
            <a:r>
              <a:rPr lang="en-US" sz="1200" dirty="0"/>
              <a:t>“Poisoning attacks on LLMs require a near-constant number of poison samples”</a:t>
            </a:r>
          </a:p>
          <a:p>
            <a:r>
              <a:rPr lang="en-US" sz="1200" dirty="0"/>
              <a:t> Souly et al. </a:t>
            </a:r>
          </a:p>
          <a:p>
            <a:pPr marL="171450" indent="-171450">
              <a:buFontTx/>
              <a:buChar char="-"/>
            </a:pPr>
            <a:r>
              <a:rPr lang="en-US" sz="1200" dirty="0"/>
              <a:t>As little as 250 poisoned documents needed to reliably backdoor LLMs </a:t>
            </a:r>
          </a:p>
          <a:p>
            <a:pPr marL="171450" indent="-171450">
              <a:buFontTx/>
              <a:buChar char="-"/>
            </a:pPr>
            <a:r>
              <a:rPr lang="en-US" sz="1200" dirty="0"/>
              <a:t>Larger models are MORE vulnerable than smaller models</a:t>
            </a:r>
          </a:p>
        </p:txBody>
      </p:sp>
    </p:spTree>
    <p:extLst>
      <p:ext uri="{BB962C8B-B14F-4D97-AF65-F5344CB8AC3E}">
        <p14:creationId xmlns:p14="http://schemas.microsoft.com/office/powerpoint/2010/main" val="36646387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3A0C3-3830-30F8-F4C6-0EA0570CCDA5}"/>
              </a:ext>
            </a:extLst>
          </p:cNvPr>
          <p:cNvSpPr>
            <a:spLocks noGrp="1"/>
          </p:cNvSpPr>
          <p:nvPr>
            <p:ph type="title"/>
          </p:nvPr>
        </p:nvSpPr>
        <p:spPr/>
        <p:txBody>
          <a:bodyPr/>
          <a:lstStyle/>
          <a:p>
            <a:r>
              <a:rPr lang="en-US" dirty="0"/>
              <a:t>Deployment invites attack</a:t>
            </a:r>
          </a:p>
        </p:txBody>
      </p:sp>
      <p:sp>
        <p:nvSpPr>
          <p:cNvPr id="3" name="Content Placeholder 2">
            <a:extLst>
              <a:ext uri="{FF2B5EF4-FFF2-40B4-BE49-F238E27FC236}">
                <a16:creationId xmlns:a16="http://schemas.microsoft.com/office/drawing/2014/main" id="{577D3FFE-04E9-BCA8-93CA-383876ADAA2A}"/>
              </a:ext>
            </a:extLst>
          </p:cNvPr>
          <p:cNvSpPr>
            <a:spLocks noGrp="1"/>
          </p:cNvSpPr>
          <p:nvPr>
            <p:ph idx="1"/>
          </p:nvPr>
        </p:nvSpPr>
        <p:spPr>
          <a:xfrm>
            <a:off x="358612" y="2069594"/>
            <a:ext cx="7805000" cy="3892859"/>
          </a:xfrm>
        </p:spPr>
        <p:txBody>
          <a:bodyPr/>
          <a:lstStyle/>
          <a:p>
            <a:r>
              <a:rPr lang="en-US" dirty="0"/>
              <a:t>Surrogate to Target Transfer Scenario (STTS)</a:t>
            </a:r>
          </a:p>
          <a:p>
            <a:pPr lvl="1"/>
            <a:r>
              <a:rPr lang="en-US" dirty="0"/>
              <a:t>Different models trained on similar data tend to learn similar decision boundaries, even if their architectures differ</a:t>
            </a:r>
          </a:p>
          <a:p>
            <a:pPr lvl="1"/>
            <a:endParaRPr lang="en-US" dirty="0"/>
          </a:p>
          <a:p>
            <a:pPr lvl="1"/>
            <a:r>
              <a:rPr lang="en-US" dirty="0"/>
              <a:t>This is a security concern as you can attack unknown models without ever having access to them</a:t>
            </a:r>
          </a:p>
          <a:p>
            <a:endParaRPr lang="en-US" dirty="0"/>
          </a:p>
        </p:txBody>
      </p:sp>
      <p:sp>
        <p:nvSpPr>
          <p:cNvPr id="4" name="Slide Number Placeholder 3">
            <a:extLst>
              <a:ext uri="{FF2B5EF4-FFF2-40B4-BE49-F238E27FC236}">
                <a16:creationId xmlns:a16="http://schemas.microsoft.com/office/drawing/2014/main" id="{E90651DD-18E7-E9E6-1068-1E114D2BF253}"/>
              </a:ext>
            </a:extLst>
          </p:cNvPr>
          <p:cNvSpPr>
            <a:spLocks noGrp="1"/>
          </p:cNvSpPr>
          <p:nvPr>
            <p:ph type="sldNum" sz="quarter" idx="10"/>
          </p:nvPr>
        </p:nvSpPr>
        <p:spPr/>
        <p:txBody>
          <a:bodyPr/>
          <a:lstStyle/>
          <a:p>
            <a:fld id="{C6684DFB-8BCD-4B6F-9AA1-83F3BA61DF41}" type="slidenum">
              <a:rPr lang="en-US" smtClean="0"/>
              <a:pPr/>
              <a:t>41</a:t>
            </a:fld>
            <a:endParaRPr lang="en-US"/>
          </a:p>
        </p:txBody>
      </p:sp>
      <p:pic>
        <p:nvPicPr>
          <p:cNvPr id="6" name="Graphic 5">
            <a:extLst>
              <a:ext uri="{FF2B5EF4-FFF2-40B4-BE49-F238E27FC236}">
                <a16:creationId xmlns:a16="http://schemas.microsoft.com/office/drawing/2014/main" id="{C6F78153-2080-FCD2-3182-3B27547AE2DB}"/>
              </a:ext>
            </a:extLst>
          </p:cNvPr>
          <p:cNvPicPr>
            <a:picLocks noChangeAspect="1"/>
          </p:cNvPicPr>
          <p:nvPr/>
        </p:nvPicPr>
        <p:blipFill>
          <a:blip r:embed="rId2">
            <a:extLst>
              <a:ext uri="{96DAC541-7B7A-43D3-8B79-37D633B846F1}">
                <asvg:svgBlip xmlns:asvg="http://schemas.microsoft.com/office/drawing/2016/SVG/main" r:embed="rId3"/>
              </a:ext>
            </a:extLst>
          </a:blip>
          <a:srcRect l="12912" t="4798" r="52766" b="62625"/>
          <a:stretch>
            <a:fillRect/>
          </a:stretch>
        </p:blipFill>
        <p:spPr>
          <a:xfrm>
            <a:off x="8312972" y="1598711"/>
            <a:ext cx="3338456" cy="4481784"/>
          </a:xfrm>
          <a:prstGeom prst="rect">
            <a:avLst/>
          </a:prstGeom>
        </p:spPr>
      </p:pic>
      <p:pic>
        <p:nvPicPr>
          <p:cNvPr id="8" name="Picture 7">
            <a:extLst>
              <a:ext uri="{FF2B5EF4-FFF2-40B4-BE49-F238E27FC236}">
                <a16:creationId xmlns:a16="http://schemas.microsoft.com/office/drawing/2014/main" id="{11DEC41E-680D-F400-A51F-BF635F9D7B07}"/>
              </a:ext>
            </a:extLst>
          </p:cNvPr>
          <p:cNvPicPr>
            <a:picLocks noChangeAspect="1"/>
          </p:cNvPicPr>
          <p:nvPr/>
        </p:nvPicPr>
        <p:blipFill>
          <a:blip r:embed="rId4"/>
          <a:stretch>
            <a:fillRect/>
          </a:stretch>
        </p:blipFill>
        <p:spPr>
          <a:xfrm>
            <a:off x="1993327" y="2336533"/>
            <a:ext cx="4865715" cy="2343354"/>
          </a:xfrm>
          <a:prstGeom prst="rect">
            <a:avLst/>
          </a:prstGeom>
        </p:spPr>
      </p:pic>
    </p:spTree>
    <p:extLst>
      <p:ext uri="{BB962C8B-B14F-4D97-AF65-F5344CB8AC3E}">
        <p14:creationId xmlns:p14="http://schemas.microsoft.com/office/powerpoint/2010/main" val="32724100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E5FD3-22AC-CE35-BBE6-D029B20A259F}"/>
              </a:ext>
            </a:extLst>
          </p:cNvPr>
          <p:cNvSpPr>
            <a:spLocks noGrp="1"/>
          </p:cNvSpPr>
          <p:nvPr>
            <p:ph type="title"/>
          </p:nvPr>
        </p:nvSpPr>
        <p:spPr/>
        <p:txBody>
          <a:bodyPr/>
          <a:lstStyle/>
          <a:p>
            <a:r>
              <a:rPr lang="en-US" dirty="0"/>
              <a:t>What if we could see what a network learned without ANY holdout data?</a:t>
            </a:r>
          </a:p>
        </p:txBody>
      </p:sp>
      <p:sp>
        <p:nvSpPr>
          <p:cNvPr id="3" name="Content Placeholder 2">
            <a:extLst>
              <a:ext uri="{FF2B5EF4-FFF2-40B4-BE49-F238E27FC236}">
                <a16:creationId xmlns:a16="http://schemas.microsoft.com/office/drawing/2014/main" id="{B2059F83-4094-4F31-E2E9-19AC33C8F303}"/>
              </a:ext>
            </a:extLst>
          </p:cNvPr>
          <p:cNvSpPr>
            <a:spLocks noGrp="1"/>
          </p:cNvSpPr>
          <p:nvPr>
            <p:ph idx="1"/>
          </p:nvPr>
        </p:nvSpPr>
        <p:spPr/>
        <p:txBody>
          <a:bodyPr/>
          <a:lstStyle/>
          <a:p>
            <a:r>
              <a:rPr lang="en-US" dirty="0"/>
              <a:t>Adversarial Particle Swarm Optimization</a:t>
            </a:r>
          </a:p>
          <a:p>
            <a:endParaRPr lang="en-US" dirty="0"/>
          </a:p>
        </p:txBody>
      </p:sp>
      <p:sp>
        <p:nvSpPr>
          <p:cNvPr id="4" name="Slide Number Placeholder 3">
            <a:extLst>
              <a:ext uri="{FF2B5EF4-FFF2-40B4-BE49-F238E27FC236}">
                <a16:creationId xmlns:a16="http://schemas.microsoft.com/office/drawing/2014/main" id="{5321B5C5-0EC4-B41C-9977-79F374085F79}"/>
              </a:ext>
            </a:extLst>
          </p:cNvPr>
          <p:cNvSpPr>
            <a:spLocks noGrp="1"/>
          </p:cNvSpPr>
          <p:nvPr>
            <p:ph type="sldNum" sz="quarter" idx="10"/>
          </p:nvPr>
        </p:nvSpPr>
        <p:spPr/>
        <p:txBody>
          <a:bodyPr/>
          <a:lstStyle/>
          <a:p>
            <a:fld id="{C6684DFB-8BCD-4B6F-9AA1-83F3BA61DF41}" type="slidenum">
              <a:rPr lang="en-US" smtClean="0"/>
              <a:pPr/>
              <a:t>42</a:t>
            </a:fld>
            <a:endParaRPr lang="en-US"/>
          </a:p>
        </p:txBody>
      </p:sp>
      <p:pic>
        <p:nvPicPr>
          <p:cNvPr id="6" name="Picture 5">
            <a:extLst>
              <a:ext uri="{FF2B5EF4-FFF2-40B4-BE49-F238E27FC236}">
                <a16:creationId xmlns:a16="http://schemas.microsoft.com/office/drawing/2014/main" id="{38E2A3BF-6870-9D09-B064-A21ECA4CFFE2}"/>
              </a:ext>
            </a:extLst>
          </p:cNvPr>
          <p:cNvPicPr>
            <a:picLocks noChangeAspect="1"/>
          </p:cNvPicPr>
          <p:nvPr/>
        </p:nvPicPr>
        <p:blipFill>
          <a:blip r:embed="rId2"/>
          <a:stretch>
            <a:fillRect/>
          </a:stretch>
        </p:blipFill>
        <p:spPr>
          <a:xfrm>
            <a:off x="1886565" y="2620492"/>
            <a:ext cx="4721730" cy="3400111"/>
          </a:xfrm>
          <a:prstGeom prst="rect">
            <a:avLst/>
          </a:prstGeom>
        </p:spPr>
      </p:pic>
      <p:sp>
        <p:nvSpPr>
          <p:cNvPr id="7" name="TextBox 6">
            <a:extLst>
              <a:ext uri="{FF2B5EF4-FFF2-40B4-BE49-F238E27FC236}">
                <a16:creationId xmlns:a16="http://schemas.microsoft.com/office/drawing/2014/main" id="{7148F777-81BC-746E-5301-2A9AF37736C7}"/>
              </a:ext>
            </a:extLst>
          </p:cNvPr>
          <p:cNvSpPr txBox="1"/>
          <p:nvPr/>
        </p:nvSpPr>
        <p:spPr>
          <a:xfrm>
            <a:off x="7344075" y="2735497"/>
            <a:ext cx="4408370" cy="3170099"/>
          </a:xfrm>
          <a:prstGeom prst="rect">
            <a:avLst/>
          </a:prstGeom>
          <a:noFill/>
        </p:spPr>
        <p:txBody>
          <a:bodyPr wrap="square" rtlCol="0">
            <a:spAutoFit/>
          </a:bodyPr>
          <a:lstStyle/>
          <a:p>
            <a:r>
              <a:rPr lang="en-US" sz="2000" b="1" dirty="0"/>
              <a:t>Derivative-Free:</a:t>
            </a:r>
            <a:r>
              <a:rPr lang="en-US" sz="2000" dirty="0"/>
              <a:t> Does not rely on gradients</a:t>
            </a:r>
          </a:p>
          <a:p>
            <a:endParaRPr lang="en-US" sz="2000" dirty="0"/>
          </a:p>
          <a:p>
            <a:r>
              <a:rPr lang="en-US" sz="2000" b="1" dirty="0"/>
              <a:t>Population-Based: </a:t>
            </a:r>
            <a:r>
              <a:rPr lang="en-US" sz="2000" dirty="0"/>
              <a:t>A swarm of particle explore the input space simultaneously</a:t>
            </a:r>
          </a:p>
          <a:p>
            <a:endParaRPr lang="en-US" sz="2000" dirty="0"/>
          </a:p>
          <a:p>
            <a:r>
              <a:rPr lang="en-US" sz="2000" b="1" dirty="0"/>
              <a:t>Social Intelligence: </a:t>
            </a:r>
            <a:r>
              <a:rPr lang="en-US" sz="2000" dirty="0"/>
              <a:t>Particles communicate to find global weakness, not just local artifacts</a:t>
            </a:r>
          </a:p>
        </p:txBody>
      </p:sp>
      <p:pic>
        <p:nvPicPr>
          <p:cNvPr id="8" name="Picture 7">
            <a:extLst>
              <a:ext uri="{FF2B5EF4-FFF2-40B4-BE49-F238E27FC236}">
                <a16:creationId xmlns:a16="http://schemas.microsoft.com/office/drawing/2014/main" id="{A713F5A3-15F8-37E1-A0D0-302E1BD26866}"/>
              </a:ext>
            </a:extLst>
          </p:cNvPr>
          <p:cNvPicPr>
            <a:picLocks noChangeAspect="1"/>
          </p:cNvPicPr>
          <p:nvPr/>
        </p:nvPicPr>
        <p:blipFill>
          <a:blip r:embed="rId3"/>
          <a:stretch>
            <a:fillRect/>
          </a:stretch>
        </p:blipFill>
        <p:spPr>
          <a:xfrm>
            <a:off x="0" y="6005350"/>
            <a:ext cx="838200" cy="852650"/>
          </a:xfrm>
          <a:prstGeom prst="rect">
            <a:avLst/>
          </a:prstGeom>
        </p:spPr>
      </p:pic>
      <p:sp>
        <p:nvSpPr>
          <p:cNvPr id="9" name="TextBox 8">
            <a:extLst>
              <a:ext uri="{FF2B5EF4-FFF2-40B4-BE49-F238E27FC236}">
                <a16:creationId xmlns:a16="http://schemas.microsoft.com/office/drawing/2014/main" id="{72283C22-3E64-10F5-1CB3-B33F8858931A}"/>
              </a:ext>
            </a:extLst>
          </p:cNvPr>
          <p:cNvSpPr txBox="1"/>
          <p:nvPr/>
        </p:nvSpPr>
        <p:spPr>
          <a:xfrm>
            <a:off x="-199763" y="5612821"/>
            <a:ext cx="1278636" cy="415498"/>
          </a:xfrm>
          <a:prstGeom prst="rect">
            <a:avLst/>
          </a:prstGeom>
          <a:noFill/>
        </p:spPr>
        <p:txBody>
          <a:bodyPr wrap="square" rtlCol="0">
            <a:spAutoFit/>
          </a:bodyPr>
          <a:lstStyle/>
          <a:p>
            <a:pPr algn="ctr"/>
            <a:r>
              <a:rPr lang="en-US" sz="1050" dirty="0"/>
              <a:t>Gafur et al. </a:t>
            </a:r>
          </a:p>
          <a:p>
            <a:pPr algn="ctr"/>
            <a:r>
              <a:rPr lang="en-US" sz="1050" dirty="0"/>
              <a:t>2024</a:t>
            </a:r>
          </a:p>
        </p:txBody>
      </p:sp>
    </p:spTree>
    <p:extLst>
      <p:ext uri="{BB962C8B-B14F-4D97-AF65-F5344CB8AC3E}">
        <p14:creationId xmlns:p14="http://schemas.microsoft.com/office/powerpoint/2010/main" val="2843469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C172A-13DB-C5C1-AEB2-3F91AEB29A86}"/>
              </a:ext>
            </a:extLst>
          </p:cNvPr>
          <p:cNvSpPr>
            <a:spLocks noGrp="1"/>
          </p:cNvSpPr>
          <p:nvPr>
            <p:ph type="title"/>
          </p:nvPr>
        </p:nvSpPr>
        <p:spPr/>
        <p:txBody>
          <a:bodyPr/>
          <a:lstStyle/>
          <a:p>
            <a:r>
              <a:rPr lang="en-US" dirty="0"/>
              <a:t>What does APSO “See” on a trained model</a:t>
            </a:r>
          </a:p>
        </p:txBody>
      </p:sp>
      <p:sp>
        <p:nvSpPr>
          <p:cNvPr id="4" name="Slide Number Placeholder 3">
            <a:extLst>
              <a:ext uri="{FF2B5EF4-FFF2-40B4-BE49-F238E27FC236}">
                <a16:creationId xmlns:a16="http://schemas.microsoft.com/office/drawing/2014/main" id="{BA13E800-6C42-B83B-858C-8090E777B6C5}"/>
              </a:ext>
            </a:extLst>
          </p:cNvPr>
          <p:cNvSpPr>
            <a:spLocks noGrp="1"/>
          </p:cNvSpPr>
          <p:nvPr>
            <p:ph type="sldNum" sz="quarter" idx="10"/>
          </p:nvPr>
        </p:nvSpPr>
        <p:spPr/>
        <p:txBody>
          <a:bodyPr/>
          <a:lstStyle/>
          <a:p>
            <a:fld id="{C6684DFB-8BCD-4B6F-9AA1-83F3BA61DF41}" type="slidenum">
              <a:rPr lang="en-US" smtClean="0"/>
              <a:pPr/>
              <a:t>43</a:t>
            </a:fld>
            <a:endParaRPr lang="en-US"/>
          </a:p>
        </p:txBody>
      </p:sp>
      <p:pic>
        <p:nvPicPr>
          <p:cNvPr id="6" name="Picture 5">
            <a:extLst>
              <a:ext uri="{FF2B5EF4-FFF2-40B4-BE49-F238E27FC236}">
                <a16:creationId xmlns:a16="http://schemas.microsoft.com/office/drawing/2014/main" id="{54D5A3DD-1AD6-E2AE-318F-1E9CD68D68E4}"/>
              </a:ext>
            </a:extLst>
          </p:cNvPr>
          <p:cNvPicPr>
            <a:picLocks noChangeAspect="1"/>
          </p:cNvPicPr>
          <p:nvPr/>
        </p:nvPicPr>
        <p:blipFill>
          <a:blip r:embed="rId2"/>
          <a:stretch>
            <a:fillRect/>
          </a:stretch>
        </p:blipFill>
        <p:spPr>
          <a:xfrm>
            <a:off x="952500" y="1618162"/>
            <a:ext cx="9192768" cy="4398293"/>
          </a:xfrm>
          <a:prstGeom prst="rect">
            <a:avLst/>
          </a:prstGeom>
        </p:spPr>
      </p:pic>
    </p:spTree>
    <p:extLst>
      <p:ext uri="{BB962C8B-B14F-4D97-AF65-F5344CB8AC3E}">
        <p14:creationId xmlns:p14="http://schemas.microsoft.com/office/powerpoint/2010/main" val="8591367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7B5AE-778E-E233-321F-508BE3F1EDA3}"/>
              </a:ext>
            </a:extLst>
          </p:cNvPr>
          <p:cNvSpPr>
            <a:spLocks noGrp="1"/>
          </p:cNvSpPr>
          <p:nvPr>
            <p:ph type="title"/>
          </p:nvPr>
        </p:nvSpPr>
        <p:spPr/>
        <p:txBody>
          <a:bodyPr/>
          <a:lstStyle/>
          <a:p>
            <a:r>
              <a:rPr lang="en-US" dirty="0"/>
              <a:t>What is the minimum information required for inference?</a:t>
            </a:r>
          </a:p>
        </p:txBody>
      </p:sp>
      <p:sp>
        <p:nvSpPr>
          <p:cNvPr id="4" name="Slide Number Placeholder 3">
            <a:extLst>
              <a:ext uri="{FF2B5EF4-FFF2-40B4-BE49-F238E27FC236}">
                <a16:creationId xmlns:a16="http://schemas.microsoft.com/office/drawing/2014/main" id="{491640B7-B34B-B138-6160-9661A8692E3D}"/>
              </a:ext>
            </a:extLst>
          </p:cNvPr>
          <p:cNvSpPr>
            <a:spLocks noGrp="1"/>
          </p:cNvSpPr>
          <p:nvPr>
            <p:ph type="sldNum" sz="quarter" idx="10"/>
          </p:nvPr>
        </p:nvSpPr>
        <p:spPr/>
        <p:txBody>
          <a:bodyPr/>
          <a:lstStyle/>
          <a:p>
            <a:fld id="{C6684DFB-8BCD-4B6F-9AA1-83F3BA61DF41}" type="slidenum">
              <a:rPr lang="en-US" smtClean="0"/>
              <a:pPr/>
              <a:t>44</a:t>
            </a:fld>
            <a:endParaRPr lang="en-US"/>
          </a:p>
        </p:txBody>
      </p:sp>
      <p:pic>
        <p:nvPicPr>
          <p:cNvPr id="6" name="Picture 5">
            <a:extLst>
              <a:ext uri="{FF2B5EF4-FFF2-40B4-BE49-F238E27FC236}">
                <a16:creationId xmlns:a16="http://schemas.microsoft.com/office/drawing/2014/main" id="{FE5CD6A5-2182-7A42-20AC-E8E357D9DE27}"/>
              </a:ext>
            </a:extLst>
          </p:cNvPr>
          <p:cNvPicPr>
            <a:picLocks noChangeAspect="1"/>
          </p:cNvPicPr>
          <p:nvPr/>
        </p:nvPicPr>
        <p:blipFill>
          <a:blip r:embed="rId2"/>
          <a:stretch>
            <a:fillRect/>
          </a:stretch>
        </p:blipFill>
        <p:spPr>
          <a:xfrm>
            <a:off x="952500" y="1721374"/>
            <a:ext cx="8884920" cy="4448954"/>
          </a:xfrm>
          <a:prstGeom prst="rect">
            <a:avLst/>
          </a:prstGeom>
        </p:spPr>
      </p:pic>
    </p:spTree>
    <p:extLst>
      <p:ext uri="{BB962C8B-B14F-4D97-AF65-F5344CB8AC3E}">
        <p14:creationId xmlns:p14="http://schemas.microsoft.com/office/powerpoint/2010/main" val="30711865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ABAC1-BCE5-6A50-950B-131A03FC2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9AC482-E88C-0DD8-5F31-D699B35042AB}"/>
              </a:ext>
            </a:extLst>
          </p:cNvPr>
          <p:cNvSpPr>
            <a:spLocks noGrp="1"/>
          </p:cNvSpPr>
          <p:nvPr>
            <p:ph type="title"/>
          </p:nvPr>
        </p:nvSpPr>
        <p:spPr/>
        <p:txBody>
          <a:bodyPr/>
          <a:lstStyle/>
          <a:p>
            <a:r>
              <a:rPr lang="en-US" dirty="0"/>
              <a:t>What if we start off with some known knowledge?</a:t>
            </a:r>
          </a:p>
        </p:txBody>
      </p:sp>
      <p:sp>
        <p:nvSpPr>
          <p:cNvPr id="4" name="Slide Number Placeholder 3">
            <a:extLst>
              <a:ext uri="{FF2B5EF4-FFF2-40B4-BE49-F238E27FC236}">
                <a16:creationId xmlns:a16="http://schemas.microsoft.com/office/drawing/2014/main" id="{35A98F1A-2B40-8F64-B9FA-E5D847AE5FB2}"/>
              </a:ext>
            </a:extLst>
          </p:cNvPr>
          <p:cNvSpPr>
            <a:spLocks noGrp="1"/>
          </p:cNvSpPr>
          <p:nvPr>
            <p:ph type="sldNum" sz="quarter" idx="10"/>
          </p:nvPr>
        </p:nvSpPr>
        <p:spPr/>
        <p:txBody>
          <a:bodyPr/>
          <a:lstStyle/>
          <a:p>
            <a:fld id="{C6684DFB-8BCD-4B6F-9AA1-83F3BA61DF41}" type="slidenum">
              <a:rPr lang="en-US" smtClean="0"/>
              <a:pPr/>
              <a:t>45</a:t>
            </a:fld>
            <a:endParaRPr lang="en-US"/>
          </a:p>
        </p:txBody>
      </p:sp>
      <p:pic>
        <p:nvPicPr>
          <p:cNvPr id="6" name="Picture 5">
            <a:extLst>
              <a:ext uri="{FF2B5EF4-FFF2-40B4-BE49-F238E27FC236}">
                <a16:creationId xmlns:a16="http://schemas.microsoft.com/office/drawing/2014/main" id="{970040CD-5048-FD1D-9BAD-3C407B8BC00B}"/>
              </a:ext>
            </a:extLst>
          </p:cNvPr>
          <p:cNvPicPr>
            <a:picLocks noChangeAspect="1"/>
          </p:cNvPicPr>
          <p:nvPr/>
        </p:nvPicPr>
        <p:blipFill>
          <a:blip r:embed="rId2"/>
          <a:stretch>
            <a:fillRect/>
          </a:stretch>
        </p:blipFill>
        <p:spPr>
          <a:xfrm>
            <a:off x="1619671" y="1886108"/>
            <a:ext cx="9112498" cy="4276256"/>
          </a:xfrm>
          <a:prstGeom prst="rect">
            <a:avLst/>
          </a:prstGeom>
        </p:spPr>
      </p:pic>
    </p:spTree>
    <p:extLst>
      <p:ext uri="{BB962C8B-B14F-4D97-AF65-F5344CB8AC3E}">
        <p14:creationId xmlns:p14="http://schemas.microsoft.com/office/powerpoint/2010/main" val="40106969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85E91-C2B8-FFC1-54D6-57DD7F6F76EB}"/>
              </a:ext>
            </a:extLst>
          </p:cNvPr>
          <p:cNvSpPr>
            <a:spLocks noGrp="1"/>
          </p:cNvSpPr>
          <p:nvPr>
            <p:ph type="title"/>
          </p:nvPr>
        </p:nvSpPr>
        <p:spPr>
          <a:xfrm>
            <a:off x="952500" y="389509"/>
            <a:ext cx="10287000" cy="1331865"/>
          </a:xfrm>
        </p:spPr>
        <p:txBody>
          <a:bodyPr anchor="ctr">
            <a:normAutofit/>
          </a:bodyPr>
          <a:lstStyle/>
          <a:p>
            <a:r>
              <a:rPr lang="en-US" dirty="0"/>
              <a:t>What’s the minimum information required for poisoning? </a:t>
            </a:r>
          </a:p>
        </p:txBody>
      </p:sp>
      <p:pic>
        <p:nvPicPr>
          <p:cNvPr id="6" name="Picture 5">
            <a:extLst>
              <a:ext uri="{FF2B5EF4-FFF2-40B4-BE49-F238E27FC236}">
                <a16:creationId xmlns:a16="http://schemas.microsoft.com/office/drawing/2014/main" id="{F0621884-8A49-4D6C-A023-DB46FCBDAA67}"/>
              </a:ext>
            </a:extLst>
          </p:cNvPr>
          <p:cNvPicPr>
            <a:picLocks noChangeAspect="1"/>
          </p:cNvPicPr>
          <p:nvPr/>
        </p:nvPicPr>
        <p:blipFill>
          <a:blip r:embed="rId2"/>
          <a:stretch>
            <a:fillRect/>
          </a:stretch>
        </p:blipFill>
        <p:spPr>
          <a:xfrm>
            <a:off x="1841508" y="2050741"/>
            <a:ext cx="8508983" cy="3892859"/>
          </a:xfrm>
          <a:prstGeom prst="rect">
            <a:avLst/>
          </a:prstGeom>
          <a:noFill/>
        </p:spPr>
      </p:pic>
      <p:sp>
        <p:nvSpPr>
          <p:cNvPr id="4" name="Slide Number Placeholder 3">
            <a:extLst>
              <a:ext uri="{FF2B5EF4-FFF2-40B4-BE49-F238E27FC236}">
                <a16:creationId xmlns:a16="http://schemas.microsoft.com/office/drawing/2014/main" id="{0DF48CBD-FB51-E69D-4BB6-60614D756EAC}"/>
              </a:ext>
            </a:extLst>
          </p:cNvPr>
          <p:cNvSpPr>
            <a:spLocks noGrp="1"/>
          </p:cNvSpPr>
          <p:nvPr>
            <p:ph type="sldNum" sz="quarter" idx="10"/>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46</a:t>
            </a:fld>
            <a:endParaRPr lang="en-US"/>
          </a:p>
        </p:txBody>
      </p:sp>
    </p:spTree>
    <p:extLst>
      <p:ext uri="{BB962C8B-B14F-4D97-AF65-F5344CB8AC3E}">
        <p14:creationId xmlns:p14="http://schemas.microsoft.com/office/powerpoint/2010/main" val="9587039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1FC0-EFEF-68DD-6C24-65B243D61E7C}"/>
              </a:ext>
            </a:extLst>
          </p:cNvPr>
          <p:cNvSpPr>
            <a:spLocks noGrp="1"/>
          </p:cNvSpPr>
          <p:nvPr>
            <p:ph type="title"/>
          </p:nvPr>
        </p:nvSpPr>
        <p:spPr/>
        <p:txBody>
          <a:bodyPr/>
          <a:lstStyle/>
          <a:p>
            <a:r>
              <a:rPr lang="en-US" dirty="0"/>
              <a:t>How are robust are different architectures to APSO-poisoning? </a:t>
            </a:r>
          </a:p>
        </p:txBody>
      </p:sp>
      <p:pic>
        <p:nvPicPr>
          <p:cNvPr id="6" name="Content Placeholder 5">
            <a:extLst>
              <a:ext uri="{FF2B5EF4-FFF2-40B4-BE49-F238E27FC236}">
                <a16:creationId xmlns:a16="http://schemas.microsoft.com/office/drawing/2014/main" id="{9807F97B-D0B0-513C-9BC6-6A0F498A5338}"/>
              </a:ext>
            </a:extLst>
          </p:cNvPr>
          <p:cNvPicPr>
            <a:picLocks noGrp="1" noChangeAspect="1"/>
          </p:cNvPicPr>
          <p:nvPr>
            <p:ph idx="1"/>
          </p:nvPr>
        </p:nvPicPr>
        <p:blipFill>
          <a:blip r:embed="rId2"/>
          <a:stretch>
            <a:fillRect/>
          </a:stretch>
        </p:blipFill>
        <p:spPr>
          <a:xfrm>
            <a:off x="1959998" y="1815534"/>
            <a:ext cx="8272003" cy="4291694"/>
          </a:xfrm>
          <a:prstGeom prst="rect">
            <a:avLst/>
          </a:prstGeom>
        </p:spPr>
      </p:pic>
      <p:sp>
        <p:nvSpPr>
          <p:cNvPr id="4" name="Slide Number Placeholder 3">
            <a:extLst>
              <a:ext uri="{FF2B5EF4-FFF2-40B4-BE49-F238E27FC236}">
                <a16:creationId xmlns:a16="http://schemas.microsoft.com/office/drawing/2014/main" id="{AC70ECB2-F6EF-58E9-1354-5D780E1E084F}"/>
              </a:ext>
            </a:extLst>
          </p:cNvPr>
          <p:cNvSpPr>
            <a:spLocks noGrp="1"/>
          </p:cNvSpPr>
          <p:nvPr>
            <p:ph type="sldNum" sz="quarter" idx="10"/>
          </p:nvPr>
        </p:nvSpPr>
        <p:spPr/>
        <p:txBody>
          <a:bodyPr/>
          <a:lstStyle/>
          <a:p>
            <a:fld id="{C6684DFB-8BCD-4B6F-9AA1-83F3BA61DF41}" type="slidenum">
              <a:rPr lang="en-US" smtClean="0"/>
              <a:pPr/>
              <a:t>47</a:t>
            </a:fld>
            <a:endParaRPr lang="en-US"/>
          </a:p>
        </p:txBody>
      </p:sp>
      <p:pic>
        <p:nvPicPr>
          <p:cNvPr id="8" name="Picture 7">
            <a:extLst>
              <a:ext uri="{FF2B5EF4-FFF2-40B4-BE49-F238E27FC236}">
                <a16:creationId xmlns:a16="http://schemas.microsoft.com/office/drawing/2014/main" id="{0C0F0EB5-9891-D607-5A06-C33744C4EC04}"/>
              </a:ext>
            </a:extLst>
          </p:cNvPr>
          <p:cNvPicPr>
            <a:picLocks noChangeAspect="1"/>
          </p:cNvPicPr>
          <p:nvPr/>
        </p:nvPicPr>
        <p:blipFill>
          <a:blip r:embed="rId3"/>
          <a:stretch>
            <a:fillRect/>
          </a:stretch>
        </p:blipFill>
        <p:spPr>
          <a:xfrm>
            <a:off x="804855" y="2475273"/>
            <a:ext cx="11002911" cy="2972215"/>
          </a:xfrm>
          <a:prstGeom prst="rect">
            <a:avLst/>
          </a:prstGeom>
        </p:spPr>
      </p:pic>
    </p:spTree>
    <p:extLst>
      <p:ext uri="{BB962C8B-B14F-4D97-AF65-F5344CB8AC3E}">
        <p14:creationId xmlns:p14="http://schemas.microsoft.com/office/powerpoint/2010/main" val="35476208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CB279-CA19-DCFF-32BC-75324EFBBD33}"/>
              </a:ext>
            </a:extLst>
          </p:cNvPr>
          <p:cNvSpPr>
            <a:spLocks noGrp="1"/>
          </p:cNvSpPr>
          <p:nvPr>
            <p:ph type="title"/>
          </p:nvPr>
        </p:nvSpPr>
        <p:spPr/>
        <p:txBody>
          <a:bodyPr/>
          <a:lstStyle/>
          <a:p>
            <a:r>
              <a:rPr lang="en-US" dirty="0"/>
              <a:t>How much perturbation is required</a:t>
            </a:r>
          </a:p>
        </p:txBody>
      </p:sp>
      <p:sp>
        <p:nvSpPr>
          <p:cNvPr id="4" name="Slide Number Placeholder 3">
            <a:extLst>
              <a:ext uri="{FF2B5EF4-FFF2-40B4-BE49-F238E27FC236}">
                <a16:creationId xmlns:a16="http://schemas.microsoft.com/office/drawing/2014/main" id="{640370B7-6463-E23C-C1A4-5D939993DB2B}"/>
              </a:ext>
            </a:extLst>
          </p:cNvPr>
          <p:cNvSpPr>
            <a:spLocks noGrp="1"/>
          </p:cNvSpPr>
          <p:nvPr>
            <p:ph type="sldNum" sz="quarter" idx="11"/>
          </p:nvPr>
        </p:nvSpPr>
        <p:spPr/>
        <p:txBody>
          <a:bodyPr/>
          <a:lstStyle/>
          <a:p>
            <a:fld id="{C6684DFB-8BCD-4B6F-9AA1-83F3BA61DF41}" type="slidenum">
              <a:rPr lang="en-US" smtClean="0"/>
              <a:pPr/>
              <a:t>48</a:t>
            </a:fld>
            <a:endParaRPr lang="en-US"/>
          </a:p>
        </p:txBody>
      </p:sp>
      <p:pic>
        <p:nvPicPr>
          <p:cNvPr id="6" name="Picture 5">
            <a:extLst>
              <a:ext uri="{FF2B5EF4-FFF2-40B4-BE49-F238E27FC236}">
                <a16:creationId xmlns:a16="http://schemas.microsoft.com/office/drawing/2014/main" id="{7068C303-8A0C-D71F-4A19-9D71DD4F1E8C}"/>
              </a:ext>
            </a:extLst>
          </p:cNvPr>
          <p:cNvPicPr>
            <a:picLocks noChangeAspect="1"/>
          </p:cNvPicPr>
          <p:nvPr/>
        </p:nvPicPr>
        <p:blipFill>
          <a:blip r:embed="rId2"/>
          <a:stretch>
            <a:fillRect/>
          </a:stretch>
        </p:blipFill>
        <p:spPr>
          <a:xfrm>
            <a:off x="467946" y="1286898"/>
            <a:ext cx="9793067" cy="4448796"/>
          </a:xfrm>
          <a:prstGeom prst="rect">
            <a:avLst/>
          </a:prstGeom>
        </p:spPr>
      </p:pic>
      <p:sp>
        <p:nvSpPr>
          <p:cNvPr id="8" name="TextBox 7">
            <a:extLst>
              <a:ext uri="{FF2B5EF4-FFF2-40B4-BE49-F238E27FC236}">
                <a16:creationId xmlns:a16="http://schemas.microsoft.com/office/drawing/2014/main" id="{6D562D73-25F3-F703-0CD0-F98E55C6CB30}"/>
              </a:ext>
            </a:extLst>
          </p:cNvPr>
          <p:cNvSpPr txBox="1"/>
          <p:nvPr/>
        </p:nvSpPr>
        <p:spPr>
          <a:xfrm>
            <a:off x="10189083" y="2634133"/>
            <a:ext cx="2100834" cy="1754326"/>
          </a:xfrm>
          <a:prstGeom prst="rect">
            <a:avLst/>
          </a:prstGeom>
          <a:noFill/>
        </p:spPr>
        <p:txBody>
          <a:bodyPr wrap="square">
            <a:spAutoFit/>
          </a:bodyPr>
          <a:lstStyle/>
          <a:p>
            <a:pPr algn="ctr"/>
            <a:r>
              <a:rPr lang="en-US" b="1" dirty="0"/>
              <a:t>Resilience does not necessarily correlate with amount of perturbation required</a:t>
            </a:r>
          </a:p>
        </p:txBody>
      </p:sp>
    </p:spTree>
    <p:extLst>
      <p:ext uri="{BB962C8B-B14F-4D97-AF65-F5344CB8AC3E}">
        <p14:creationId xmlns:p14="http://schemas.microsoft.com/office/powerpoint/2010/main" val="1621581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62151-505D-37C7-1A37-292E27C4172F}"/>
              </a:ext>
            </a:extLst>
          </p:cNvPr>
          <p:cNvSpPr>
            <a:spLocks noGrp="1"/>
          </p:cNvSpPr>
          <p:nvPr>
            <p:ph type="title"/>
          </p:nvPr>
        </p:nvSpPr>
        <p:spPr/>
        <p:txBody>
          <a:bodyPr>
            <a:normAutofit fontScale="90000"/>
          </a:bodyPr>
          <a:lstStyle/>
          <a:p>
            <a:r>
              <a:rPr lang="en-US" dirty="0"/>
              <a:t>How much perturbation is required to poison a true label?</a:t>
            </a:r>
          </a:p>
        </p:txBody>
      </p:sp>
      <p:sp>
        <p:nvSpPr>
          <p:cNvPr id="4" name="Slide Number Placeholder 3">
            <a:extLst>
              <a:ext uri="{FF2B5EF4-FFF2-40B4-BE49-F238E27FC236}">
                <a16:creationId xmlns:a16="http://schemas.microsoft.com/office/drawing/2014/main" id="{B16FEACC-9061-6A9E-1207-D3EECBECD654}"/>
              </a:ext>
            </a:extLst>
          </p:cNvPr>
          <p:cNvSpPr>
            <a:spLocks noGrp="1"/>
          </p:cNvSpPr>
          <p:nvPr>
            <p:ph type="sldNum" sz="quarter" idx="11"/>
          </p:nvPr>
        </p:nvSpPr>
        <p:spPr/>
        <p:txBody>
          <a:bodyPr/>
          <a:lstStyle/>
          <a:p>
            <a:fld id="{C6684DFB-8BCD-4B6F-9AA1-83F3BA61DF41}" type="slidenum">
              <a:rPr lang="en-US" smtClean="0"/>
              <a:pPr/>
              <a:t>49</a:t>
            </a:fld>
            <a:endParaRPr lang="en-US"/>
          </a:p>
        </p:txBody>
      </p:sp>
      <p:pic>
        <p:nvPicPr>
          <p:cNvPr id="6" name="Picture 5">
            <a:extLst>
              <a:ext uri="{FF2B5EF4-FFF2-40B4-BE49-F238E27FC236}">
                <a16:creationId xmlns:a16="http://schemas.microsoft.com/office/drawing/2014/main" id="{B7941D77-745D-290A-8431-7BCF09AB2830}"/>
              </a:ext>
            </a:extLst>
          </p:cNvPr>
          <p:cNvPicPr>
            <a:picLocks noChangeAspect="1"/>
          </p:cNvPicPr>
          <p:nvPr/>
        </p:nvPicPr>
        <p:blipFill>
          <a:blip r:embed="rId2"/>
          <a:stretch>
            <a:fillRect/>
          </a:stretch>
        </p:blipFill>
        <p:spPr>
          <a:xfrm>
            <a:off x="667512" y="1883095"/>
            <a:ext cx="11155680" cy="4213476"/>
          </a:xfrm>
          <a:prstGeom prst="rect">
            <a:avLst/>
          </a:prstGeom>
        </p:spPr>
      </p:pic>
    </p:spTree>
    <p:extLst>
      <p:ext uri="{BB962C8B-B14F-4D97-AF65-F5344CB8AC3E}">
        <p14:creationId xmlns:p14="http://schemas.microsoft.com/office/powerpoint/2010/main" val="26546438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2BEB1-4BEB-E465-E4C5-66527B0A359E}"/>
              </a:ext>
            </a:extLst>
          </p:cNvPr>
          <p:cNvSpPr>
            <a:spLocks noGrp="1"/>
          </p:cNvSpPr>
          <p:nvPr>
            <p:ph type="title"/>
          </p:nvPr>
        </p:nvSpPr>
        <p:spPr>
          <a:xfrm>
            <a:off x="824483" y="416990"/>
            <a:ext cx="10287001" cy="869089"/>
          </a:xfrm>
        </p:spPr>
        <p:txBody>
          <a:bodyPr>
            <a:normAutofit fontScale="90000"/>
          </a:bodyPr>
          <a:lstStyle/>
          <a:p>
            <a:r>
              <a:rPr lang="en-US" dirty="0"/>
              <a:t>How much perturbation is required to poison a true label?</a:t>
            </a:r>
          </a:p>
        </p:txBody>
      </p:sp>
      <p:sp>
        <p:nvSpPr>
          <p:cNvPr id="4" name="Slide Number Placeholder 3">
            <a:extLst>
              <a:ext uri="{FF2B5EF4-FFF2-40B4-BE49-F238E27FC236}">
                <a16:creationId xmlns:a16="http://schemas.microsoft.com/office/drawing/2014/main" id="{FE59D154-FD39-F763-0F65-A0216904D364}"/>
              </a:ext>
            </a:extLst>
          </p:cNvPr>
          <p:cNvSpPr>
            <a:spLocks noGrp="1"/>
          </p:cNvSpPr>
          <p:nvPr>
            <p:ph type="sldNum" sz="quarter" idx="11"/>
          </p:nvPr>
        </p:nvSpPr>
        <p:spPr/>
        <p:txBody>
          <a:bodyPr/>
          <a:lstStyle/>
          <a:p>
            <a:fld id="{C6684DFB-8BCD-4B6F-9AA1-83F3BA61DF41}" type="slidenum">
              <a:rPr lang="en-US" smtClean="0"/>
              <a:pPr/>
              <a:t>50</a:t>
            </a:fld>
            <a:endParaRPr lang="en-US"/>
          </a:p>
        </p:txBody>
      </p:sp>
      <p:pic>
        <p:nvPicPr>
          <p:cNvPr id="6" name="Picture 5">
            <a:extLst>
              <a:ext uri="{FF2B5EF4-FFF2-40B4-BE49-F238E27FC236}">
                <a16:creationId xmlns:a16="http://schemas.microsoft.com/office/drawing/2014/main" id="{9CD30F30-C0C1-0AC3-6F19-61DC2A121D2F}"/>
              </a:ext>
            </a:extLst>
          </p:cNvPr>
          <p:cNvPicPr>
            <a:picLocks noChangeAspect="1"/>
          </p:cNvPicPr>
          <p:nvPr/>
        </p:nvPicPr>
        <p:blipFill>
          <a:blip r:embed="rId2"/>
          <a:srcRect t="1385"/>
          <a:stretch>
            <a:fillRect/>
          </a:stretch>
        </p:blipFill>
        <p:spPr>
          <a:xfrm>
            <a:off x="934211" y="1286079"/>
            <a:ext cx="9293352" cy="4785887"/>
          </a:xfrm>
          <a:prstGeom prst="rect">
            <a:avLst/>
          </a:prstGeom>
        </p:spPr>
      </p:pic>
    </p:spTree>
    <p:extLst>
      <p:ext uri="{BB962C8B-B14F-4D97-AF65-F5344CB8AC3E}">
        <p14:creationId xmlns:p14="http://schemas.microsoft.com/office/powerpoint/2010/main" val="27664819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EFD92-2199-EB9E-18FB-8BCC33016E73}"/>
              </a:ext>
            </a:extLst>
          </p:cNvPr>
          <p:cNvSpPr>
            <a:spLocks noGrp="1"/>
          </p:cNvSpPr>
          <p:nvPr>
            <p:ph type="title"/>
          </p:nvPr>
        </p:nvSpPr>
        <p:spPr/>
        <p:txBody>
          <a:bodyPr/>
          <a:lstStyle/>
          <a:p>
            <a:r>
              <a:rPr lang="en-US" dirty="0"/>
              <a:t>Robustness to APSO-Poisoning</a:t>
            </a:r>
          </a:p>
        </p:txBody>
      </p:sp>
      <p:sp>
        <p:nvSpPr>
          <p:cNvPr id="3" name="Content Placeholder 2">
            <a:extLst>
              <a:ext uri="{FF2B5EF4-FFF2-40B4-BE49-F238E27FC236}">
                <a16:creationId xmlns:a16="http://schemas.microsoft.com/office/drawing/2014/main" id="{BD13E34C-1374-ACD8-00E7-029752D7E47F}"/>
              </a:ext>
            </a:extLst>
          </p:cNvPr>
          <p:cNvSpPr>
            <a:spLocks noGrp="1"/>
          </p:cNvSpPr>
          <p:nvPr>
            <p:ph idx="10"/>
          </p:nvPr>
        </p:nvSpPr>
        <p:spPr/>
        <p:txBody>
          <a:bodyPr/>
          <a:lstStyle/>
          <a:p>
            <a:r>
              <a:rPr lang="en-US" dirty="0"/>
              <a:t>APSO is a stochastic process runs until image has been poisoned</a:t>
            </a:r>
          </a:p>
        </p:txBody>
      </p:sp>
      <p:sp>
        <p:nvSpPr>
          <p:cNvPr id="4" name="Slide Number Placeholder 3">
            <a:extLst>
              <a:ext uri="{FF2B5EF4-FFF2-40B4-BE49-F238E27FC236}">
                <a16:creationId xmlns:a16="http://schemas.microsoft.com/office/drawing/2014/main" id="{486DC077-90D3-FB80-0E42-82D611E03A2E}"/>
              </a:ext>
            </a:extLst>
          </p:cNvPr>
          <p:cNvSpPr>
            <a:spLocks noGrp="1"/>
          </p:cNvSpPr>
          <p:nvPr>
            <p:ph type="sldNum" sz="quarter" idx="11"/>
          </p:nvPr>
        </p:nvSpPr>
        <p:spPr/>
        <p:txBody>
          <a:bodyPr/>
          <a:lstStyle/>
          <a:p>
            <a:fld id="{C6684DFB-8BCD-4B6F-9AA1-83F3BA61DF41}" type="slidenum">
              <a:rPr lang="en-US" smtClean="0"/>
              <a:pPr/>
              <a:t>51</a:t>
            </a:fld>
            <a:endParaRPr lang="en-US"/>
          </a:p>
        </p:txBody>
      </p:sp>
      <p:pic>
        <p:nvPicPr>
          <p:cNvPr id="6" name="Picture 5">
            <a:extLst>
              <a:ext uri="{FF2B5EF4-FFF2-40B4-BE49-F238E27FC236}">
                <a16:creationId xmlns:a16="http://schemas.microsoft.com/office/drawing/2014/main" id="{7C6CD3A0-2812-ED5D-C5E9-9FEABB9FA6F8}"/>
              </a:ext>
            </a:extLst>
          </p:cNvPr>
          <p:cNvPicPr>
            <a:picLocks noChangeAspect="1"/>
          </p:cNvPicPr>
          <p:nvPr/>
        </p:nvPicPr>
        <p:blipFill>
          <a:blip r:embed="rId2"/>
          <a:srcRect b="3311"/>
          <a:stretch>
            <a:fillRect/>
          </a:stretch>
        </p:blipFill>
        <p:spPr>
          <a:xfrm>
            <a:off x="2509607" y="2582667"/>
            <a:ext cx="6963577" cy="3360933"/>
          </a:xfrm>
          <a:prstGeom prst="rect">
            <a:avLst/>
          </a:prstGeom>
        </p:spPr>
      </p:pic>
    </p:spTree>
    <p:extLst>
      <p:ext uri="{BB962C8B-B14F-4D97-AF65-F5344CB8AC3E}">
        <p14:creationId xmlns:p14="http://schemas.microsoft.com/office/powerpoint/2010/main" val="17941812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A714C-131B-C8A3-A81F-5AFC96612382}"/>
              </a:ext>
            </a:extLst>
          </p:cNvPr>
          <p:cNvSpPr>
            <a:spLocks noGrp="1"/>
          </p:cNvSpPr>
          <p:nvPr>
            <p:ph type="title"/>
          </p:nvPr>
        </p:nvSpPr>
        <p:spPr/>
        <p:txBody>
          <a:bodyPr/>
          <a:lstStyle/>
          <a:p>
            <a:r>
              <a:rPr lang="en-US" dirty="0"/>
              <a:t>Is it just MNIST?</a:t>
            </a:r>
          </a:p>
        </p:txBody>
      </p:sp>
      <p:sp>
        <p:nvSpPr>
          <p:cNvPr id="4" name="Slide Number Placeholder 3">
            <a:extLst>
              <a:ext uri="{FF2B5EF4-FFF2-40B4-BE49-F238E27FC236}">
                <a16:creationId xmlns:a16="http://schemas.microsoft.com/office/drawing/2014/main" id="{D838C440-AE8C-63EF-AF25-B6144280C717}"/>
              </a:ext>
            </a:extLst>
          </p:cNvPr>
          <p:cNvSpPr>
            <a:spLocks noGrp="1"/>
          </p:cNvSpPr>
          <p:nvPr>
            <p:ph type="sldNum" sz="quarter" idx="10"/>
          </p:nvPr>
        </p:nvSpPr>
        <p:spPr/>
        <p:txBody>
          <a:bodyPr/>
          <a:lstStyle/>
          <a:p>
            <a:fld id="{C6684DFB-8BCD-4B6F-9AA1-83F3BA61DF41}" type="slidenum">
              <a:rPr lang="en-US" smtClean="0"/>
              <a:pPr/>
              <a:t>52</a:t>
            </a:fld>
            <a:endParaRPr lang="en-US"/>
          </a:p>
        </p:txBody>
      </p:sp>
      <p:pic>
        <p:nvPicPr>
          <p:cNvPr id="6" name="Picture 5">
            <a:extLst>
              <a:ext uri="{FF2B5EF4-FFF2-40B4-BE49-F238E27FC236}">
                <a16:creationId xmlns:a16="http://schemas.microsoft.com/office/drawing/2014/main" id="{90AACB78-0A39-802F-A2D4-C34C29D87BFE}"/>
              </a:ext>
            </a:extLst>
          </p:cNvPr>
          <p:cNvPicPr>
            <a:picLocks noChangeAspect="1"/>
          </p:cNvPicPr>
          <p:nvPr/>
        </p:nvPicPr>
        <p:blipFill>
          <a:blip r:embed="rId2"/>
          <a:stretch>
            <a:fillRect/>
          </a:stretch>
        </p:blipFill>
        <p:spPr>
          <a:xfrm>
            <a:off x="804672" y="1429225"/>
            <a:ext cx="8997739" cy="4610228"/>
          </a:xfrm>
          <a:prstGeom prst="rect">
            <a:avLst/>
          </a:prstGeom>
        </p:spPr>
      </p:pic>
      <p:pic>
        <p:nvPicPr>
          <p:cNvPr id="8" name="Picture 7">
            <a:extLst>
              <a:ext uri="{FF2B5EF4-FFF2-40B4-BE49-F238E27FC236}">
                <a16:creationId xmlns:a16="http://schemas.microsoft.com/office/drawing/2014/main" id="{A6138CB2-C12D-5EF1-9B2E-89B7DE9941C4}"/>
              </a:ext>
            </a:extLst>
          </p:cNvPr>
          <p:cNvPicPr>
            <a:picLocks noChangeAspect="1"/>
          </p:cNvPicPr>
          <p:nvPr/>
        </p:nvPicPr>
        <p:blipFill>
          <a:blip r:embed="rId3"/>
          <a:stretch>
            <a:fillRect/>
          </a:stretch>
        </p:blipFill>
        <p:spPr>
          <a:xfrm>
            <a:off x="615748" y="2592005"/>
            <a:ext cx="10174120" cy="1838582"/>
          </a:xfrm>
          <a:prstGeom prst="rect">
            <a:avLst/>
          </a:prstGeom>
        </p:spPr>
      </p:pic>
    </p:spTree>
    <p:extLst>
      <p:ext uri="{BB962C8B-B14F-4D97-AF65-F5344CB8AC3E}">
        <p14:creationId xmlns:p14="http://schemas.microsoft.com/office/powerpoint/2010/main" val="40098090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E9620-24E6-8D3B-D474-5830D25BF15A}"/>
              </a:ext>
            </a:extLst>
          </p:cNvPr>
          <p:cNvSpPr>
            <a:spLocks noGrp="1"/>
          </p:cNvSpPr>
          <p:nvPr>
            <p:ph type="title"/>
          </p:nvPr>
        </p:nvSpPr>
        <p:spPr>
          <a:xfrm>
            <a:off x="952499" y="526777"/>
            <a:ext cx="10287001" cy="869089"/>
          </a:xfrm>
        </p:spPr>
        <p:txBody>
          <a:bodyPr anchor="ctr">
            <a:normAutofit/>
          </a:bodyPr>
          <a:lstStyle/>
          <a:p>
            <a:r>
              <a:rPr lang="en-US" dirty="0"/>
              <a:t>Does the poison transfer against networks? </a:t>
            </a:r>
          </a:p>
        </p:txBody>
      </p:sp>
      <p:pic>
        <p:nvPicPr>
          <p:cNvPr id="6" name="Picture 5">
            <a:extLst>
              <a:ext uri="{FF2B5EF4-FFF2-40B4-BE49-F238E27FC236}">
                <a16:creationId xmlns:a16="http://schemas.microsoft.com/office/drawing/2014/main" id="{9AF1EB74-131D-7A57-4E78-BE2DE24DD9AF}"/>
              </a:ext>
            </a:extLst>
          </p:cNvPr>
          <p:cNvPicPr>
            <a:picLocks noChangeAspect="1"/>
          </p:cNvPicPr>
          <p:nvPr/>
        </p:nvPicPr>
        <p:blipFill>
          <a:blip r:embed="rId2"/>
          <a:srcRect t="1528"/>
          <a:stretch>
            <a:fillRect/>
          </a:stretch>
        </p:blipFill>
        <p:spPr>
          <a:xfrm>
            <a:off x="2115983" y="1395866"/>
            <a:ext cx="8465224" cy="4730614"/>
          </a:xfrm>
          <a:prstGeom prst="rect">
            <a:avLst/>
          </a:prstGeom>
          <a:noFill/>
        </p:spPr>
      </p:pic>
      <p:sp>
        <p:nvSpPr>
          <p:cNvPr id="4" name="Slide Number Placeholder 3">
            <a:extLst>
              <a:ext uri="{FF2B5EF4-FFF2-40B4-BE49-F238E27FC236}">
                <a16:creationId xmlns:a16="http://schemas.microsoft.com/office/drawing/2014/main" id="{C9A1864C-7DE6-47A8-2C79-1AB28103D9A7}"/>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53</a:t>
            </a:fld>
            <a:endParaRPr lang="en-US"/>
          </a:p>
        </p:txBody>
      </p:sp>
    </p:spTree>
    <p:extLst>
      <p:ext uri="{BB962C8B-B14F-4D97-AF65-F5344CB8AC3E}">
        <p14:creationId xmlns:p14="http://schemas.microsoft.com/office/powerpoint/2010/main" val="25788270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0F87C-569B-ED22-0154-3D51632B3C8D}"/>
              </a:ext>
            </a:extLst>
          </p:cNvPr>
          <p:cNvSpPr>
            <a:spLocks noGrp="1"/>
          </p:cNvSpPr>
          <p:nvPr>
            <p:ph type="title"/>
          </p:nvPr>
        </p:nvSpPr>
        <p:spPr>
          <a:xfrm>
            <a:off x="952499" y="526777"/>
            <a:ext cx="10287001" cy="869089"/>
          </a:xfrm>
        </p:spPr>
        <p:txBody>
          <a:bodyPr anchor="ctr">
            <a:normAutofit/>
          </a:bodyPr>
          <a:lstStyle/>
          <a:p>
            <a:r>
              <a:rPr lang="en-US" dirty="0"/>
              <a:t>Real world applications </a:t>
            </a:r>
          </a:p>
        </p:txBody>
      </p:sp>
      <p:pic>
        <p:nvPicPr>
          <p:cNvPr id="6" name="Picture 5">
            <a:extLst>
              <a:ext uri="{FF2B5EF4-FFF2-40B4-BE49-F238E27FC236}">
                <a16:creationId xmlns:a16="http://schemas.microsoft.com/office/drawing/2014/main" id="{7A026BD0-72F7-8DC7-6A67-D1CBCA875034}"/>
              </a:ext>
            </a:extLst>
          </p:cNvPr>
          <p:cNvPicPr>
            <a:picLocks noChangeAspect="1"/>
          </p:cNvPicPr>
          <p:nvPr/>
        </p:nvPicPr>
        <p:blipFill>
          <a:blip r:embed="rId2"/>
          <a:stretch>
            <a:fillRect/>
          </a:stretch>
        </p:blipFill>
        <p:spPr>
          <a:xfrm>
            <a:off x="1213299" y="1686757"/>
            <a:ext cx="9729925" cy="4256843"/>
          </a:xfrm>
          <a:prstGeom prst="rect">
            <a:avLst/>
          </a:prstGeom>
          <a:noFill/>
        </p:spPr>
      </p:pic>
      <p:sp>
        <p:nvSpPr>
          <p:cNvPr id="4" name="Slide Number Placeholder 3">
            <a:extLst>
              <a:ext uri="{FF2B5EF4-FFF2-40B4-BE49-F238E27FC236}">
                <a16:creationId xmlns:a16="http://schemas.microsoft.com/office/drawing/2014/main" id="{928D1301-C874-EF7C-D61B-AF5DDF72EDE2}"/>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54</a:t>
            </a:fld>
            <a:endParaRPr lang="en-US"/>
          </a:p>
        </p:txBody>
      </p:sp>
      <p:pic>
        <p:nvPicPr>
          <p:cNvPr id="8" name="Picture 7">
            <a:extLst>
              <a:ext uri="{FF2B5EF4-FFF2-40B4-BE49-F238E27FC236}">
                <a16:creationId xmlns:a16="http://schemas.microsoft.com/office/drawing/2014/main" id="{4D345FCF-E1D6-8D9C-67C7-C51F6820AA76}"/>
              </a:ext>
            </a:extLst>
          </p:cNvPr>
          <p:cNvPicPr>
            <a:picLocks noChangeAspect="1"/>
          </p:cNvPicPr>
          <p:nvPr/>
        </p:nvPicPr>
        <p:blipFill>
          <a:blip r:embed="rId3"/>
          <a:stretch>
            <a:fillRect/>
          </a:stretch>
        </p:blipFill>
        <p:spPr>
          <a:xfrm>
            <a:off x="2297157" y="1443485"/>
            <a:ext cx="7298113" cy="4500115"/>
          </a:xfrm>
          <a:prstGeom prst="rect">
            <a:avLst/>
          </a:prstGeom>
        </p:spPr>
      </p:pic>
    </p:spTree>
    <p:extLst>
      <p:ext uri="{BB962C8B-B14F-4D97-AF65-F5344CB8AC3E}">
        <p14:creationId xmlns:p14="http://schemas.microsoft.com/office/powerpoint/2010/main" val="86220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58D29-5C37-CA8E-7DEE-493878717FA6}"/>
              </a:ext>
            </a:extLst>
          </p:cNvPr>
          <p:cNvSpPr>
            <a:spLocks noGrp="1"/>
          </p:cNvSpPr>
          <p:nvPr>
            <p:ph type="title"/>
          </p:nvPr>
        </p:nvSpPr>
        <p:spPr/>
        <p:txBody>
          <a:bodyPr/>
          <a:lstStyle/>
          <a:p>
            <a:r>
              <a:rPr lang="en-US" dirty="0"/>
              <a:t>Pillar 3: Conclusion</a:t>
            </a:r>
          </a:p>
        </p:txBody>
      </p:sp>
      <p:sp>
        <p:nvSpPr>
          <p:cNvPr id="3" name="Content Placeholder 2">
            <a:extLst>
              <a:ext uri="{FF2B5EF4-FFF2-40B4-BE49-F238E27FC236}">
                <a16:creationId xmlns:a16="http://schemas.microsoft.com/office/drawing/2014/main" id="{E438330A-5478-9E00-8727-4799FF855D68}"/>
              </a:ext>
            </a:extLst>
          </p:cNvPr>
          <p:cNvSpPr>
            <a:spLocks noGrp="1"/>
          </p:cNvSpPr>
          <p:nvPr>
            <p:ph idx="10"/>
          </p:nvPr>
        </p:nvSpPr>
        <p:spPr/>
        <p:txBody>
          <a:bodyPr/>
          <a:lstStyle/>
          <a:p>
            <a:r>
              <a:rPr lang="en-US" dirty="0"/>
              <a:t>APSO can be used to generate poisons input data with no a priori knowledge</a:t>
            </a:r>
          </a:p>
          <a:p>
            <a:pPr lvl="1"/>
            <a:r>
              <a:rPr lang="en-US" dirty="0"/>
              <a:t>In combination with XAI, we can understand what the network is using to make its decisions</a:t>
            </a:r>
          </a:p>
          <a:p>
            <a:r>
              <a:rPr lang="en-US" dirty="0"/>
              <a:t>APSO can be used as a measure of network resilience to adversarial attack</a:t>
            </a:r>
          </a:p>
          <a:p>
            <a:r>
              <a:rPr lang="en-US" dirty="0"/>
              <a:t>‘Black-box’ transfer attacks using APSO means we can generate adversarial attacks to a target network without even needing access to training network</a:t>
            </a:r>
          </a:p>
        </p:txBody>
      </p:sp>
      <p:sp>
        <p:nvSpPr>
          <p:cNvPr id="4" name="Slide Number Placeholder 3">
            <a:extLst>
              <a:ext uri="{FF2B5EF4-FFF2-40B4-BE49-F238E27FC236}">
                <a16:creationId xmlns:a16="http://schemas.microsoft.com/office/drawing/2014/main" id="{BAD39DE1-A8AB-B305-9222-1190DAA6D27A}"/>
              </a:ext>
            </a:extLst>
          </p:cNvPr>
          <p:cNvSpPr>
            <a:spLocks noGrp="1"/>
          </p:cNvSpPr>
          <p:nvPr>
            <p:ph type="sldNum" sz="quarter" idx="11"/>
          </p:nvPr>
        </p:nvSpPr>
        <p:spPr/>
        <p:txBody>
          <a:bodyPr/>
          <a:lstStyle/>
          <a:p>
            <a:fld id="{C6684DFB-8BCD-4B6F-9AA1-83F3BA61DF41}" type="slidenum">
              <a:rPr lang="en-US" smtClean="0"/>
              <a:pPr/>
              <a:t>55</a:t>
            </a:fld>
            <a:endParaRPr lang="en-US"/>
          </a:p>
        </p:txBody>
      </p:sp>
    </p:spTree>
    <p:extLst>
      <p:ext uri="{BB962C8B-B14F-4D97-AF65-F5344CB8AC3E}">
        <p14:creationId xmlns:p14="http://schemas.microsoft.com/office/powerpoint/2010/main" val="24192675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F7983-0A39-2AD7-DAE6-5AA85D79FE7F}"/>
              </a:ext>
            </a:extLst>
          </p:cNvPr>
          <p:cNvSpPr>
            <a:spLocks noGrp="1"/>
          </p:cNvSpPr>
          <p:nvPr>
            <p:ph type="title"/>
          </p:nvPr>
        </p:nvSpPr>
        <p:spPr>
          <a:xfrm>
            <a:off x="696711" y="559207"/>
            <a:ext cx="10287001" cy="869089"/>
          </a:xfrm>
        </p:spPr>
        <p:txBody>
          <a:bodyPr/>
          <a:lstStyle/>
          <a:p>
            <a:r>
              <a:rPr lang="en-US" dirty="0"/>
              <a:t>Acknowledgements</a:t>
            </a:r>
          </a:p>
        </p:txBody>
      </p:sp>
      <p:sp>
        <p:nvSpPr>
          <p:cNvPr id="3" name="Content Placeholder 2">
            <a:extLst>
              <a:ext uri="{FF2B5EF4-FFF2-40B4-BE49-F238E27FC236}">
                <a16:creationId xmlns:a16="http://schemas.microsoft.com/office/drawing/2014/main" id="{6E85BD15-D213-FB58-FA53-1FAFA47B931F}"/>
              </a:ext>
            </a:extLst>
          </p:cNvPr>
          <p:cNvSpPr>
            <a:spLocks noGrp="1"/>
          </p:cNvSpPr>
          <p:nvPr>
            <p:ph idx="10"/>
          </p:nvPr>
        </p:nvSpPr>
        <p:spPr>
          <a:xfrm>
            <a:off x="606674" y="1883511"/>
            <a:ext cx="3587971" cy="1098484"/>
          </a:xfrm>
        </p:spPr>
        <p:txBody>
          <a:bodyPr>
            <a:normAutofit/>
          </a:bodyPr>
          <a:lstStyle/>
          <a:p>
            <a:pPr marL="0" indent="0">
              <a:buNone/>
            </a:pPr>
            <a:r>
              <a:rPr lang="en-US" sz="2400" b="1" u="sng" dirty="0"/>
              <a:t>UI/Goddard Lab</a:t>
            </a:r>
            <a:endParaRPr lang="en-US" sz="2400" dirty="0"/>
          </a:p>
        </p:txBody>
      </p:sp>
      <p:sp>
        <p:nvSpPr>
          <p:cNvPr id="4" name="Content Placeholder 2">
            <a:extLst>
              <a:ext uri="{FF2B5EF4-FFF2-40B4-BE49-F238E27FC236}">
                <a16:creationId xmlns:a16="http://schemas.microsoft.com/office/drawing/2014/main" id="{587ADF70-85AE-3181-D06E-59990755564C}"/>
              </a:ext>
            </a:extLst>
          </p:cNvPr>
          <p:cNvSpPr txBox="1">
            <a:spLocks/>
          </p:cNvSpPr>
          <p:nvPr/>
        </p:nvSpPr>
        <p:spPr>
          <a:xfrm>
            <a:off x="449762" y="3131175"/>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Kevin Griffin</a:t>
            </a:r>
          </a:p>
          <a:p>
            <a:pPr marL="457200" lvl="1" indent="0">
              <a:buNone/>
            </a:pPr>
            <a:r>
              <a:rPr lang="en-US" sz="2000" dirty="0"/>
              <a:t>Dr. Nicholas Wimer</a:t>
            </a:r>
          </a:p>
        </p:txBody>
      </p:sp>
      <p:pic>
        <p:nvPicPr>
          <p:cNvPr id="1026" name="Picture 2" descr="National Renewable Energy Laboratory Logo">
            <a:extLst>
              <a:ext uri="{FF2B5EF4-FFF2-40B4-BE49-F238E27FC236}">
                <a16:creationId xmlns:a16="http://schemas.microsoft.com/office/drawing/2014/main" id="{0B7F3C55-C736-C738-6E7C-5C97D89452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813" r="3856" b="9596"/>
          <a:stretch>
            <a:fillRect/>
          </a:stretch>
        </p:blipFill>
        <p:spPr bwMode="auto">
          <a:xfrm>
            <a:off x="4556619" y="5756398"/>
            <a:ext cx="2118611" cy="63117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os &amp; Lockups | Vanderbilt Brand Style Guide | Vanderbilt ...">
            <a:extLst>
              <a:ext uri="{FF2B5EF4-FFF2-40B4-BE49-F238E27FC236}">
                <a16:creationId xmlns:a16="http://schemas.microsoft.com/office/drawing/2014/main" id="{A84B62D9-8363-050B-A0A5-3B1DA5D837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645" t="17012" r="1921" b="66971"/>
          <a:stretch>
            <a:fillRect/>
          </a:stretch>
        </p:blipFill>
        <p:spPr bwMode="auto">
          <a:xfrm>
            <a:off x="6675230" y="5767776"/>
            <a:ext cx="2186152" cy="63117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F6FA30-E3EA-F95D-90E3-B8136C130FFA}"/>
              </a:ext>
            </a:extLst>
          </p:cNvPr>
          <p:cNvSpPr txBox="1">
            <a:spLocks/>
          </p:cNvSpPr>
          <p:nvPr/>
        </p:nvSpPr>
        <p:spPr>
          <a:xfrm>
            <a:off x="502313" y="5094466"/>
            <a:ext cx="3587971" cy="609399"/>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Max </a:t>
            </a:r>
            <a:r>
              <a:rPr lang="en-US" sz="2000" dirty="0" err="1"/>
              <a:t>Milkert</a:t>
            </a:r>
            <a:r>
              <a:rPr lang="en-US" sz="2000" dirty="0"/>
              <a:t> </a:t>
            </a:r>
          </a:p>
        </p:txBody>
      </p:sp>
      <p:sp>
        <p:nvSpPr>
          <p:cNvPr id="6" name="Content Placeholder 2">
            <a:extLst>
              <a:ext uri="{FF2B5EF4-FFF2-40B4-BE49-F238E27FC236}">
                <a16:creationId xmlns:a16="http://schemas.microsoft.com/office/drawing/2014/main" id="{3293AE15-1073-9BD8-A51F-AE500F88999E}"/>
              </a:ext>
            </a:extLst>
          </p:cNvPr>
          <p:cNvSpPr txBox="1">
            <a:spLocks/>
          </p:cNvSpPr>
          <p:nvPr/>
        </p:nvSpPr>
        <p:spPr>
          <a:xfrm>
            <a:off x="3587995" y="1509679"/>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Collaborators:</a:t>
            </a:r>
            <a:endParaRPr lang="en-US" sz="2400" dirty="0"/>
          </a:p>
          <a:p>
            <a:pPr lvl="1"/>
            <a:endParaRPr lang="en-US" sz="2000" dirty="0"/>
          </a:p>
        </p:txBody>
      </p:sp>
      <p:pic>
        <p:nvPicPr>
          <p:cNvPr id="1032" name="Picture 8" descr="@EpiGenomicsCode">
            <a:extLst>
              <a:ext uri="{FF2B5EF4-FFF2-40B4-BE49-F238E27FC236}">
                <a16:creationId xmlns:a16="http://schemas.microsoft.com/office/drawing/2014/main" id="{6C5E378D-BF83-3DE2-B57E-81B38E617C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9591" y="5592930"/>
            <a:ext cx="820103" cy="8201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2" descr="University Mark and Shield | Penn State Brand Book">
            <a:extLst>
              <a:ext uri="{FF2B5EF4-FFF2-40B4-BE49-F238E27FC236}">
                <a16:creationId xmlns:a16="http://schemas.microsoft.com/office/drawing/2014/main" id="{3B252371-A4BE-8FE0-E79E-45C3EDC34FF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625" t="-1098" r="32055" b="28550"/>
          <a:stretch>
            <a:fillRect/>
          </a:stretch>
        </p:blipFill>
        <p:spPr bwMode="auto">
          <a:xfrm>
            <a:off x="10879539" y="5692018"/>
            <a:ext cx="635369" cy="72260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93684CE9-AE42-F929-65E4-F457B1F92923}"/>
              </a:ext>
            </a:extLst>
          </p:cNvPr>
          <p:cNvPicPr>
            <a:picLocks noChangeAspect="1"/>
          </p:cNvPicPr>
          <p:nvPr/>
        </p:nvPicPr>
        <p:blipFill>
          <a:blip r:embed="rId6"/>
          <a:stretch>
            <a:fillRect/>
          </a:stretch>
        </p:blipFill>
        <p:spPr>
          <a:xfrm>
            <a:off x="9717327" y="5631564"/>
            <a:ext cx="1162212" cy="752580"/>
          </a:xfrm>
          <a:prstGeom prst="rect">
            <a:avLst/>
          </a:prstGeom>
        </p:spPr>
      </p:pic>
      <p:pic>
        <p:nvPicPr>
          <p:cNvPr id="1040" name="Picture 16" descr="Salem Laboratory of Advanced Drug and Gene Delivery | The University of Iowa">
            <a:extLst>
              <a:ext uri="{FF2B5EF4-FFF2-40B4-BE49-F238E27FC236}">
                <a16:creationId xmlns:a16="http://schemas.microsoft.com/office/drawing/2014/main" id="{5E5E42E3-532D-CE19-C29A-4E44E683C5E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61" t="25673" r="66177" b="19989"/>
          <a:stretch>
            <a:fillRect/>
          </a:stretch>
        </p:blipFill>
        <p:spPr bwMode="auto">
          <a:xfrm>
            <a:off x="11489066" y="5664679"/>
            <a:ext cx="702934" cy="719465"/>
          </a:xfrm>
          <a:prstGeom prst="rect">
            <a:avLst/>
          </a:prstGeom>
          <a:noFill/>
          <a:extLst>
            <a:ext uri="{909E8E84-426E-40DD-AFC4-6F175D3DCCD1}">
              <a14:hiddenFill xmlns:a14="http://schemas.microsoft.com/office/drawing/2010/main">
                <a:solidFill>
                  <a:srgbClr val="FFFFFF"/>
                </a:solidFill>
              </a14:hiddenFill>
            </a:ext>
          </a:extLst>
        </p:spPr>
      </p:pic>
      <p:sp>
        <p:nvSpPr>
          <p:cNvPr id="28" name="Content Placeholder 2">
            <a:extLst>
              <a:ext uri="{FF2B5EF4-FFF2-40B4-BE49-F238E27FC236}">
                <a16:creationId xmlns:a16="http://schemas.microsoft.com/office/drawing/2014/main" id="{766F1646-4A53-7385-200F-628515A96087}"/>
              </a:ext>
            </a:extLst>
          </p:cNvPr>
          <p:cNvSpPr txBox="1">
            <a:spLocks/>
          </p:cNvSpPr>
          <p:nvPr/>
        </p:nvSpPr>
        <p:spPr>
          <a:xfrm>
            <a:off x="645644" y="2666710"/>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NREL</a:t>
            </a:r>
            <a:endParaRPr lang="en-US" sz="2400" u="sng" dirty="0"/>
          </a:p>
        </p:txBody>
      </p:sp>
      <p:sp>
        <p:nvSpPr>
          <p:cNvPr id="33" name="Content Placeholder 2">
            <a:extLst>
              <a:ext uri="{FF2B5EF4-FFF2-40B4-BE49-F238E27FC236}">
                <a16:creationId xmlns:a16="http://schemas.microsoft.com/office/drawing/2014/main" id="{AB910AA8-6578-019A-477B-E21595FAC261}"/>
              </a:ext>
            </a:extLst>
          </p:cNvPr>
          <p:cNvSpPr txBox="1">
            <a:spLocks/>
          </p:cNvSpPr>
          <p:nvPr/>
        </p:nvSpPr>
        <p:spPr>
          <a:xfrm>
            <a:off x="696711" y="3816436"/>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Zazzle</a:t>
            </a:r>
            <a:endParaRPr lang="en-US" sz="2400" u="sng" dirty="0"/>
          </a:p>
        </p:txBody>
      </p:sp>
      <p:sp>
        <p:nvSpPr>
          <p:cNvPr id="34" name="Content Placeholder 2">
            <a:extLst>
              <a:ext uri="{FF2B5EF4-FFF2-40B4-BE49-F238E27FC236}">
                <a16:creationId xmlns:a16="http://schemas.microsoft.com/office/drawing/2014/main" id="{801BAA6F-BE28-DD9F-944B-7514E40717A5}"/>
              </a:ext>
            </a:extLst>
          </p:cNvPr>
          <p:cNvSpPr txBox="1">
            <a:spLocks/>
          </p:cNvSpPr>
          <p:nvPr/>
        </p:nvSpPr>
        <p:spPr>
          <a:xfrm>
            <a:off x="472694" y="4247156"/>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Charles Tripp</a:t>
            </a:r>
          </a:p>
        </p:txBody>
      </p:sp>
      <p:sp>
        <p:nvSpPr>
          <p:cNvPr id="37" name="Content Placeholder 2">
            <a:extLst>
              <a:ext uri="{FF2B5EF4-FFF2-40B4-BE49-F238E27FC236}">
                <a16:creationId xmlns:a16="http://schemas.microsoft.com/office/drawing/2014/main" id="{8287EB56-E291-2C5B-5619-AFCFF73B511C}"/>
              </a:ext>
            </a:extLst>
          </p:cNvPr>
          <p:cNvSpPr txBox="1">
            <a:spLocks/>
          </p:cNvSpPr>
          <p:nvPr/>
        </p:nvSpPr>
        <p:spPr>
          <a:xfrm>
            <a:off x="705348" y="4646143"/>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Vanderbilt U.</a:t>
            </a:r>
            <a:endParaRPr lang="en-US" sz="2400" u="sng" dirty="0"/>
          </a:p>
        </p:txBody>
      </p:sp>
      <p:sp>
        <p:nvSpPr>
          <p:cNvPr id="38" name="Content Placeholder 2">
            <a:extLst>
              <a:ext uri="{FF2B5EF4-FFF2-40B4-BE49-F238E27FC236}">
                <a16:creationId xmlns:a16="http://schemas.microsoft.com/office/drawing/2014/main" id="{F194564B-B8D2-1D9E-F293-5978CEF0AF21}"/>
              </a:ext>
            </a:extLst>
          </p:cNvPr>
          <p:cNvSpPr txBox="1">
            <a:spLocks/>
          </p:cNvSpPr>
          <p:nvPr/>
        </p:nvSpPr>
        <p:spPr>
          <a:xfrm>
            <a:off x="414063" y="2312968"/>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Steve Goddard</a:t>
            </a:r>
          </a:p>
        </p:txBody>
      </p:sp>
      <p:sp>
        <p:nvSpPr>
          <p:cNvPr id="16" name="Slide Number Placeholder 15">
            <a:extLst>
              <a:ext uri="{FF2B5EF4-FFF2-40B4-BE49-F238E27FC236}">
                <a16:creationId xmlns:a16="http://schemas.microsoft.com/office/drawing/2014/main" id="{7704F537-285D-4769-A677-861CC3DDE650}"/>
              </a:ext>
            </a:extLst>
          </p:cNvPr>
          <p:cNvSpPr>
            <a:spLocks noGrp="1"/>
          </p:cNvSpPr>
          <p:nvPr>
            <p:ph type="sldNum" sz="quarter" idx="11"/>
          </p:nvPr>
        </p:nvSpPr>
        <p:spPr/>
        <p:txBody>
          <a:bodyPr/>
          <a:lstStyle/>
          <a:p>
            <a:fld id="{C6684DFB-8BCD-4B6F-9AA1-83F3BA61DF41}" type="slidenum">
              <a:rPr lang="en-US" smtClean="0"/>
              <a:pPr/>
              <a:t>56</a:t>
            </a:fld>
            <a:endParaRPr lang="en-US"/>
          </a:p>
        </p:txBody>
      </p:sp>
      <p:sp>
        <p:nvSpPr>
          <p:cNvPr id="17" name="Content Placeholder 2">
            <a:extLst>
              <a:ext uri="{FF2B5EF4-FFF2-40B4-BE49-F238E27FC236}">
                <a16:creationId xmlns:a16="http://schemas.microsoft.com/office/drawing/2014/main" id="{819E2BE5-4E47-02E6-BA70-14BA7287E848}"/>
              </a:ext>
            </a:extLst>
          </p:cNvPr>
          <p:cNvSpPr txBox="1">
            <a:spLocks/>
          </p:cNvSpPr>
          <p:nvPr/>
        </p:nvSpPr>
        <p:spPr>
          <a:xfrm>
            <a:off x="285062" y="1458834"/>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Coauthors:</a:t>
            </a:r>
            <a:endParaRPr lang="en-US" sz="2400" dirty="0"/>
          </a:p>
          <a:p>
            <a:pPr lvl="1"/>
            <a:endParaRPr lang="en-US" sz="2000" dirty="0"/>
          </a:p>
        </p:txBody>
      </p:sp>
      <p:grpSp>
        <p:nvGrpSpPr>
          <p:cNvPr id="26" name="Group 25">
            <a:extLst>
              <a:ext uri="{FF2B5EF4-FFF2-40B4-BE49-F238E27FC236}">
                <a16:creationId xmlns:a16="http://schemas.microsoft.com/office/drawing/2014/main" id="{C1CE69E2-70EB-2CD7-183E-1DF894853039}"/>
              </a:ext>
            </a:extLst>
          </p:cNvPr>
          <p:cNvGrpSpPr/>
          <p:nvPr/>
        </p:nvGrpSpPr>
        <p:grpSpPr>
          <a:xfrm>
            <a:off x="4002034" y="1960996"/>
            <a:ext cx="8489262" cy="2533990"/>
            <a:chOff x="4184559" y="1961887"/>
            <a:chExt cx="8489262" cy="2533990"/>
          </a:xfrm>
        </p:grpSpPr>
        <p:grpSp>
          <p:nvGrpSpPr>
            <p:cNvPr id="20" name="Group 19">
              <a:extLst>
                <a:ext uri="{FF2B5EF4-FFF2-40B4-BE49-F238E27FC236}">
                  <a16:creationId xmlns:a16="http://schemas.microsoft.com/office/drawing/2014/main" id="{62EA0C3B-2ADA-1451-4E89-D30F406876E0}"/>
                </a:ext>
              </a:extLst>
            </p:cNvPr>
            <p:cNvGrpSpPr/>
            <p:nvPr/>
          </p:nvGrpSpPr>
          <p:grpSpPr>
            <a:xfrm>
              <a:off x="4184559" y="1961887"/>
              <a:ext cx="8489262" cy="2533990"/>
              <a:chOff x="4029696" y="1884621"/>
              <a:chExt cx="8489262" cy="2533990"/>
            </a:xfrm>
          </p:grpSpPr>
          <p:grpSp>
            <p:nvGrpSpPr>
              <p:cNvPr id="15" name="Group 14">
                <a:extLst>
                  <a:ext uri="{FF2B5EF4-FFF2-40B4-BE49-F238E27FC236}">
                    <a16:creationId xmlns:a16="http://schemas.microsoft.com/office/drawing/2014/main" id="{9918B5AB-C567-CDE0-2119-18B3117F2055}"/>
                  </a:ext>
                </a:extLst>
              </p:cNvPr>
              <p:cNvGrpSpPr/>
              <p:nvPr/>
            </p:nvGrpSpPr>
            <p:grpSpPr>
              <a:xfrm>
                <a:off x="4029696" y="1884621"/>
                <a:ext cx="4895434" cy="1490411"/>
                <a:chOff x="3694597" y="2089794"/>
                <a:chExt cx="4895434" cy="1490411"/>
              </a:xfrm>
            </p:grpSpPr>
            <p:sp>
              <p:nvSpPr>
                <p:cNvPr id="7" name="Content Placeholder 2">
                  <a:extLst>
                    <a:ext uri="{FF2B5EF4-FFF2-40B4-BE49-F238E27FC236}">
                      <a16:creationId xmlns:a16="http://schemas.microsoft.com/office/drawing/2014/main" id="{9C0E8F77-D49D-8F86-31CC-0650EEB7C99B}"/>
                    </a:ext>
                  </a:extLst>
                </p:cNvPr>
                <p:cNvSpPr txBox="1">
                  <a:spLocks/>
                </p:cNvSpPr>
                <p:nvPr/>
              </p:nvSpPr>
              <p:spPr>
                <a:xfrm>
                  <a:off x="3694597" y="2089794"/>
                  <a:ext cx="4895434" cy="33388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 </a:t>
                  </a:r>
                  <a:r>
                    <a:rPr lang="en-US" sz="2000" b="1" u="sng" dirty="0" err="1"/>
                    <a:t>EpiGenomics</a:t>
                  </a:r>
                  <a:r>
                    <a:rPr lang="en-US" sz="2000" b="1" u="sng" dirty="0"/>
                    <a:t> Core Lai Lab</a:t>
                  </a:r>
                </a:p>
                <a:p>
                  <a:pPr marL="457200" lvl="1" indent="0">
                    <a:buNone/>
                  </a:pPr>
                  <a:endParaRPr lang="en-US" sz="2000" u="sng" dirty="0"/>
                </a:p>
              </p:txBody>
            </p:sp>
            <p:sp>
              <p:nvSpPr>
                <p:cNvPr id="8" name="Content Placeholder 2">
                  <a:extLst>
                    <a:ext uri="{FF2B5EF4-FFF2-40B4-BE49-F238E27FC236}">
                      <a16:creationId xmlns:a16="http://schemas.microsoft.com/office/drawing/2014/main" id="{AE61D198-8F6A-557F-2E7F-888F36F1B3F0}"/>
                    </a:ext>
                  </a:extLst>
                </p:cNvPr>
                <p:cNvSpPr txBox="1">
                  <a:spLocks/>
                </p:cNvSpPr>
                <p:nvPr/>
              </p:nvSpPr>
              <p:spPr>
                <a:xfrm>
                  <a:off x="3928700" y="2531597"/>
                  <a:ext cx="2275949" cy="104860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William Lai</a:t>
                  </a:r>
                </a:p>
                <a:p>
                  <a:pPr marL="457200" lvl="1" indent="0">
                    <a:buNone/>
                  </a:pPr>
                  <a:r>
                    <a:rPr lang="en-US" sz="2000" dirty="0"/>
                    <a:t>Dr. Olivia Lang</a:t>
                  </a:r>
                </a:p>
                <a:p>
                  <a:pPr marL="457200" lvl="1" indent="0">
                    <a:buNone/>
                  </a:pPr>
                  <a:r>
                    <a:rPr lang="en-US" sz="2000" dirty="0"/>
                    <a:t>Justin Cha</a:t>
                  </a:r>
                </a:p>
              </p:txBody>
            </p:sp>
          </p:grpSp>
          <p:grpSp>
            <p:nvGrpSpPr>
              <p:cNvPr id="13" name="Group 12">
                <a:extLst>
                  <a:ext uri="{FF2B5EF4-FFF2-40B4-BE49-F238E27FC236}">
                    <a16:creationId xmlns:a16="http://schemas.microsoft.com/office/drawing/2014/main" id="{599D9554-1F1D-5717-AC74-0EC34D0BA120}"/>
                  </a:ext>
                </a:extLst>
              </p:cNvPr>
              <p:cNvGrpSpPr/>
              <p:nvPr/>
            </p:nvGrpSpPr>
            <p:grpSpPr>
              <a:xfrm>
                <a:off x="8591780" y="1888265"/>
                <a:ext cx="3927178" cy="1902817"/>
                <a:chOff x="11612888" y="-540520"/>
                <a:chExt cx="3927178" cy="1902817"/>
              </a:xfrm>
            </p:grpSpPr>
            <p:sp>
              <p:nvSpPr>
                <p:cNvPr id="9" name="Content Placeholder 2">
                  <a:extLst>
                    <a:ext uri="{FF2B5EF4-FFF2-40B4-BE49-F238E27FC236}">
                      <a16:creationId xmlns:a16="http://schemas.microsoft.com/office/drawing/2014/main" id="{621BB09B-D294-881D-9649-7AB2EB57E881}"/>
                    </a:ext>
                  </a:extLst>
                </p:cNvPr>
                <p:cNvSpPr txBox="1">
                  <a:spLocks/>
                </p:cNvSpPr>
                <p:nvPr/>
              </p:nvSpPr>
              <p:spPr>
                <a:xfrm>
                  <a:off x="11612888" y="-540520"/>
                  <a:ext cx="2838683" cy="27462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U./Pugh Lab</a:t>
                  </a:r>
                </a:p>
              </p:txBody>
            </p:sp>
            <p:sp>
              <p:nvSpPr>
                <p:cNvPr id="10" name="Content Placeholder 2">
                  <a:extLst>
                    <a:ext uri="{FF2B5EF4-FFF2-40B4-BE49-F238E27FC236}">
                      <a16:creationId xmlns:a16="http://schemas.microsoft.com/office/drawing/2014/main" id="{417D11FB-8FF7-8934-4C7D-5DB0480B2411}"/>
                    </a:ext>
                  </a:extLst>
                </p:cNvPr>
                <p:cNvSpPr txBox="1">
                  <a:spLocks/>
                </p:cNvSpPr>
                <p:nvPr/>
              </p:nvSpPr>
              <p:spPr>
                <a:xfrm>
                  <a:off x="11846992" y="-9871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a:t>
                  </a:r>
                  <a:r>
                    <a:rPr lang="en-US" sz="2000" dirty="0" err="1"/>
                    <a:t>Ruihao</a:t>
                  </a:r>
                  <a:r>
                    <a:rPr lang="en-US" sz="2000" dirty="0"/>
                    <a:t> Li</a:t>
                  </a:r>
                </a:p>
                <a:p>
                  <a:pPr marL="457200" lvl="1" indent="0">
                    <a:buNone/>
                  </a:pPr>
                  <a:r>
                    <a:rPr lang="en-US" sz="2000" dirty="0"/>
                    <a:t>Zimo Zhu</a:t>
                  </a:r>
                </a:p>
                <a:p>
                  <a:pPr marL="457200" lvl="1" indent="0">
                    <a:buNone/>
                  </a:pPr>
                  <a:r>
                    <a:rPr lang="en-US" sz="2000" dirty="0"/>
                    <a:t>Kritika Grover</a:t>
                  </a:r>
                </a:p>
              </p:txBody>
            </p:sp>
          </p:grpSp>
          <p:sp>
            <p:nvSpPr>
              <p:cNvPr id="12" name="Content Placeholder 2">
                <a:extLst>
                  <a:ext uri="{FF2B5EF4-FFF2-40B4-BE49-F238E27FC236}">
                    <a16:creationId xmlns:a16="http://schemas.microsoft.com/office/drawing/2014/main" id="{E719055C-285C-B661-8F29-77A4FD497B53}"/>
                  </a:ext>
                </a:extLst>
              </p:cNvPr>
              <p:cNvSpPr txBox="1">
                <a:spLocks/>
              </p:cNvSpPr>
              <p:nvPr/>
            </p:nvSpPr>
            <p:spPr>
              <a:xfrm>
                <a:off x="4263799" y="3945243"/>
                <a:ext cx="2374622" cy="47336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Gretta Kellogg</a:t>
                </a:r>
              </a:p>
            </p:txBody>
          </p:sp>
          <p:sp>
            <p:nvSpPr>
              <p:cNvPr id="18" name="Content Placeholder 2">
                <a:extLst>
                  <a:ext uri="{FF2B5EF4-FFF2-40B4-BE49-F238E27FC236}">
                    <a16:creationId xmlns:a16="http://schemas.microsoft.com/office/drawing/2014/main" id="{CE409A8A-2980-415A-4714-C63FCC318404}"/>
                  </a:ext>
                </a:extLst>
              </p:cNvPr>
              <p:cNvSpPr txBox="1">
                <a:spLocks/>
              </p:cNvSpPr>
              <p:nvPr/>
            </p:nvSpPr>
            <p:spPr>
              <a:xfrm>
                <a:off x="6520367" y="3507092"/>
                <a:ext cx="4813836" cy="280346"/>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UI/Adv. Drug and Gene Delivery Lab</a:t>
                </a:r>
              </a:p>
              <a:p>
                <a:pPr marL="457200" lvl="1" indent="0">
                  <a:buNone/>
                </a:pPr>
                <a:endParaRPr lang="en-US" sz="2000" b="1" u="sng" dirty="0"/>
              </a:p>
            </p:txBody>
          </p:sp>
          <p:sp>
            <p:nvSpPr>
              <p:cNvPr id="19" name="Content Placeholder 2">
                <a:extLst>
                  <a:ext uri="{FF2B5EF4-FFF2-40B4-BE49-F238E27FC236}">
                    <a16:creationId xmlns:a16="http://schemas.microsoft.com/office/drawing/2014/main" id="{AF2CE6F9-AE3C-AD92-AF97-50CCD9716089}"/>
                  </a:ext>
                </a:extLst>
              </p:cNvPr>
              <p:cNvSpPr txBox="1">
                <a:spLocks/>
              </p:cNvSpPr>
              <p:nvPr/>
            </p:nvSpPr>
            <p:spPr>
              <a:xfrm>
                <a:off x="6638421" y="3902644"/>
                <a:ext cx="2670756" cy="47336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Esraa Mohamed</a:t>
                </a:r>
              </a:p>
            </p:txBody>
          </p:sp>
        </p:grpSp>
        <p:sp>
          <p:nvSpPr>
            <p:cNvPr id="21" name="Content Placeholder 2">
              <a:extLst>
                <a:ext uri="{FF2B5EF4-FFF2-40B4-BE49-F238E27FC236}">
                  <a16:creationId xmlns:a16="http://schemas.microsoft.com/office/drawing/2014/main" id="{6C823E90-35AA-12AC-E6AD-81D6934CB504}"/>
                </a:ext>
              </a:extLst>
            </p:cNvPr>
            <p:cNvSpPr txBox="1">
              <a:spLocks/>
            </p:cNvSpPr>
            <p:nvPr/>
          </p:nvSpPr>
          <p:spPr>
            <a:xfrm>
              <a:off x="4252063" y="3590966"/>
              <a:ext cx="2442548" cy="396792"/>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Penn State ICDS</a:t>
              </a:r>
            </a:p>
          </p:txBody>
        </p:sp>
        <p:sp>
          <p:nvSpPr>
            <p:cNvPr id="24" name="Content Placeholder 2">
              <a:extLst>
                <a:ext uri="{FF2B5EF4-FFF2-40B4-BE49-F238E27FC236}">
                  <a16:creationId xmlns:a16="http://schemas.microsoft.com/office/drawing/2014/main" id="{DD6B2B65-23C8-C16D-13C1-25993E92CB43}"/>
                </a:ext>
              </a:extLst>
            </p:cNvPr>
            <p:cNvSpPr txBox="1">
              <a:spLocks/>
            </p:cNvSpPr>
            <p:nvPr/>
          </p:nvSpPr>
          <p:spPr>
            <a:xfrm>
              <a:off x="6418834" y="2415002"/>
              <a:ext cx="2442548" cy="1188715"/>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Amy Lyndaker</a:t>
              </a:r>
            </a:p>
            <a:p>
              <a:pPr marL="457200" lvl="1" indent="0">
                <a:buNone/>
              </a:pPr>
              <a:r>
                <a:rPr lang="en-US" sz="2000" dirty="0"/>
                <a:t>Devin </a:t>
              </a:r>
              <a:r>
                <a:rPr lang="en-US" sz="2000" dirty="0" err="1"/>
                <a:t>Mellini</a:t>
              </a:r>
              <a:endParaRPr lang="en-US" sz="2000" dirty="0"/>
            </a:p>
            <a:p>
              <a:pPr marL="457200" lvl="1" indent="0">
                <a:buNone/>
              </a:pPr>
              <a:r>
                <a:rPr lang="en-US" sz="2000" dirty="0"/>
                <a:t>Catie </a:t>
              </a:r>
              <a:r>
                <a:rPr lang="en-US" sz="2000" dirty="0" err="1"/>
                <a:t>Smugereski</a:t>
              </a:r>
              <a:endParaRPr lang="en-US" sz="2000" dirty="0"/>
            </a:p>
            <a:p>
              <a:pPr marL="457200" lvl="1" indent="0">
                <a:buNone/>
              </a:pPr>
              <a:endParaRPr lang="en-US" sz="2000" dirty="0"/>
            </a:p>
          </p:txBody>
        </p:sp>
      </p:grpSp>
    </p:spTree>
    <p:extLst>
      <p:ext uri="{BB962C8B-B14F-4D97-AF65-F5344CB8AC3E}">
        <p14:creationId xmlns:p14="http://schemas.microsoft.com/office/powerpoint/2010/main" val="3104783797"/>
      </p:ext>
    </p:extLst>
  </p:cSld>
  <p:clrMapOvr>
    <a:masterClrMapping/>
  </p:clrMapOvr>
</p:sld>
</file>

<file path=ppt/theme/theme1.xml><?xml version="1.0" encoding="utf-8"?>
<a:theme xmlns:a="http://schemas.openxmlformats.org/drawingml/2006/main" name="Office Theme">
  <a:themeElements>
    <a:clrScheme name="IOWA BRAND COLORS">
      <a:dk1>
        <a:srgbClr val="000000"/>
      </a:dk1>
      <a:lt1>
        <a:srgbClr val="FFFFFF"/>
      </a:lt1>
      <a:dk2>
        <a:srgbClr val="62666A"/>
      </a:dk2>
      <a:lt2>
        <a:srgbClr val="BBBCBC"/>
      </a:lt2>
      <a:accent1>
        <a:srgbClr val="FFCD00"/>
      </a:accent1>
      <a:accent2>
        <a:srgbClr val="616669"/>
      </a:accent2>
      <a:accent3>
        <a:srgbClr val="BBBCBC"/>
      </a:accent3>
      <a:accent4>
        <a:srgbClr val="00A9E0"/>
      </a:accent4>
      <a:accent5>
        <a:srgbClr val="00AF66"/>
      </a:accent5>
      <a:accent6>
        <a:srgbClr val="FF8200"/>
      </a:accent6>
      <a:hlink>
        <a:srgbClr val="00558C"/>
      </a:hlink>
      <a:folHlink>
        <a:srgbClr val="636669"/>
      </a:folHlink>
    </a:clrScheme>
    <a:fontScheme name="University of Iowa">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A04F62C455FF4DAA3519D26B9045B8" ma:contentTypeVersion="18" ma:contentTypeDescription="Create a new document." ma:contentTypeScope="" ma:versionID="67107b62173fe4461d23b2530e5f303d">
  <xsd:schema xmlns:xsd="http://www.w3.org/2001/XMLSchema" xmlns:xs="http://www.w3.org/2001/XMLSchema" xmlns:p="http://schemas.microsoft.com/office/2006/metadata/properties" xmlns:ns3="51508d77-5234-4dc4-a286-4ae4c9d349ea" xmlns:ns4="dc196e29-963a-419b-96b7-986ed0fb11b1" targetNamespace="http://schemas.microsoft.com/office/2006/metadata/properties" ma:root="true" ma:fieldsID="b6a8d05dafcc3f2edc93078eb0c718cb" ns3:_="" ns4:_="">
    <xsd:import namespace="51508d77-5234-4dc4-a286-4ae4c9d349ea"/>
    <xsd:import namespace="dc196e29-963a-419b-96b7-986ed0fb11b1"/>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508d77-5234-4dc4-a286-4ae4c9d349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c196e29-963a-419b-96b7-986ed0fb11b1"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1508d77-5234-4dc4-a286-4ae4c9d349ea" xsi:nil="true"/>
  </documentManagement>
</p:properties>
</file>

<file path=customXml/itemProps1.xml><?xml version="1.0" encoding="utf-8"?>
<ds:datastoreItem xmlns:ds="http://schemas.openxmlformats.org/officeDocument/2006/customXml" ds:itemID="{7597162E-1F7C-4D28-90B3-BA67B494465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1508d77-5234-4dc4-a286-4ae4c9d349ea"/>
    <ds:schemaRef ds:uri="dc196e29-963a-419b-96b7-986ed0fb11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14B8143-C3D6-460D-830C-A8DBEE85511A}">
  <ds:schemaRefs>
    <ds:schemaRef ds:uri="http://schemas.microsoft.com/sharepoint/v3/contenttype/forms"/>
  </ds:schemaRefs>
</ds:datastoreItem>
</file>

<file path=customXml/itemProps3.xml><?xml version="1.0" encoding="utf-8"?>
<ds:datastoreItem xmlns:ds="http://schemas.openxmlformats.org/officeDocument/2006/customXml" ds:itemID="{097FFD54-27B0-415C-8654-D843242BD071}">
  <ds:schemaRefs>
    <ds:schemaRef ds:uri="http://purl.org/dc/dcmitype/"/>
    <ds:schemaRef ds:uri="http://purl.org/dc/elements/1.1/"/>
    <ds:schemaRef ds:uri="http://schemas.microsoft.com/office/infopath/2007/PartnerControls"/>
    <ds:schemaRef ds:uri="http://schemas.openxmlformats.org/package/2006/metadata/core-properties"/>
    <ds:schemaRef ds:uri="51508d77-5234-4dc4-a286-4ae4c9d349ea"/>
    <ds:schemaRef ds:uri="http://schemas.microsoft.com/office/2006/documentManagement/types"/>
    <ds:schemaRef ds:uri="http://schemas.microsoft.com/office/2006/metadata/properties"/>
    <ds:schemaRef ds:uri="dc196e29-963a-419b-96b7-986ed0fb11b1"/>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1095</TotalTime>
  <Words>2050</Words>
  <Application>Microsoft Office PowerPoint</Application>
  <PresentationFormat>Widescreen</PresentationFormat>
  <Paragraphs>410</Paragraphs>
  <Slides>56</Slides>
  <Notes>10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Arial</vt:lpstr>
      <vt:lpstr>Calibri</vt:lpstr>
      <vt:lpstr>Roboto</vt:lpstr>
      <vt:lpstr>Roboto Black</vt:lpstr>
      <vt:lpstr>Office Theme</vt:lpstr>
      <vt:lpstr>Title</vt:lpstr>
      <vt:lpstr>About Me</vt:lpstr>
      <vt:lpstr>What is a Neural Networks?</vt:lpstr>
      <vt:lpstr>Research Roadmap</vt:lpstr>
      <vt:lpstr>Large Growth in NN Resource Usage</vt:lpstr>
      <vt:lpstr>The Edge of AI</vt:lpstr>
      <vt:lpstr>Motivation</vt:lpstr>
      <vt:lpstr>What is Pruning?</vt:lpstr>
      <vt:lpstr>Motivation</vt:lpstr>
      <vt:lpstr>PowerPoint Presentation</vt:lpstr>
      <vt:lpstr>Pillar 1: Investigation</vt:lpstr>
      <vt:lpstr>PowerPoint Presentation</vt:lpstr>
      <vt:lpstr>Models/Datasets</vt:lpstr>
      <vt:lpstr>PowerPoint Presentation</vt:lpstr>
      <vt:lpstr>Unstructured pruning with IMP</vt:lpstr>
      <vt:lpstr>PowerPoint Presentation</vt:lpstr>
      <vt:lpstr>How does IMP change weights across Stages?</vt:lpstr>
      <vt:lpstr>Finding 1: Preferential Pruning of Deep Layers</vt:lpstr>
      <vt:lpstr>Do neurons get effectively removed?</vt:lpstr>
      <vt:lpstr>Finding 2: Persistence of Sparse Neurons</vt:lpstr>
      <vt:lpstr>How important are the remaining Neurons?</vt:lpstr>
      <vt:lpstr>Finding 3: Stable Neuron-Level Sensitivity</vt:lpstr>
      <vt:lpstr>How stable are activations and representations under pruning?</vt:lpstr>
      <vt:lpstr>Finding 4: Preservation of Feature Representations</vt:lpstr>
      <vt:lpstr>What internal changes occur when networks are pruned?</vt:lpstr>
      <vt:lpstr>Pillar 1: Conclusion</vt:lpstr>
      <vt:lpstr>Motivation</vt:lpstr>
      <vt:lpstr>Network Optimization</vt:lpstr>
      <vt:lpstr>Definitions</vt:lpstr>
      <vt:lpstr>Layer-by-Layer (LBL) Collapse</vt:lpstr>
      <vt:lpstr>Sliding Window Approach</vt:lpstr>
      <vt:lpstr>Supplemental Experiments</vt:lpstr>
      <vt:lpstr>Compression Landscape</vt:lpstr>
      <vt:lpstr>Experimental Setup</vt:lpstr>
      <vt:lpstr>Architectural Selection Strategy</vt:lpstr>
      <vt:lpstr>Areas of Focus</vt:lpstr>
      <vt:lpstr>Network Explainability &amp; Security</vt:lpstr>
      <vt:lpstr>How secure are these models</vt:lpstr>
      <vt:lpstr>What do these XAI techniques reveal?</vt:lpstr>
      <vt:lpstr>Key limitation for XAI</vt:lpstr>
      <vt:lpstr>Deployment invites attack</vt:lpstr>
      <vt:lpstr>What if we could see what a network learned without ANY holdout data?</vt:lpstr>
      <vt:lpstr>What does APSO “See” on a trained model</vt:lpstr>
      <vt:lpstr>What is the minimum information required for inference?</vt:lpstr>
      <vt:lpstr>What if we start off with some known knowledge?</vt:lpstr>
      <vt:lpstr>What’s the minimum information required for poisoning? </vt:lpstr>
      <vt:lpstr>How are robust are different architectures to APSO-poisoning? </vt:lpstr>
      <vt:lpstr>How much perturbation is required</vt:lpstr>
      <vt:lpstr>How much perturbation is required to poison a true label?</vt:lpstr>
      <vt:lpstr>How much perturbation is required to poison a true label?</vt:lpstr>
      <vt:lpstr>Robustness to APSO-Poisoning</vt:lpstr>
      <vt:lpstr>Is it just MNIST?</vt:lpstr>
      <vt:lpstr>Does the poison transfer against networks? </vt:lpstr>
      <vt:lpstr>Real world applications </vt:lpstr>
      <vt:lpstr>Pillar 3: Conclusion</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jamil-gafur@uiowa.edu</dc:creator>
  <cp:lastModifiedBy>Gafur, Jamil</cp:lastModifiedBy>
  <cp:revision>47</cp:revision>
  <dcterms:created xsi:type="dcterms:W3CDTF">2020-01-21T18:13:39Z</dcterms:created>
  <dcterms:modified xsi:type="dcterms:W3CDTF">2026-01-26T15:49:39Z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0x01010086A04F62C455FF4DAA3519D26B9045B8</vt:lpwstr>
  </property>
</Properties>
</file>