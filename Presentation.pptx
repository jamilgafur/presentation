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259" r:id="rId6"/>
    <p:sldId id="319" r:id="rId7"/>
    <p:sldId id="353" r:id="rId8"/>
    <p:sldId id="326" r:id="rId9"/>
    <p:sldId id="371" r:id="rId10"/>
    <p:sldId id="370" r:id="rId11"/>
    <p:sldId id="380" r:id="rId12"/>
    <p:sldId id="405" r:id="rId13"/>
    <p:sldId id="331" r:id="rId14"/>
    <p:sldId id="372" r:id="rId15"/>
    <p:sldId id="333" r:id="rId16"/>
    <p:sldId id="368" r:id="rId17"/>
    <p:sldId id="345" r:id="rId18"/>
    <p:sldId id="369" r:id="rId19"/>
    <p:sldId id="377" r:id="rId20"/>
    <p:sldId id="348" r:id="rId21"/>
    <p:sldId id="378" r:id="rId22"/>
    <p:sldId id="335" r:id="rId23"/>
    <p:sldId id="379" r:id="rId24"/>
    <p:sldId id="336" r:id="rId25"/>
    <p:sldId id="349" r:id="rId26"/>
    <p:sldId id="363" r:id="rId27"/>
    <p:sldId id="352" r:id="rId28"/>
    <p:sldId id="301" r:id="rId29"/>
    <p:sldId id="357" r:id="rId30"/>
    <p:sldId id="307" r:id="rId31"/>
    <p:sldId id="351" r:id="rId32"/>
    <p:sldId id="299" r:id="rId33"/>
    <p:sldId id="269" r:id="rId34"/>
    <p:sldId id="406" r:id="rId35"/>
    <p:sldId id="271" r:id="rId36"/>
    <p:sldId id="407" r:id="rId37"/>
    <p:sldId id="273" r:id="rId38"/>
    <p:sldId id="275" r:id="rId39"/>
    <p:sldId id="408" r:id="rId40"/>
    <p:sldId id="300" r:id="rId41"/>
    <p:sldId id="277" r:id="rId42"/>
    <p:sldId id="362" r:id="rId43"/>
    <p:sldId id="381" r:id="rId44"/>
    <p:sldId id="355" r:id="rId45"/>
    <p:sldId id="321" r:id="rId46"/>
    <p:sldId id="400" r:id="rId47"/>
    <p:sldId id="403" r:id="rId48"/>
    <p:sldId id="401" r:id="rId49"/>
    <p:sldId id="409" r:id="rId50"/>
    <p:sldId id="410" r:id="rId51"/>
    <p:sldId id="402" r:id="rId52"/>
    <p:sldId id="413" r:id="rId53"/>
    <p:sldId id="414" r:id="rId54"/>
    <p:sldId id="417" r:id="rId55"/>
    <p:sldId id="415" r:id="rId56"/>
    <p:sldId id="364" r:id="rId57"/>
    <p:sldId id="416" r:id="rId58"/>
    <p:sldId id="361" r:id="rId59"/>
    <p:sldId id="317" r:id="rId60"/>
    <p:sldId id="35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AF4FD65-B56A-46EE-992F-A05B2DE9ECB0}">
          <p14:sldIdLst>
            <p14:sldId id="258"/>
            <p14:sldId id="259"/>
            <p14:sldId id="319"/>
            <p14:sldId id="353"/>
          </p14:sldIdLst>
        </p14:section>
        <p14:section name="Are they Secure?" id="{FEB4BB09-A1B3-4A1C-8E7F-6E9D95AD0F38}">
          <p14:sldIdLst>
            <p14:sldId id="326"/>
            <p14:sldId id="371"/>
            <p14:sldId id="370"/>
            <p14:sldId id="380"/>
            <p14:sldId id="405"/>
            <p14:sldId id="331"/>
            <p14:sldId id="372"/>
            <p14:sldId id="333"/>
          </p14:sldIdLst>
        </p14:section>
        <p14:section name="Worth Using?" id="{2DDD8CBF-8B42-4B8D-8648-29FA16219D84}">
          <p14:sldIdLst>
            <p14:sldId id="368"/>
            <p14:sldId id="345"/>
            <p14:sldId id="369"/>
            <p14:sldId id="377"/>
            <p14:sldId id="348"/>
            <p14:sldId id="378"/>
            <p14:sldId id="335"/>
            <p14:sldId id="379"/>
            <p14:sldId id="336"/>
            <p14:sldId id="349"/>
            <p14:sldId id="363"/>
          </p14:sldIdLst>
        </p14:section>
        <p14:section name="Transition Efficiency" id="{04DA8483-9755-455B-9C5B-40F61BE7E07A}">
          <p14:sldIdLst>
            <p14:sldId id="352"/>
            <p14:sldId id="301"/>
            <p14:sldId id="357"/>
            <p14:sldId id="307"/>
          </p14:sldIdLst>
        </p14:section>
        <p14:section name="Efficiency" id="{6EC89208-4C02-467B-80DB-10C139ACA78F}">
          <p14:sldIdLst>
            <p14:sldId id="351"/>
            <p14:sldId id="299"/>
            <p14:sldId id="269"/>
            <p14:sldId id="406"/>
            <p14:sldId id="271"/>
            <p14:sldId id="407"/>
            <p14:sldId id="273"/>
            <p14:sldId id="275"/>
            <p14:sldId id="408"/>
            <p14:sldId id="300"/>
            <p14:sldId id="277"/>
            <p14:sldId id="362"/>
          </p14:sldIdLst>
        </p14:section>
        <p14:section name="Archit. Refrag" id="{6FB267D6-2996-44E3-8C8D-493EE7A02AA1}">
          <p14:sldIdLst>
            <p14:sldId id="381"/>
            <p14:sldId id="355"/>
            <p14:sldId id="321"/>
            <p14:sldId id="400"/>
            <p14:sldId id="403"/>
            <p14:sldId id="401"/>
            <p14:sldId id="409"/>
            <p14:sldId id="410"/>
            <p14:sldId id="402"/>
            <p14:sldId id="413"/>
            <p14:sldId id="414"/>
            <p14:sldId id="417"/>
            <p14:sldId id="415"/>
            <p14:sldId id="364"/>
            <p14:sldId id="416"/>
            <p14:sldId id="361"/>
          </p14:sldIdLst>
        </p14:section>
        <p14:section name="Future Work" id="{64143293-626A-411D-A007-CA9B47A713CA}">
          <p14:sldIdLst/>
        </p14:section>
        <p14:section name="Ending" id="{86AC351F-D819-4423-9D36-FDA2BDF268F4}">
          <p14:sldIdLst>
            <p14:sldId id="317"/>
            <p14:sldId id="3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7030A0"/>
    <a:srgbClr val="FFFF00"/>
    <a:srgbClr val="FFC000"/>
    <a:srgbClr val="FF0000"/>
    <a:srgbClr val="000000"/>
    <a:srgbClr val="BFE0BA"/>
    <a:srgbClr val="FFCC66"/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3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7051E-B811-D949-830F-55D35BA79C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2EC375-152E-3F4A-8C1A-308E3DFABC4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830E4C-56B7-2443-B370-610F8D1BCD9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D90D4-C48B-C647-BA8A-B43CFA99A4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0E78B-91EF-F148-8F7B-2AEC53251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D0152-5968-C24B-9EC0-2DFF74304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4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D2FD1-B169-9B41-A890-0ECD81C3476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9943EA-69D9-7E49-97CD-A49926F61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utilizing neural networks more than ever and the very thing that makes them great is what is causing issues – at the end of the day everything is a resource constrained device,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445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model vs 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19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C15F-02C0-2229-D5E3-9C58A9CC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63DF-6338-45E5-2783-909D6D5F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90ECA-CF4F-6736-981C-C4915DDB8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50AEB-7C7D-38E8-6294-0112F9C4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65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D8CEC-D181-8C4D-B084-231477BF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742B1-1279-27CA-73B1-24FE3EB84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3E7ADB-B2F6-56A4-501A-150901FC2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Sparse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30590-4035-F45D-3684-732D531D9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63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Stages show similar groupings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16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AD823-6DD1-2F0C-72C3-A47AF37F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509BD-8B9A-1448-0391-FF32D9F24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909FA-B561-166C-A6DB-D7D94E2D3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96C8C-4A80-E4F2-815B-862F9956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8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9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A31C-7DC0-C900-1B74-1A8F5322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0A57A-A582-B6B3-9080-7AB21AAC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1EC34-C6F1-36AF-7109-F17989B31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5EBE0-5B36-753B-3816-14AF4E214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317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1035436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</a:t>
            </a:r>
            <a:br>
              <a:rPr lang="en-US"/>
            </a:br>
            <a:r>
              <a:rPr lang="en-US"/>
              <a:t>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1035436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148794"/>
            <a:ext cx="1035436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A096FDD2-3609-3C49-9ED5-616F9E36DB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EEDFE2-0F2F-5B5E-EF0E-1C26805254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0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60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914400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914400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087150"/>
            <a:ext cx="914400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916622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685527-7A8C-3647-9D96-6D076FA7A7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548D1-6E27-E627-6E48-03CB3EE83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889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0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431224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14C79AA-0B96-2A43-86A1-A71A1D4C8E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A7101AB8-54F7-4A4E-9611-F4F2ECFBD1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BDD4F96-5BFE-3049-B4E0-9CDD4F5C3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9CB936-90E7-D144-B9DC-7CF3F98E2F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1599"/>
            <a:ext cx="2687038" cy="1276343"/>
          </a:xfrm>
          <a:prstGeom prst="rect">
            <a:avLst/>
          </a:prstGeom>
        </p:spPr>
      </p:pic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AB83F4-9689-9B2B-AC0B-A64F1ADA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13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561760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3A797-13D4-A243-B1AE-4498B36D47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84DA5E7-4B71-0543-8E46-EC2A81EAE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BCADCB-4DBB-9C43-A696-780C05775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3F5E00-2329-6246-A2BB-7BCD46F839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0"/>
            <a:ext cx="2687038" cy="127954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E2A5-3721-D434-DA10-719B0240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6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8E68DF-CD6D-A951-12EF-C2EDB5917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72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7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8FB54BE8-0526-614C-A06E-8C6258999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DB1A8-F3AB-2B22-9BF2-99C42B89C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82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00">
          <p15:clr>
            <a:srgbClr val="FBAE40"/>
          </p15:clr>
        </p15:guide>
        <p15:guide id="4" pos="70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C17923A-4119-CF48-9F2D-05B0A69EBA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24488-0ADE-1843-91C1-1CA371373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661" y="2215171"/>
            <a:ext cx="4368798" cy="646331"/>
          </a:xfrm>
          <a:solidFill>
            <a:schemeClr val="accent1"/>
          </a:solidFill>
        </p:spPr>
        <p:txBody>
          <a:bodyPr wrap="square" lIns="91440" tIns="91440" bIns="0">
            <a:spAutoFit/>
          </a:bodyPr>
          <a:lstStyle/>
          <a:p>
            <a:r>
              <a:rPr lang="en-US"/>
              <a:t>SECTION HEADER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F3B462-4517-FB3A-2DBB-733BF997B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73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070F21D-F194-034E-812B-69D1C6C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A13FBC-A4AA-9B4F-8E9B-12CD6600150E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C1D3A-9762-7F4D-AB5C-A3F0114B67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6" name="Picture 15" descr="The University of Iowa">
            <a:extLst>
              <a:ext uri="{FF2B5EF4-FFF2-40B4-BE49-F238E27FC236}">
                <a16:creationId xmlns:a16="http://schemas.microsoft.com/office/drawing/2014/main" id="{7148CCDA-64E4-6A4E-A6A7-D2AB55159A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AE079D-23CF-2543-B543-90A5EB0D2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1AE5E7-F95C-862E-7E40-048B067529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3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  <p15:guide id="2" pos="600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6">
          <p15:clr>
            <a:srgbClr val="FBAE40"/>
          </p15:clr>
        </p15:guide>
        <p15:guide id="7" orient="horz" pos="240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E68DE55-0579-EC46-BD52-181870AFB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8200BB2-D6D1-6642-8F66-9B4F37EC8187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35C2BC9-7AF3-6D49-8036-36D81872E8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937044-371D-C149-9F72-3D8FBA4605C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DC5F3A3D-928C-F445-ACB3-2C38F21F6D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2F140A7-DF6E-3245-BC22-1F0E9CFEE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DAD99-4BCE-9D39-BA82-E284BE9177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65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 userDrawn="1">
          <p15:clr>
            <a:srgbClr val="FBAE40"/>
          </p15:clr>
        </p15:guide>
        <p15:guide id="2" pos="600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6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 Slide - 2 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" y="389509"/>
            <a:ext cx="10287000" cy="1331865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 </a:t>
            </a:r>
            <a:br>
              <a:rPr lang="en-US"/>
            </a:br>
            <a:r>
              <a:rPr lang="en-US"/>
              <a:t>that runs to two lines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2525-98F9-924C-B8E5-083B38E28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0287000" cy="3892859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95AAAF-3BA6-4445-BF32-09164447961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0AA5F87C-9826-7441-9CF2-6F364BF7D9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678EF36-A6E8-DB4E-8C3A-B3624ECEE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84168-1890-42B7-2F95-65F2396EF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63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2D2F673-8F81-4982-AA66-35312BF3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4800219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664346"/>
            <a:ext cx="4800224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86758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8B99253-B000-1442-A7D2-EB536C15CBCB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8" name="Picture 17" descr="The University of Iowa">
            <a:extLst>
              <a:ext uri="{FF2B5EF4-FFF2-40B4-BE49-F238E27FC236}">
                <a16:creationId xmlns:a16="http://schemas.microsoft.com/office/drawing/2014/main" id="{A96F9427-B9C2-6F44-ADD6-28635EDF4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5D918E3-A228-4F47-B892-288E22CD6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3AA63-24A7-BA03-FD7C-51EFC52A9F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42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1686756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2674396"/>
            <a:ext cx="2973372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168675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2674396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944143A-0CC6-6041-BD38-4C994DA8E0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3" name="Picture 22" descr="The University of Iowa">
            <a:extLst>
              <a:ext uri="{FF2B5EF4-FFF2-40B4-BE49-F238E27FC236}">
                <a16:creationId xmlns:a16="http://schemas.microsoft.com/office/drawing/2014/main" id="{529638AC-0ED3-DE46-BC83-28B1D845EE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42FB62D-41EB-7A41-B0D2-60C8BB6A3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10CF93-D03B-C8A5-E03C-C72C92252E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774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697" userDrawn="1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52425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37133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737134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06107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306108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6741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875080" y="167670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875081" y="2664346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DF11BA-BD6E-E14D-A115-587308DBF4A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178B6A3E-B578-0F40-9695-2E975D126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253C989-F49D-8D4D-BFD5-ECCB6E59B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EC01FB-4DA9-0B14-9E50-CF05E633BC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4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183508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850484"/>
            <a:ext cx="1835088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301186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CA73044-ABA5-4A68-81D4-75723F104CF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29003" y="1686758"/>
            <a:ext cx="162430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69FEDBA-37CD-4D7E-A729-6821E598E67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22900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66192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B96DFA0C-E450-4893-8C79-6243F56979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8122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9D9C274-DDDD-4725-8A7B-113147DD783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28122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3190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93742B6-D009-4AB4-BBDC-24522E901BB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34904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0357619-5F6A-4C63-90C3-32B37CE73C9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34904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1841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5F8812-D495-478D-828C-D8CF0753EEB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401266" y="1686758"/>
            <a:ext cx="183508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338FA747-D085-4909-A6FE-575A5C65242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401267" y="2850484"/>
            <a:ext cx="183823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4AB6F8-D05F-8E40-A637-083D1274FB35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8" name="Picture 37" descr="The University of Iowa">
            <a:extLst>
              <a:ext uri="{FF2B5EF4-FFF2-40B4-BE49-F238E27FC236}">
                <a16:creationId xmlns:a16="http://schemas.microsoft.com/office/drawing/2014/main" id="{03F28A08-B979-7F4D-A857-AE155CAB0E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48092FCE-E544-874D-A440-7B68904C3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39FE5E-4A90-5813-1573-1DA16021FE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371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1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83F529D-C880-45A0-81D8-FD2CC04E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2" y="3291760"/>
            <a:ext cx="10288587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10288586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4" y="4753992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E76717-4761-EC4B-BDB1-C130638E59C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40242CE7-09BD-8143-AE27-4BF193790A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F415A2A-5C4A-BE45-8CAF-820EC97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CA7339-7939-E23B-1AB4-605809F5306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78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A9A771B-4FFF-4EBF-A07A-0D6292AC2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3" y="3291760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5" y="475399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23041F-D604-4688-B75A-90D37AFDDB0E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7B91F83-8428-4E5A-9C88-17829B687B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83696" y="168851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DB1D581-6D4C-4716-AE96-DBB4F953B95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83697" y="212176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79BA4B0-A083-4A1F-9D3B-A041B59E7C2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83698" y="3293514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FDD4A4D-E1FC-4E83-A8AA-A324B6B0E44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83699" y="3726766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E8E7D5C-ACCB-47E6-A3F5-6F3F51A0F37F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83700" y="4755746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59D9DC4-BB53-4441-9B74-84922B36994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83701" y="5188998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774845D-2BF0-2740-9880-8D2B0EBB22B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0BB6734F-670C-234F-9B83-4953BF83C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7695749F-B8A1-694A-8E96-E3DE4B0E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94544A-570C-586E-7EDE-44CFCEF0494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29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1EE2C71-E6FD-4A5F-BC00-7290049C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2760956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FC9698A-599E-4227-BA19-18EFBBF3E0D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4094" y="2904080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4B470A9-B821-4D01-8FB4-31DF303421A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4096" y="3337333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3792244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C507C81-6817-4069-BC84-0CE4705AE16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54098" y="3970621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4103820-8C7A-497C-BCBA-2CFEB4549C8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54100" y="4403874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1CE437-6AD8-4170-8DC8-66894266CE06}"/>
              </a:ext>
            </a:extLst>
          </p:cNvPr>
          <p:cNvCxnSpPr/>
          <p:nvPr userDrawn="1"/>
        </p:nvCxnSpPr>
        <p:spPr>
          <a:xfrm>
            <a:off x="952506" y="488567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C02F409-DCF5-4241-BB5E-6E37CC8D351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4096" y="5089029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C426E8-7005-475F-BC32-B5F0BA7A8A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4098" y="5522281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22804C-AFDD-4E8C-BFDC-31326A2127FA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6342B0E-1F8B-4D4C-ABA7-E43BC2B3F4A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67495" y="1688232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FCF3285B-83DB-4917-9F24-EC0C964DE403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67497" y="2121484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88D8B1-0044-4EC5-B4CD-DB1095F378A4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69089" y="2905554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9F6100E2-DAE8-4111-AF37-8909AA389FC1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69091" y="3338807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0B1E9EC-56B4-4514-B189-24BD47F549F3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469093" y="3972095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685484E-408B-4771-9259-BAAC2A6E6017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469095" y="4405348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EE05AF1-1486-45F2-B87D-2AE555B8D1CB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69091" y="5090503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2C4B0E5-3C7E-4BC2-AA92-4156C26C91FF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6469093" y="5523755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480C56-313A-5C4D-A02B-5C10621A506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58CA1799-4AEA-D247-8458-F8440E403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FD2AE71-6126-9A49-BF5D-602677416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BCDAA-5C9D-8BFB-2A94-1926B13A23D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F947D672-DDE7-4F36-B79C-4245C5D1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238480"/>
            <a:ext cx="4800219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B9F7B-CC85-4936-BE2A-DF6B8BF46018}"/>
              </a:ext>
            </a:extLst>
          </p:cNvPr>
          <p:cNvCxnSpPr/>
          <p:nvPr userDrawn="1"/>
        </p:nvCxnSpPr>
        <p:spPr>
          <a:xfrm>
            <a:off x="949325" y="3790765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FA8ABE-0B6C-4930-94A9-A2BB4166E51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8052" y="4209907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7E91DB8-4856-4AED-8362-60627F681EE8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58053" y="4761629"/>
            <a:ext cx="4800219" cy="11819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79384"/>
            <a:ext cx="0" cy="427276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228428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6BD4A33-C7CC-4380-A2BB-ECC6C2FB722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39276" y="4199855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CD0BB64-6643-42CE-AFE7-372305F2123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39277" y="4751577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D606F0-071A-A842-B316-9BEBD143AC3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8" name="Picture 27" descr="The University of Iowa">
            <a:extLst>
              <a:ext uri="{FF2B5EF4-FFF2-40B4-BE49-F238E27FC236}">
                <a16:creationId xmlns:a16="http://schemas.microsoft.com/office/drawing/2014/main" id="{9AAD4B2F-0082-B749-BE09-2EC20A6C43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D920E71-4E45-E74F-B01A-DC16C3B80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8759E5-A182-A437-FFD7-EED0D4133D3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183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2400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tat Layou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9080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52" name="Picture Placeholder 50">
            <a:extLst>
              <a:ext uri="{FF2B5EF4-FFF2-40B4-BE49-F238E27FC236}">
                <a16:creationId xmlns:a16="http://schemas.microsoft.com/office/drawing/2014/main" id="{8D984633-F962-1848-A009-619CB82116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DE3AB4-3020-8D45-86B7-592F12CB716B}"/>
              </a:ext>
            </a:extLst>
          </p:cNvPr>
          <p:cNvCxnSpPr>
            <a:cxnSpLocks/>
          </p:cNvCxnSpPr>
          <p:nvPr userDrawn="1"/>
        </p:nvCxnSpPr>
        <p:spPr>
          <a:xfrm>
            <a:off x="896513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4E94AD-16D9-BE4C-8C57-CFA6654E1BD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39080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4293C0-60B2-3341-9C38-86DF7ACA51DC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582471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5" name="Picture Placeholder 50">
            <a:extLst>
              <a:ext uri="{FF2B5EF4-FFF2-40B4-BE49-F238E27FC236}">
                <a16:creationId xmlns:a16="http://schemas.microsoft.com/office/drawing/2014/main" id="{3ED87A8B-0573-474F-94C0-2F7E344853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80564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99B91B-7CDD-284B-99CF-8408146B2C0D}"/>
              </a:ext>
            </a:extLst>
          </p:cNvPr>
          <p:cNvCxnSpPr>
            <a:cxnSpLocks/>
          </p:cNvCxnSpPr>
          <p:nvPr userDrawn="1"/>
        </p:nvCxnSpPr>
        <p:spPr>
          <a:xfrm>
            <a:off x="4539904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BB67D17-F456-FC43-9C41-9344D6EEB07B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582471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0F6E28A-AB38-A64F-9481-C9F0437BFEA5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8225863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9" name="Picture Placeholder 50">
            <a:extLst>
              <a:ext uri="{FF2B5EF4-FFF2-40B4-BE49-F238E27FC236}">
                <a16:creationId xmlns:a16="http://schemas.microsoft.com/office/drawing/2014/main" id="{106DB928-4AE1-4E4B-9A4C-6062FC24770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23956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7D2B0-E449-FD45-9789-FC204088E97C}"/>
              </a:ext>
            </a:extLst>
          </p:cNvPr>
          <p:cNvCxnSpPr>
            <a:cxnSpLocks/>
          </p:cNvCxnSpPr>
          <p:nvPr userDrawn="1"/>
        </p:nvCxnSpPr>
        <p:spPr>
          <a:xfrm>
            <a:off x="8183296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6FE37F4-1DCF-2D40-845F-6C10AC016C29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225863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FF7EDA-87CD-8DAB-9C47-D5E1D6F648B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12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2738-1D29-40DE-AACF-F60CD708E892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D1ADFA24-184F-46B9-B1D0-3FBB044F3673}"/>
              </a:ext>
            </a:extLst>
          </p:cNvPr>
          <p:cNvSpPr/>
          <p:nvPr userDrawn="1"/>
        </p:nvSpPr>
        <p:spPr>
          <a:xfrm>
            <a:off x="166474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DC306F30-B3C1-E74C-B18C-7075DB0761D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4078664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F9D861-0550-4AC8-BB96-094DAF60B7F4}"/>
              </a:ext>
            </a:extLst>
          </p:cNvPr>
          <p:cNvSpPr/>
          <p:nvPr userDrawn="1"/>
        </p:nvSpPr>
        <p:spPr>
          <a:xfrm>
            <a:off x="5231950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4382C3D7-6E45-864C-A5B5-39762336A48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4078664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1DA23-83F7-4662-BC02-2666717C53B4}"/>
              </a:ext>
            </a:extLst>
          </p:cNvPr>
          <p:cNvSpPr/>
          <p:nvPr userDrawn="1"/>
        </p:nvSpPr>
        <p:spPr>
          <a:xfrm>
            <a:off x="8775763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6E1CEA20-24A4-8C45-B5A6-CE111F714F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4078663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93C3B-BCBF-D900-9D0D-7DF1CBBD8A6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51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1B9DD2E6-4011-470E-85A1-9331B2E2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260812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0A1A4191-73C5-A24C-B85A-D6F8FC57252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540727" y="231168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2500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935830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D7A0C8CB-AE00-AE4E-8B06-C3CDA2E8A6B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21796" y="228086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7F2CE8-9E91-4C86-99AB-686A9C81041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627518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651392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EED777B6-C788-B840-ACC3-FD8949E42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793844" y="2309972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BC06D7C8-7D2D-4A80-B5B8-174F5056AA0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205617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9188946" y="2045132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4C4E3A7-AB8A-6243-BBFD-8A433C7847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73607" y="2311684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FC2F9F8-450A-4433-BAFC-DCD0001FAF1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880634" y="4073057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78BB7-B3A6-0D4A-A743-C8950F9817A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6D319038-0896-5540-A405-0F93F52CC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5779A1-5C1A-D949-93A6-EFB401BFC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8F4D8-7D6D-84F2-4CB4-E6AA2719984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8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7E2EA4D-EFA8-4B7C-9585-ADB07DA2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175438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E2F4087-739F-1B43-B022-92BCEDD29A2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8972" y="2403497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175438" y="407866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222122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090A73C4-9F43-6142-BBC5-1C887BE310E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02864" y="2384080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9B9DF875-9EAF-4928-8E91-6599CCEAADE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225991" y="4080927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5305996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121B32AC-29FE-5347-BC89-E1D12CFE91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88241" y="2367425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F8AD6-3AD0-422C-B775-D4163897266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5285614" y="409557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3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7346820" y="2120050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cture Placeholder 3">
            <a:extLst>
              <a:ext uri="{FF2B5EF4-FFF2-40B4-BE49-F238E27FC236}">
                <a16:creationId xmlns:a16="http://schemas.microsoft.com/office/drawing/2014/main" id="{035F86CE-4040-2C49-984A-EDA41DCC41D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583252" y="2382067"/>
            <a:ext cx="1121725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322EF39-6BE8-4D2B-B814-5743037B71F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325607" y="4098102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3182B05-A7F1-450F-AE61-51425BEF3AA6}"/>
              </a:ext>
            </a:extLst>
          </p:cNvPr>
          <p:cNvSpPr/>
          <p:nvPr userDrawn="1"/>
        </p:nvSpPr>
        <p:spPr>
          <a:xfrm>
            <a:off x="9434872" y="2133924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B4205C-10C8-FE4A-8B1C-0B1A629E22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82000" y="2389427"/>
            <a:ext cx="1100333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D14923E-7CAE-49B7-9668-7B538ECFDC5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9419080" y="4107460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66093-3200-6440-8AB2-9242D398F84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D664CA64-A0A9-F34D-BDC5-9ABCDE7A54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B50283A-D398-E048-BDA3-92DD544A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E4C3C-033E-0849-C3C1-66D85BACFA2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C29AABA-668F-408C-81ED-9A30ED0A4B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9325" y="1684461"/>
            <a:ext cx="317023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891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4383805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C3EF38F-8A6A-4B49-A1A2-467E7797A51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02447" y="1677611"/>
            <a:ext cx="2987311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3537679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4372568"/>
            <a:ext cx="2973372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DDD8951C-5A36-4D07-AB7C-0F597B3D797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72642" y="1684461"/>
            <a:ext cx="316685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3537679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4372568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DAB539-1500-4641-B587-77CADD88349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425DB221-2568-9A44-ABC3-1ED0E0B41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E30D721-4805-D344-A3E0-90A8F1D56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7FD898-F87A-8D2E-DCCB-72352316B3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8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7" orient="horz" pos="3744">
          <p15:clr>
            <a:srgbClr val="FBAE40"/>
          </p15:clr>
        </p15:guide>
        <p15:guide id="8" orient="horz" pos="697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E21D4365-BAA8-4F76-87AD-1A328301E29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9325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1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44118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EB10E167-B94B-AD40-958C-D9E0F8F9DF4A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3593362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C03DF098-BB37-5848-9388-750D29EFC657}"/>
              </a:ext>
            </a:extLst>
          </p:cNvPr>
          <p:cNvSpPr>
            <a:spLocks noGrp="1"/>
          </p:cNvSpPr>
          <p:nvPr userDrawn="1">
            <p:ph idx="24" hasCustomPrompt="1"/>
          </p:nvPr>
        </p:nvSpPr>
        <p:spPr>
          <a:xfrm>
            <a:off x="3630386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FE4DEF0-41BC-4548-B7BA-1E5B0231AFFD}"/>
              </a:ext>
            </a:extLst>
          </p:cNvPr>
          <p:cNvSpPr>
            <a:spLocks noGrp="1"/>
          </p:cNvSpPr>
          <p:nvPr userDrawn="1">
            <p:ph idx="25" hasCustomPrompt="1"/>
          </p:nvPr>
        </p:nvSpPr>
        <p:spPr>
          <a:xfrm>
            <a:off x="3630387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574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864CDDAA-23B4-C842-845C-7640D95F2B65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6237399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DEB8CCE3-3756-5947-84B2-DFCA00A013F6}"/>
              </a:ext>
            </a:extLst>
          </p:cNvPr>
          <p:cNvSpPr>
            <a:spLocks noGrp="1"/>
          </p:cNvSpPr>
          <p:nvPr userDrawn="1">
            <p:ph idx="27" hasCustomPrompt="1"/>
          </p:nvPr>
        </p:nvSpPr>
        <p:spPr>
          <a:xfrm>
            <a:off x="6242957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9C56F7D-4836-1E4F-BD4C-CB150E12E098}"/>
              </a:ext>
            </a:extLst>
          </p:cNvPr>
          <p:cNvSpPr>
            <a:spLocks noGrp="1"/>
          </p:cNvSpPr>
          <p:nvPr userDrawn="1">
            <p:ph idx="28" hasCustomPrompt="1"/>
          </p:nvPr>
        </p:nvSpPr>
        <p:spPr>
          <a:xfrm>
            <a:off x="6242958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7503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6A5C640-1D0E-4428-AC28-148AE98A7B34}"/>
              </a:ext>
            </a:extLst>
          </p:cNvPr>
          <p:cNvSpPr>
            <a:spLocks noGrp="1"/>
          </p:cNvSpPr>
          <p:nvPr userDrawn="1">
            <p:ph type="pic" sz="quarter" idx="22"/>
          </p:nvPr>
        </p:nvSpPr>
        <p:spPr>
          <a:xfrm>
            <a:off x="8881435" y="1680693"/>
            <a:ext cx="2349365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 userDrawn="1">
            <p:ph idx="15" hasCustomPrompt="1"/>
          </p:nvPr>
        </p:nvSpPr>
        <p:spPr>
          <a:xfrm>
            <a:off x="8875080" y="354891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 userDrawn="1">
            <p:ph idx="16" hasCustomPrompt="1"/>
          </p:nvPr>
        </p:nvSpPr>
        <p:spPr>
          <a:xfrm>
            <a:off x="8875081" y="4362520"/>
            <a:ext cx="2358867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720753-9BFD-2840-9C93-FF72942ED6E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2" name="Picture 31" descr="The University of Iowa">
            <a:extLst>
              <a:ext uri="{FF2B5EF4-FFF2-40B4-BE49-F238E27FC236}">
                <a16:creationId xmlns:a16="http://schemas.microsoft.com/office/drawing/2014/main" id="{710BB67D-293B-374F-89FC-5F2EBF9F2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9EE9B966-22C9-0D4A-8DF7-FFA7CF9C9DD8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966A9-CD5A-4642-90C1-F11B0C05DEA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021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14F11A61-EE32-4596-8BBC-0626131F1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524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29247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icture Placeholder 3">
            <a:extLst>
              <a:ext uri="{FF2B5EF4-FFF2-40B4-BE49-F238E27FC236}">
                <a16:creationId xmlns:a16="http://schemas.microsoft.com/office/drawing/2014/main" id="{10B80E7E-3ECA-A84C-BBC2-DF9FD6DED4F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0534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AB9C78E2-4679-F844-BB37-D2E07B542CA3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30534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F3EA205-7109-BC44-BA2C-7704780449E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30534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36631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icture Placeholder 3">
            <a:extLst>
              <a:ext uri="{FF2B5EF4-FFF2-40B4-BE49-F238E27FC236}">
                <a16:creationId xmlns:a16="http://schemas.microsoft.com/office/drawing/2014/main" id="{4EF24A51-2D82-AA40-8405-8CFEC6F5CB5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1870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90D707E7-5635-444F-BB41-10E2268CC09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870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4340EF3F-9B6C-B54B-94AD-7275543213B0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51870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484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4D703A3B-87F3-AE45-90D2-795F9DA8857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266213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5C95157B-C7FC-864F-A9C2-08E02E26EE07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7266215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1E05108-E0DC-6947-A186-EA5436079AA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7266216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2603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E90B3032-DDF8-0446-8BB7-81565519E03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94106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24287DA-FEAD-6E4A-83EC-B59516E2386C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410701" y="3545060"/>
            <a:ext cx="1826629" cy="67511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4FC143B3-231A-2B46-ABBF-7F6B6BBF4596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94107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E17D8-CAFF-0E47-97EF-4D4BC59FFC70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3" name="Picture 42" descr="The University of Iowa">
            <a:extLst>
              <a:ext uri="{FF2B5EF4-FFF2-40B4-BE49-F238E27FC236}">
                <a16:creationId xmlns:a16="http://schemas.microsoft.com/office/drawing/2014/main" id="{924E35CA-EA2E-084A-B4D2-736FEA8C0D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752B61A-80FF-1049-8A33-5614EE9DC8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881A2-9CAF-9700-2E26-1544BBDCAFF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56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20">
            <a:extLst>
              <a:ext uri="{FF2B5EF4-FFF2-40B4-BE49-F238E27FC236}">
                <a16:creationId xmlns:a16="http://schemas.microsoft.com/office/drawing/2014/main" id="{2BA8F287-92C7-4FFD-A7E9-45864F8E9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9325" y="498296"/>
            <a:ext cx="5260975" cy="89611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31F03A-71CF-475D-8A3C-99FC106D73E8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7404DB8-B6AC-4389-8E6E-A115840D1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2EEDE3-0B18-E049-BE23-974E50C7297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71534" y="0"/>
            <a:ext cx="5029200" cy="638951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0F7CB-393D-BF45-B52D-542FDDEFCAF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9CE5618D-3613-E04D-A815-ED9A2C5AA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35C85E8-314E-3E45-BB26-1A95C606F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0B959E-42EE-0F21-434B-1679323A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00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12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1056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524483D-CFE3-E34D-BB74-CEDD54176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65125"/>
            <a:ext cx="5254505" cy="1331865"/>
          </a:xfrm>
        </p:spPr>
        <p:txBody>
          <a:bodyPr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28F420-DDD1-5E4A-9513-EAE252D759FE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5D1D7B4-E242-C142-8F5F-F3301CC02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962386"/>
            <a:ext cx="5266450" cy="3981214"/>
          </a:xfrm>
        </p:spPr>
        <p:txBody>
          <a:bodyPr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buClr>
                <a:schemeClr val="tx2"/>
              </a:buClr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4FCC643-718F-7645-8F8D-0BFC94D0506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59502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1C31617-CC11-4C42-B6D0-164DF6AFBF4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13630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5CE386-BEFE-FE49-A675-D93BEDF680B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59502" y="3260862"/>
            <a:ext cx="5032499" cy="3128649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 Click icon to add picture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4DFA0-3257-B044-87EF-16154359E2FC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9" name="Picture 18" descr="The University of Iowa">
            <a:extLst>
              <a:ext uri="{FF2B5EF4-FFF2-40B4-BE49-F238E27FC236}">
                <a16:creationId xmlns:a16="http://schemas.microsoft.com/office/drawing/2014/main" id="{87382191-DF4D-7341-915C-9C10445352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21405B1-B61E-0943-909C-EFA16B5EE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25FBB-5739-FC55-71CA-2D2B101AE0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72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26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240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4273"/>
            <a:ext cx="10290175" cy="869089"/>
          </a:xfrm>
        </p:spPr>
        <p:txBody>
          <a:bodyPr lIns="0" tIns="0" rIns="0" bIns="0"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49325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DF1F65E7-1CB7-3D42-91A9-88DA4E58EB0E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49325" y="1570038"/>
            <a:ext cx="10290175" cy="4114800"/>
          </a:xfrm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56D074-0631-F846-A2A3-4A39FEAEFDD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F53BBB5F-6629-C742-91EE-40B5B8BC1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3AC09A7-82B4-6B47-A4FB-CA6800EAF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415F6-3853-C197-5E91-5F3F7ECF64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65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C533B8E-DBF3-664D-901D-8735DE7752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8383" y="3029213"/>
            <a:ext cx="2687038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tx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62A30-5EEC-5549-B428-7E5B11A5D7A7}"/>
              </a:ext>
            </a:extLst>
          </p:cNvPr>
          <p:cNvGrpSpPr/>
          <p:nvPr userDrawn="1"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99B573-1E8F-3547-9D64-50A2EC630F1F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68F32139-4BAE-F54C-8358-EF5839C5813E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B1807D8-E6B4-C743-A4EC-22D5E04798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D36833F-B2C7-1C49-9947-A60C1ACB02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4E876-4916-29D1-FA73-B869297DC6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3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-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47420D0-6FF1-9C4A-B953-EA4EEABBA3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5016" y="3029213"/>
            <a:ext cx="2693773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accent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25728D-FF50-4FF2-AC2E-B13A3D44D5B9}"/>
              </a:ext>
            </a:extLst>
          </p:cNvPr>
          <p:cNvGrpSpPr/>
          <p:nvPr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8A6E0DE-15E0-485B-8083-6D1BB965B9B6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4EFEE4-DF1C-4FDF-ABC6-804BF8FA2941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 descr="The University of Iowa">
            <a:extLst>
              <a:ext uri="{FF2B5EF4-FFF2-40B4-BE49-F238E27FC236}">
                <a16:creationId xmlns:a16="http://schemas.microsoft.com/office/drawing/2014/main" id="{6179B039-C5FC-F04C-AB21-BEF980B03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0E4C36A-C453-EE4B-A1E5-D1232C361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FCD2AD-E2B9-303E-DEC2-98D4F67ED3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with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B993FB4-4336-2048-A6A4-FA306EBBE7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85842"/>
            <a:ext cx="10515600" cy="896116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Closing Slide Header</a:t>
            </a:r>
          </a:p>
        </p:txBody>
      </p:sp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675842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B0B10-D369-C564-0FFC-E531159E10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532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1524000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4035E5-E40A-8221-06E5-45B693990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30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47C82-65E8-6F4A-93F5-B60D5D90F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0A12C-E82E-3F40-8F2F-F914F24F0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552D3-D688-9B0E-16FF-A4AB463BDF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06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87" r:id="rId2"/>
    <p:sldLayoutId id="2147483688" r:id="rId3"/>
    <p:sldLayoutId id="2147483684" r:id="rId4"/>
    <p:sldLayoutId id="2147483663" r:id="rId5"/>
    <p:sldLayoutId id="2147483686" r:id="rId6"/>
    <p:sldLayoutId id="2147483690" r:id="rId7"/>
    <p:sldLayoutId id="2147483682" r:id="rId8"/>
    <p:sldLayoutId id="2147483650" r:id="rId9"/>
    <p:sldLayoutId id="2147483662" r:id="rId10"/>
    <p:sldLayoutId id="2147483670" r:id="rId11"/>
    <p:sldLayoutId id="2147483667" r:id="rId12"/>
    <p:sldLayoutId id="2147483668" r:id="rId13"/>
    <p:sldLayoutId id="2147483674" r:id="rId14"/>
    <p:sldLayoutId id="2147483675" r:id="rId15"/>
    <p:sldLayoutId id="2147483677" r:id="rId16"/>
    <p:sldLayoutId id="2147483676" r:id="rId17"/>
    <p:sldLayoutId id="2147483672" r:id="rId18"/>
    <p:sldLayoutId id="2147483692" r:id="rId19"/>
    <p:sldLayoutId id="2147483669" r:id="rId20"/>
    <p:sldLayoutId id="2147483671" r:id="rId21"/>
    <p:sldLayoutId id="2147483673" r:id="rId22"/>
    <p:sldLayoutId id="2147483679" r:id="rId23"/>
    <p:sldLayoutId id="2147483680" r:id="rId24"/>
    <p:sldLayoutId id="2147483681" r:id="rId25"/>
    <p:sldLayoutId id="2147483654" r:id="rId26"/>
    <p:sldLayoutId id="2147483655" r:id="rId27"/>
    <p:sldLayoutId id="2147483665" r:id="rId28"/>
    <p:sldLayoutId id="2147483664" r:id="rId29"/>
    <p:sldLayoutId id="2147483689" r:id="rId30"/>
    <p:sldLayoutId id="2147483693" r:id="rId31"/>
    <p:sldLayoutId id="2147483691" r:id="rId3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Roboto" panose="02000000000000000000" pitchFamily="2" charset="0"/>
        <a:buChar char="–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0B23-7308-1745-A1A9-A5522BA49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25" y="2677626"/>
            <a:ext cx="11097410" cy="1843238"/>
          </a:xfrm>
        </p:spPr>
        <p:txBody>
          <a:bodyPr>
            <a:normAutofit fontScale="90000"/>
          </a:bodyPr>
          <a:lstStyle/>
          <a:p>
            <a:r>
              <a:rPr lang="en-US"/>
              <a:t>Building Safe &amp; Resource Efficient NN through architectural collapse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DA0161C-D166-6E4C-8069-E1FBFE0BE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725" y="4709626"/>
            <a:ext cx="10354360" cy="40746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Roboto"/>
                <a:ea typeface="Roboto"/>
                <a:cs typeface="Arial"/>
              </a:rPr>
              <a:t>J. Gafur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C5EE2B8-026E-D04B-8925-60FA6F76C3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4725" y="5148794"/>
            <a:ext cx="10354360" cy="463108"/>
          </a:xfrm>
        </p:spPr>
        <p:txBody>
          <a:bodyPr/>
          <a:lstStyle/>
          <a:p>
            <a:r>
              <a:rPr lang="en-US"/>
              <a:t>Feb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A10A2-294F-D557-8F51-3DFE149255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944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0368-800E-F06D-2F7B-79FF8FA3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The Big Picture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F1A122-D4F2-3604-E091-67ED9AFA9999}"/>
              </a:ext>
            </a:extLst>
          </p:cNvPr>
          <p:cNvSpPr txBox="1"/>
          <p:nvPr/>
        </p:nvSpPr>
        <p:spPr>
          <a:xfrm>
            <a:off x="9535886" y="6596390"/>
            <a:ext cx="26561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Logarithmic scale used for both axes.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9CC6F-E48E-22A5-3C65-6035DB44CE8E}"/>
              </a:ext>
            </a:extLst>
          </p:cNvPr>
          <p:cNvSpPr txBox="1"/>
          <p:nvPr/>
        </p:nvSpPr>
        <p:spPr>
          <a:xfrm>
            <a:off x="851336" y="1931651"/>
            <a:ext cx="52446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Modern neural networks succeed, and fail, for the same reason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Massively Overparameterized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Redundant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High Resource Utilization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85DC9D-A2F3-8259-F761-076842C16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3190A-DE21-CECE-4BF7-18FE9B57BE77}"/>
              </a:ext>
            </a:extLst>
          </p:cNvPr>
          <p:cNvSpPr txBox="1"/>
          <p:nvPr/>
        </p:nvSpPr>
        <p:spPr>
          <a:xfrm>
            <a:off x="6251153" y="3728537"/>
            <a:ext cx="47188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These are issue for deploying models on resource constrained devices.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58E8ED-175A-0D25-7CAB-B71A041540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16" b="1225"/>
          <a:stretch>
            <a:fillRect/>
          </a:stretch>
        </p:blipFill>
        <p:spPr>
          <a:xfrm>
            <a:off x="5957074" y="706656"/>
            <a:ext cx="5913489" cy="241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DAE46-D993-7CB2-2C1F-F2B99E625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2BB2-4A72-FAF4-198C-26431426BEE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F6E0-8E08-C6F2-AFCD-50045B7B8B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C1049C-A763-360A-B651-3C15D00AEA2A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C82605F-BE5F-FC34-5EA7-142963829DEB}"/>
              </a:ext>
            </a:extLst>
          </p:cNvPr>
          <p:cNvSpPr txBox="1"/>
          <p:nvPr/>
        </p:nvSpPr>
        <p:spPr>
          <a:xfrm>
            <a:off x="2362198" y="2238243"/>
            <a:ext cx="37338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D71ED-59B7-6817-3A8E-4319112721A6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89382-1D71-DE5F-73EA-FAC899E1FDD3}"/>
              </a:ext>
            </a:extLst>
          </p:cNvPr>
          <p:cNvSpPr txBox="1"/>
          <p:nvPr/>
        </p:nvSpPr>
        <p:spPr>
          <a:xfrm>
            <a:off x="7312478" y="1721064"/>
            <a:ext cx="41787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7903A5-F9DC-596B-2F7A-496257C60A88}"/>
              </a:ext>
            </a:extLst>
          </p:cNvPr>
          <p:cNvSpPr/>
          <p:nvPr/>
        </p:nvSpPr>
        <p:spPr>
          <a:xfrm>
            <a:off x="7303859" y="1442989"/>
            <a:ext cx="4571999" cy="156966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1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Graphic spid="6" grpId="0">
        <p:bldAsOne/>
      </p:bldGraphic>
      <p:bldP spid="9" grpId="0"/>
      <p:bldP spid="11" grpId="0"/>
      <p:bldP spid="13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FDE2-3DFD-ECBF-B250-B40D4245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31AAC-E882-043E-0E3D-FB969E8C71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919A8-99EF-AA61-FA3D-982405F3E604}"/>
              </a:ext>
            </a:extLst>
          </p:cNvPr>
          <p:cNvSpPr txBox="1"/>
          <p:nvPr/>
        </p:nvSpPr>
        <p:spPr>
          <a:xfrm>
            <a:off x="808074" y="1822183"/>
            <a:ext cx="10825654" cy="30469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Networks undergo resource optimization during deployment; deployed models are susceptible to attacks.</a:t>
            </a:r>
            <a:endParaRPr lang="en-US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These optimizations focus on reducing the resource utilization of the network.</a:t>
            </a:r>
          </a:p>
          <a:p>
            <a:pPr marL="342900" indent="-342900">
              <a:buFont typeface="Arial"/>
              <a:buChar char="•"/>
            </a:pPr>
            <a:endParaRPr lang="en-US" sz="2400" b="1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Understand how common protection techniques affect transfer attacks based on network size.</a:t>
            </a:r>
          </a:p>
        </p:txBody>
      </p:sp>
    </p:spTree>
    <p:extLst>
      <p:ext uri="{BB962C8B-B14F-4D97-AF65-F5344CB8AC3E}">
        <p14:creationId xmlns:p14="http://schemas.microsoft.com/office/powerpoint/2010/main" val="367292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651DD-18E7-E9E6-1068-1E114D2BF2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A85CD0-2C1D-822E-A4BD-02D0FA4C1559}"/>
              </a:ext>
            </a:extLst>
          </p:cNvPr>
          <p:cNvSpPr txBox="1">
            <a:spLocks/>
          </p:cNvSpPr>
          <p:nvPr/>
        </p:nvSpPr>
        <p:spPr>
          <a:xfrm>
            <a:off x="954198" y="2017042"/>
            <a:ext cx="6222397" cy="38928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differ.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2CC14A-255F-0AFF-EC84-6C3DC3406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19995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EFBA-735B-AA12-6FB6-44F2F2F2D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B554E-5E99-440A-8FA5-7102F470E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198" y="2017042"/>
            <a:ext cx="6222397" cy="389285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</a:t>
            </a:r>
            <a:r>
              <a:rPr lang="en-US">
                <a:latin typeface="Roboto"/>
                <a:ea typeface="Roboto"/>
                <a:cs typeface="Arial"/>
              </a:rPr>
              <a:t>differ.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5FA3C-C55A-24CD-C9CC-FF9B72D54E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300E35-55A3-538D-98FA-C7C070848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3B6F77F-AF05-6B10-6901-8A816E19AC0B}"/>
              </a:ext>
            </a:extLst>
          </p:cNvPr>
          <p:cNvSpPr/>
          <p:nvPr/>
        </p:nvSpPr>
        <p:spPr>
          <a:xfrm>
            <a:off x="9655629" y="3211286"/>
            <a:ext cx="1995799" cy="22424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D4C256-2FFB-D2EB-FE7D-B8D3DC972455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62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C586-B500-BBBE-65E8-FD9D728C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2F11E-AA21-BC15-CE31-B13F85656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49D76CE-3A72-B814-613E-B7A9A0DD01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05349D-1639-F04D-D0A6-8A748A1FE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790" y="3605748"/>
            <a:ext cx="4556210" cy="21942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FE0785-834E-5634-E4B4-2979426331C2}"/>
              </a:ext>
            </a:extLst>
          </p:cNvPr>
          <p:cNvSpPr txBox="1"/>
          <p:nvPr/>
        </p:nvSpPr>
        <p:spPr>
          <a:xfrm>
            <a:off x="433875" y="2030922"/>
            <a:ext cx="6761655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6460B25-E241-9380-D787-A522C265C4C0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045219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F2B3B-E74B-A5B0-B807-5C9E27C2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28EBE-A702-759D-B092-DB5119EF4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D185EDA-07D4-93EA-199C-8C62C468A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B25AC-3A3F-8CEB-ED2E-9BAF6440A3D9}"/>
              </a:ext>
            </a:extLst>
          </p:cNvPr>
          <p:cNvSpPr txBox="1"/>
          <p:nvPr/>
        </p:nvSpPr>
        <p:spPr>
          <a:xfrm>
            <a:off x="433875" y="2030922"/>
            <a:ext cx="676165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input space (black box approach)</a:t>
            </a: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embedding space (white box approach)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95A0B9-0B6C-0D1F-E431-BE420770C409}"/>
              </a:ext>
            </a:extLst>
          </p:cNvPr>
          <p:cNvSpPr/>
          <p:nvPr/>
        </p:nvSpPr>
        <p:spPr>
          <a:xfrm>
            <a:off x="1309036" y="3381651"/>
            <a:ext cx="5025831" cy="1042416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D11182-48C7-CAA2-03D4-2E941AC38767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0385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7AA91-BCC7-91FC-2808-3932CACC9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2427C-CE3C-3AF2-BDBF-601B1A1DC947}"/>
              </a:ext>
            </a:extLst>
          </p:cNvPr>
          <p:cNvSpPr/>
          <p:nvPr/>
        </p:nvSpPr>
        <p:spPr>
          <a:xfrm>
            <a:off x="785091" y="3837869"/>
            <a:ext cx="10529454" cy="277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07BEC-A644-4CC5-6C26-EB9C9871BA2E}"/>
              </a:ext>
            </a:extLst>
          </p:cNvPr>
          <p:cNvSpPr txBox="1"/>
          <p:nvPr/>
        </p:nvSpPr>
        <p:spPr>
          <a:xfrm>
            <a:off x="220558" y="2216329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Train a set of surrogate </a:t>
            </a:r>
            <a:endParaRPr lang="en-US" dirty="0"/>
          </a:p>
          <a:p>
            <a:pPr algn="ctr"/>
            <a:r>
              <a:rPr lang="en-US" dirty="0">
                <a:ea typeface="Roboto"/>
              </a:rPr>
              <a:t>model with varying resource utilization and 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DFBE-53FD-6176-F845-D5F5812F95A5}"/>
              </a:ext>
            </a:extLst>
          </p:cNvPr>
          <p:cNvSpPr txBox="1"/>
          <p:nvPr/>
        </p:nvSpPr>
        <p:spPr>
          <a:xfrm>
            <a:off x="2462764" y="4265844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Analyzed how easy it was to attack these networks</a:t>
            </a:r>
            <a:endParaRPr lang="en-US" dirty="0"/>
          </a:p>
        </p:txBody>
      </p:sp>
      <p:pic>
        <p:nvPicPr>
          <p:cNvPr id="11" name="Graphic 10" descr="Nose SVG Vector Icon">
            <a:extLst>
              <a:ext uri="{FF2B5EF4-FFF2-40B4-BE49-F238E27FC236}">
                <a16:creationId xmlns:a16="http://schemas.microsoft.com/office/drawing/2014/main" id="{F8A4671B-0626-1721-2D0D-DC9203435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2676" y="4798849"/>
            <a:ext cx="868856" cy="7812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211F8B-67ED-8CB3-406D-5FDC73D9AEC6}"/>
              </a:ext>
            </a:extLst>
          </p:cNvPr>
          <p:cNvSpPr txBox="1"/>
          <p:nvPr/>
        </p:nvSpPr>
        <p:spPr>
          <a:xfrm>
            <a:off x="5869866" y="249660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Generated attacks specific to a surrogate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E9191-7E55-91A3-29EF-DD9631E8F73B}"/>
              </a:ext>
            </a:extLst>
          </p:cNvPr>
          <p:cNvSpPr txBox="1"/>
          <p:nvPr/>
        </p:nvSpPr>
        <p:spPr>
          <a:xfrm>
            <a:off x="8611314" y="426584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Tested the transferability of these attacks to all other models in the set</a:t>
            </a:r>
          </a:p>
        </p:txBody>
      </p:sp>
      <p:pic>
        <p:nvPicPr>
          <p:cNvPr id="17" name="Picture 16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70944E65-2E1E-0335-93B2-03B1B250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7667267" y="3051649"/>
            <a:ext cx="745389" cy="632041"/>
          </a:xfrm>
          <a:prstGeom prst="rect">
            <a:avLst/>
          </a:prstGeom>
        </p:spPr>
      </p:pic>
      <p:pic>
        <p:nvPicPr>
          <p:cNvPr id="18" name="Graphic 17" descr="Train Subway SVG Vector Icon">
            <a:extLst>
              <a:ext uri="{FF2B5EF4-FFF2-40B4-BE49-F238E27FC236}">
                <a16:creationId xmlns:a16="http://schemas.microsoft.com/office/drawing/2014/main" id="{89F855FA-885E-9FF1-8A3E-6BE293C0B7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49365" y="3117192"/>
            <a:ext cx="614856" cy="632374"/>
          </a:xfrm>
          <a:prstGeom prst="rect">
            <a:avLst/>
          </a:prstGeom>
        </p:spPr>
      </p:pic>
      <p:pic>
        <p:nvPicPr>
          <p:cNvPr id="19" name="Graphic 18" descr="Transfer Horizontal SVG Vector Icon">
            <a:extLst>
              <a:ext uri="{FF2B5EF4-FFF2-40B4-BE49-F238E27FC236}">
                <a16:creationId xmlns:a16="http://schemas.microsoft.com/office/drawing/2014/main" id="{3A7F7BCB-A253-139A-7931-1EFB9B3462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23297" y="4334642"/>
            <a:ext cx="711201" cy="7812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01DD44-0A60-3E9E-5436-D9D614805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27144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59F83-4094-4F31-E2E9-19AC33C8F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1B5C5-0EC4-B41C-9977-79F374085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2A3BF-6870-9D09-B064-A21ECA4CF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8F777-81BC-746E-5301-2A9AF37736C7}"/>
              </a:ext>
            </a:extLst>
          </p:cNvPr>
          <p:cNvSpPr txBox="1"/>
          <p:nvPr/>
        </p:nvSpPr>
        <p:spPr>
          <a:xfrm>
            <a:off x="6553500" y="2301525"/>
            <a:ext cx="5067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Derivative-Free:</a:t>
            </a:r>
            <a:r>
              <a:rPr lang="en-US" sz="2400"/>
              <a:t> Does not rely on gradients</a:t>
            </a:r>
          </a:p>
          <a:p>
            <a:endParaRPr lang="en-US" sz="2400"/>
          </a:p>
          <a:p>
            <a:r>
              <a:rPr lang="en-US" sz="2400" b="1"/>
              <a:t>Population-Based: </a:t>
            </a:r>
            <a:r>
              <a:rPr lang="en-US" sz="2400"/>
              <a:t>A swarm of particle explore the input space simultaneously</a:t>
            </a:r>
          </a:p>
          <a:p>
            <a:endParaRPr lang="en-US" sz="2400"/>
          </a:p>
          <a:p>
            <a:r>
              <a:rPr lang="en-US" sz="2400" b="1"/>
              <a:t>Social Intelligence: </a:t>
            </a:r>
            <a:r>
              <a:rPr lang="en-US" sz="2400"/>
              <a:t>Particles communicate to find global weakness, not just local artifacts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13F5A3-15F8-37E1-A0D0-302E1BD26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283C22-3E64-10F5-1CB3-B33F8858931A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559F141D-7207-317F-E2C6-ACA521FF6E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06" y="5771054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8F07841-DFE2-B4A4-A776-EC1A08663794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79841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912E-893C-3F40-357C-E515D159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92E68-B6A1-E8EC-3F40-1D9125822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774C-9954-129C-7831-06A2D0B0F6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48E36A-7354-7DA5-BF23-FCE05F51C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86B566-1F4F-344C-DF80-7C8F51405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A72162-C324-F56E-CA34-893CF6DE736F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0DF15-130E-D301-6C54-7879F23095FD}"/>
              </a:ext>
            </a:extLst>
          </p:cNvPr>
          <p:cNvSpPr txBox="1"/>
          <p:nvPr/>
        </p:nvSpPr>
        <p:spPr>
          <a:xfrm>
            <a:off x="6958915" y="3432368"/>
            <a:ext cx="4600275" cy="13849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/>
              <a:t>Infinitely generated adversarial inputs with high misclassification rate</a:t>
            </a:r>
            <a:endParaRPr lang="en-US" sz="2800">
              <a:ea typeface="Roboto"/>
            </a:endParaRP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6F1F3F72-9DA0-1598-7B3C-5D53245C14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820" y="5726465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FF0D834-8A86-E657-A53D-0B1CD8F8F3AD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6521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07F97B-D0B0-513C-9BC6-6A0F498A5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7" t="408" r="-741" b="26815"/>
          <a:stretch>
            <a:fillRect/>
          </a:stretch>
        </p:blipFill>
        <p:spPr>
          <a:xfrm>
            <a:off x="1964370" y="1868380"/>
            <a:ext cx="8263260" cy="31233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0ECB2-F6EF-58E9-1354-5D780E1E08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62A46-591F-80C7-D0AB-12ED6D604FF2}"/>
              </a:ext>
            </a:extLst>
          </p:cNvPr>
          <p:cNvSpPr txBox="1"/>
          <p:nvPr/>
        </p:nvSpPr>
        <p:spPr>
          <a:xfrm>
            <a:off x="1554177" y="5138768"/>
            <a:ext cx="8862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ea typeface="Roboto"/>
              </a:rPr>
              <a:t>Network hardening is the process of training a network with adversarial data to increase its robustness.</a:t>
            </a:r>
            <a:endParaRPr lang="en-US" dirty="0">
              <a:ea typeface="Roboto"/>
            </a:endParaRPr>
          </a:p>
        </p:txBody>
      </p:sp>
      <p:pic>
        <p:nvPicPr>
          <p:cNvPr id="9" name="Graphic 8" descr="Train Subway SVG Vector Icon">
            <a:extLst>
              <a:ext uri="{FF2B5EF4-FFF2-40B4-BE49-F238E27FC236}">
                <a16:creationId xmlns:a16="http://schemas.microsoft.com/office/drawing/2014/main" id="{EACC75FE-BB3F-9A1A-F5A1-79BADA6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365" y="5726465"/>
            <a:ext cx="614856" cy="6323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8CC27-E2FA-2476-C3C5-E021F8D4D690}"/>
              </a:ext>
            </a:extLst>
          </p:cNvPr>
          <p:cNvSpPr/>
          <p:nvPr/>
        </p:nvSpPr>
        <p:spPr>
          <a:xfrm>
            <a:off x="6237514" y="1721374"/>
            <a:ext cx="4288972" cy="341525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38F23A5-C335-7B4A-E8A4-47D60CC70459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08969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3F9A0-B98C-FE6E-6F62-6E5419512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4F24B-6901-BEB8-BABD-50AD8012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Roboto"/>
                <a:ea typeface="Roboto"/>
                <a:cs typeface="Arial"/>
              </a:rPr>
              <a:t>Individual model adversarial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66AFD-1391-ECC7-6018-CFB88A912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B38DEA-772A-D2AE-B125-F54497BD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1" y="2895156"/>
            <a:ext cx="11002911" cy="29722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7CBA1-E7AD-C0EA-7803-27B7BFC15986}"/>
              </a:ext>
            </a:extLst>
          </p:cNvPr>
          <p:cNvSpPr txBox="1"/>
          <p:nvPr/>
        </p:nvSpPr>
        <p:spPr>
          <a:xfrm>
            <a:off x="952341" y="1926445"/>
            <a:ext cx="10299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Roboto"/>
              </a:rPr>
              <a:t>Given a single pass of APSO on a trained network, how many images are successfully poisoned to a target label?</a:t>
            </a:r>
          </a:p>
        </p:txBody>
      </p:sp>
      <p:pic>
        <p:nvPicPr>
          <p:cNvPr id="6" name="Graphic 5" descr="Nose SVG Vector Icon">
            <a:extLst>
              <a:ext uri="{FF2B5EF4-FFF2-40B4-BE49-F238E27FC236}">
                <a16:creationId xmlns:a16="http://schemas.microsoft.com/office/drawing/2014/main" id="{24B55B4C-6243-6702-6EC4-6CCC974C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52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A714C-131B-C8A3-A81F-5AFC9661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8C440-AE8C-63EF-AF25-B6144280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AACB78-0A39-802F-A2D4-C34C29D87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429225"/>
            <a:ext cx="8997739" cy="4610228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E43CE769-A88E-4CAB-B522-EEE3D9B73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5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ACD94-992D-CDF5-E4A5-21C4E6B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E63-9E88-A242-C7D0-A4B4B172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C6BBB-17CA-D740-E3AF-73B32BE09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41E88-5790-D489-5E44-06DD47385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51" y="2124299"/>
            <a:ext cx="8740497" cy="1564203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6E5715-AB27-5B38-0228-13CBFAE50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91" y="4243921"/>
            <a:ext cx="55286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Simple models are easy to attack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45B3E-891B-625E-8203-FBE2DEFADB29}"/>
              </a:ext>
            </a:extLst>
          </p:cNvPr>
          <p:cNvSpPr txBox="1"/>
          <p:nvPr/>
        </p:nvSpPr>
        <p:spPr>
          <a:xfrm>
            <a:off x="6294323" y="4243921"/>
            <a:ext cx="5610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Hardening can increase brittleness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49CD7-8637-3C36-0927-8D35A4A5E5C0}"/>
              </a:ext>
            </a:extLst>
          </p:cNvPr>
          <p:cNvSpPr txBox="1"/>
          <p:nvPr/>
        </p:nvSpPr>
        <p:spPr>
          <a:xfrm>
            <a:off x="4178144" y="5038143"/>
            <a:ext cx="3714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≠ resilience</a:t>
            </a:r>
          </a:p>
        </p:txBody>
      </p:sp>
      <p:pic>
        <p:nvPicPr>
          <p:cNvPr id="3" name="Picture 2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8DC7F017-E9A2-2BCF-E537-C7C3162CEE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28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97FB-5EF5-B171-A4CF-F9AD41A2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F65F6-D738-2A0A-3851-229D99E1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46554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E0F1D-7F82-71B5-3679-CF84B71E18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CF6B5-D03D-4F0D-E407-69EA2FEDF80A}"/>
              </a:ext>
            </a:extLst>
          </p:cNvPr>
          <p:cNvSpPr txBox="1"/>
          <p:nvPr/>
        </p:nvSpPr>
        <p:spPr>
          <a:xfrm>
            <a:off x="3331578" y="4827491"/>
            <a:ext cx="6650621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2400" dirty="0"/>
              <a:t>Resilience does not necessarily correlate with amount of perturbation required</a:t>
            </a:r>
            <a:endParaRPr lang="en-US" sz="2400" dirty="0">
              <a:ea typeface="Roboto"/>
            </a:endParaRPr>
          </a:p>
        </p:txBody>
      </p:sp>
      <p:pic>
        <p:nvPicPr>
          <p:cNvPr id="10" name="Picture 9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9EC6775-2865-1747-3737-5B0DAA020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0" y="2534910"/>
            <a:ext cx="9636347" cy="17881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68C303-8A0C-D71F-4A19-9D71DD4F1E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3" r="77089"/>
          <a:stretch>
            <a:fillRect/>
          </a:stretch>
        </p:blipFill>
        <p:spPr>
          <a:xfrm>
            <a:off x="0" y="1643756"/>
            <a:ext cx="2040110" cy="4014732"/>
          </a:xfrm>
          <a:prstGeom prst="rect">
            <a:avLst/>
          </a:prstGeom>
        </p:spPr>
      </p:pic>
      <p:pic>
        <p:nvPicPr>
          <p:cNvPr id="3" name="Picture 2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83569CF6-CD5F-779A-1273-00EF4235BB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219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2BEB1-4BEB-E465-E4C5-66527B0A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9D154-FD39-F763-0F65-A0216904D3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D30F30-C0C1-0AC3-6F19-61DC2A121D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9" t="8834" r="30128" b="9520"/>
          <a:stretch>
            <a:fillRect/>
          </a:stretch>
        </p:blipFill>
        <p:spPr>
          <a:xfrm>
            <a:off x="489177" y="1286079"/>
            <a:ext cx="6445023" cy="4613375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20669EE8-553E-B7C0-58FE-624CA7E0E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9115" y="2659601"/>
            <a:ext cx="374468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Small perturbation ≠ weakest resistance</a:t>
            </a:r>
            <a:endParaRPr lang="en-US" sz="2400" dirty="0">
              <a:latin typeface="+mj-lt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+mj-lt"/>
              <a:cs typeface="Arial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Reliance, performance, and perturbation are not correlated</a:t>
            </a:r>
            <a:endParaRPr lang="en-US" altLang="en-US" sz="2400" b="0" i="0" u="none" strike="noStrike" cap="none" normalizeH="0" baseline="0" dirty="0">
              <a:ln>
                <a:noFill/>
              </a:ln>
              <a:effectLst/>
              <a:latin typeface="+mj-lt"/>
              <a:cs typeface="Arial"/>
            </a:endParaRPr>
          </a:p>
        </p:txBody>
      </p:sp>
      <p:pic>
        <p:nvPicPr>
          <p:cNvPr id="12" name="Picture 11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6EDF7CD9-CDA5-DAC8-784A-DD6F351528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463D67-EF17-07CC-6035-D26D3CC0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92" t="90132" r="30128" b="1077"/>
          <a:stretch>
            <a:fillRect/>
          </a:stretch>
        </p:blipFill>
        <p:spPr>
          <a:xfrm>
            <a:off x="3183451" y="5876716"/>
            <a:ext cx="1675869" cy="49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97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E50A9D-295A-DB4C-8F9E-51EB1945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E572-0B13-4AC6-BECA-38CF47309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 fontScale="90000"/>
          </a:bodyPr>
          <a:lstStyle/>
          <a:p>
            <a:r>
              <a:rPr lang="en-US"/>
              <a:t>How much perturbation is required to poison a true label?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BF79-624A-774C-FBCC-2DFAA998C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A47896-1713-6C8C-90B0-A0B60C71BEAB}"/>
              </a:ext>
            </a:extLst>
          </p:cNvPr>
          <p:cNvSpPr txBox="1"/>
          <p:nvPr/>
        </p:nvSpPr>
        <p:spPr>
          <a:xfrm>
            <a:off x="4935652" y="2275370"/>
            <a:ext cx="6042815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b="1" dirty="0">
                <a:ea typeface="+mn-lt"/>
                <a:cs typeface="+mn-lt"/>
              </a:rPr>
              <a:t>Label 8</a:t>
            </a:r>
            <a:r>
              <a:rPr lang="en-US" sz="2400" dirty="0">
                <a:ea typeface="+mn-lt"/>
                <a:cs typeface="+mn-lt"/>
              </a:rPr>
              <a:t> demonstrates strong resilience at moderate perturbation levels.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algn="ctr"/>
            <a:r>
              <a:rPr lang="en-US" sz="2400" b="1" dirty="0">
                <a:ea typeface="Roboto"/>
              </a:rPr>
              <a:t>"The route to poisoning is not always linear, sometimes it is distant and straightforward, other times nearby but requiring a more intricate path."</a:t>
            </a:r>
            <a:endParaRPr lang="en-US" b="1" dirty="0">
              <a:ea typeface="Roboto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B3EF75-5C6D-B70F-E359-67E640D82C53}"/>
              </a:ext>
            </a:extLst>
          </p:cNvPr>
          <p:cNvGrpSpPr/>
          <p:nvPr/>
        </p:nvGrpSpPr>
        <p:grpSpPr>
          <a:xfrm>
            <a:off x="1027847" y="1469649"/>
            <a:ext cx="2899400" cy="4490132"/>
            <a:chOff x="690053" y="1375381"/>
            <a:chExt cx="2899400" cy="44901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D26A88B-6F18-FEC4-015C-59D786E1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360" t="9596" b="8249"/>
            <a:stretch>
              <a:fillRect/>
            </a:stretch>
          </p:blipFill>
          <p:spPr>
            <a:xfrm>
              <a:off x="942066" y="1529604"/>
              <a:ext cx="2647387" cy="3830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A07B69E-B75B-E4C2-61E2-1A498CD2E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3697" t="90404" r="29754" b="-168"/>
            <a:stretch>
              <a:fillRect/>
            </a:stretch>
          </p:blipFill>
          <p:spPr>
            <a:xfrm>
              <a:off x="1531240" y="5410305"/>
              <a:ext cx="1478184" cy="45520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75035E0-87F3-8366-C1F4-5132413BA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554" t="7515" r="86631" b="10360"/>
            <a:stretch>
              <a:fillRect/>
            </a:stretch>
          </p:blipFill>
          <p:spPr>
            <a:xfrm>
              <a:off x="690053" y="1375381"/>
              <a:ext cx="251405" cy="3828584"/>
            </a:xfrm>
            <a:prstGeom prst="rect">
              <a:avLst/>
            </a:prstGeom>
          </p:spPr>
        </p:pic>
      </p:grpSp>
      <p:pic>
        <p:nvPicPr>
          <p:cNvPr id="11" name="Picture 10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C1906347-66DC-C80E-C0EE-F2127CA78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1864C-7DE6-47A8-2C79-1AB28103D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pic>
        <p:nvPicPr>
          <p:cNvPr id="7" name="Graphic 6" descr="Transfer Horizontal SVG Vector Icon">
            <a:extLst>
              <a:ext uri="{FF2B5EF4-FFF2-40B4-BE49-F238E27FC236}">
                <a16:creationId xmlns:a16="http://schemas.microsoft.com/office/drawing/2014/main" id="{347FFCDB-567D-5AC9-F8EC-71EAD2829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37CA5-EBCD-1E3C-EDC4-87DD27C75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28"/>
          <a:stretch>
            <a:fillRect/>
          </a:stretch>
        </p:blipFill>
        <p:spPr>
          <a:xfrm>
            <a:off x="1265449" y="136525"/>
            <a:ext cx="9859751" cy="58025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00BD574-3E68-5B09-E6EF-836F3DA0EDC0}"/>
              </a:ext>
            </a:extLst>
          </p:cNvPr>
          <p:cNvSpPr/>
          <p:nvPr/>
        </p:nvSpPr>
        <p:spPr>
          <a:xfrm>
            <a:off x="1232794" y="1539874"/>
            <a:ext cx="10121006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2B3D7F-289B-71EB-DBB2-0E0DD39AF7B6}"/>
              </a:ext>
            </a:extLst>
          </p:cNvPr>
          <p:cNvSpPr/>
          <p:nvPr/>
        </p:nvSpPr>
        <p:spPr>
          <a:xfrm>
            <a:off x="1036849" y="2633864"/>
            <a:ext cx="10055693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FE1B1A-0C50-F4D8-E018-62B5E05D8C67}"/>
              </a:ext>
            </a:extLst>
          </p:cNvPr>
          <p:cNvSpPr/>
          <p:nvPr/>
        </p:nvSpPr>
        <p:spPr>
          <a:xfrm>
            <a:off x="866274" y="3748288"/>
            <a:ext cx="10226267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D29E88-6E2E-9124-2621-E037493F4C91}"/>
              </a:ext>
            </a:extLst>
          </p:cNvPr>
          <p:cNvSpPr/>
          <p:nvPr/>
        </p:nvSpPr>
        <p:spPr>
          <a:xfrm>
            <a:off x="860099" y="4824612"/>
            <a:ext cx="10232441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348185-6D75-9BBA-B6CD-601F533A7454}"/>
              </a:ext>
            </a:extLst>
          </p:cNvPr>
          <p:cNvSpPr/>
          <p:nvPr/>
        </p:nvSpPr>
        <p:spPr>
          <a:xfrm>
            <a:off x="750771" y="1049154"/>
            <a:ext cx="587141" cy="5871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623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A763D-1B45-F405-5D95-2F76E018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D4DFA-93DF-95DA-83A3-5A003949B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dirty="0"/>
              <a:t>How well does targeted poison transfer?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1AD953-BBCA-85B5-F1D8-12BB0C84E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32"/>
          <a:stretch>
            <a:fillRect/>
          </a:stretch>
        </p:blipFill>
        <p:spPr>
          <a:xfrm>
            <a:off x="1624925" y="1541044"/>
            <a:ext cx="8586509" cy="4593570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7C7F3-6075-77B1-8DCE-3607BA5309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5" name="Graphic 4" descr="Transfer Horizontal SVG Vector Icon">
            <a:extLst>
              <a:ext uri="{FF2B5EF4-FFF2-40B4-BE49-F238E27FC236}">
                <a16:creationId xmlns:a16="http://schemas.microsoft.com/office/drawing/2014/main" id="{FA8DC2E4-CA60-C4E3-C75F-086A58C61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14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F87C-569B-ED22-0154-3D51632B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Real world applications of untargeted attack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026BD0-72F7-8DC7-6A67-D1CBCA87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99" y="1686757"/>
            <a:ext cx="9729925" cy="4256843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1301-C874-EF7C-D61B-AF5DDF72ED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45FCF-E1D6-8D9C-67C7-C51F6820A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85" y="1626050"/>
            <a:ext cx="7298113" cy="45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0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FD92-2199-EB9E-18FB-8BCC3301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about untargeted attacks?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3E34C-1374-ACD8-00E7-029752D7E47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/>
              <a:t>APSO is a stochastic process runs until image has been poisoned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C077-90D3-FB80-0E42-82D611E03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D3A0-2812-ED5D-C5E9-9FEABB9FA6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11"/>
          <a:stretch>
            <a:fillRect/>
          </a:stretch>
        </p:blipFill>
        <p:spPr>
          <a:xfrm>
            <a:off x="2509607" y="2582667"/>
            <a:ext cx="6963577" cy="336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9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7E41-64AD-80A3-8C88-B6D05620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57A05-B698-0B69-E854-086AF981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D6DA-D6BC-1E91-EC92-CE08B6AEE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5F9ED-CE44-3000-D8F0-97870F403B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A10F365-9E31-CF7E-73A2-44552A8F3C6B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FE5C081-C3D7-E7C2-F10D-F60F842E5D6B}"/>
              </a:ext>
            </a:extLst>
          </p:cNvPr>
          <p:cNvSpPr txBox="1"/>
          <p:nvPr/>
        </p:nvSpPr>
        <p:spPr>
          <a:xfrm>
            <a:off x="2994928" y="1890949"/>
            <a:ext cx="2803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DD397-FFE0-90FF-772E-7BECD618B76B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E5F6B-0CAE-8A13-473D-9F115501BF98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152484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ABFB-204E-6CA7-E910-A6CC1DC3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27" y="307321"/>
            <a:ext cx="10843261" cy="869089"/>
          </a:xfrm>
        </p:spPr>
        <p:txBody>
          <a:bodyPr>
            <a:normAutofit/>
          </a:bodyPr>
          <a:lstStyle/>
          <a:p>
            <a:r>
              <a:rPr lang="en-US"/>
              <a:t>Network Efficiency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7D924C-2E7A-32E2-2C7F-A8AD28E2FB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B2A1BD-0815-8C85-4164-CF7E3E4DB12B}"/>
              </a:ext>
            </a:extLst>
          </p:cNvPr>
          <p:cNvGrpSpPr/>
          <p:nvPr/>
        </p:nvGrpSpPr>
        <p:grpSpPr>
          <a:xfrm>
            <a:off x="427161" y="2476738"/>
            <a:ext cx="3383280" cy="2492990"/>
            <a:chOff x="566928" y="1600200"/>
            <a:chExt cx="3383280" cy="24929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1A23-09F9-9BD5-4701-A57A85829B57}"/>
                </a:ext>
              </a:extLst>
            </p:cNvPr>
            <p:cNvSpPr txBox="1"/>
            <p:nvPr/>
          </p:nvSpPr>
          <p:spPr>
            <a:xfrm>
              <a:off x="566928" y="1600200"/>
              <a:ext cx="3383280" cy="24929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/>
                <a:t>Investigation</a:t>
              </a:r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r>
                <a:rPr lang="en-US" sz="1600" dirty="0"/>
                <a:t>Resource Optimization</a:t>
              </a:r>
              <a:endParaRPr lang="en-US" dirty="0" err="1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34505C2-C28D-A7F1-08C3-44F34FAB7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687068" y="2342912"/>
              <a:ext cx="1143000" cy="1143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3356B56-9620-7107-3620-A666A553B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9300" y="2635669"/>
              <a:ext cx="810768" cy="81076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3587F45-9DFE-4457-A1A9-0A58793C4F89}"/>
              </a:ext>
            </a:extLst>
          </p:cNvPr>
          <p:cNvSpPr txBox="1"/>
          <p:nvPr/>
        </p:nvSpPr>
        <p:spPr>
          <a:xfrm>
            <a:off x="3512861" y="1441407"/>
            <a:ext cx="8462322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 algn="ctr"/>
            <a:r>
              <a:rPr lang="en-US" sz="2800" b="1"/>
              <a:t>What happens to the network after pruning?</a:t>
            </a:r>
            <a:endParaRPr lang="en-US" sz="2800" b="1">
              <a:ea typeface="Roboto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25D7B1-45B6-8323-231B-7CBC98C4330E}"/>
              </a:ext>
            </a:extLst>
          </p:cNvPr>
          <p:cNvGrpSpPr/>
          <p:nvPr/>
        </p:nvGrpSpPr>
        <p:grpSpPr>
          <a:xfrm>
            <a:off x="3966061" y="2238493"/>
            <a:ext cx="8225939" cy="4090737"/>
            <a:chOff x="3966061" y="1171522"/>
            <a:chExt cx="8225939" cy="40907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94CAFF-03D8-A51F-D697-CBDA45453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6061" y="1171522"/>
              <a:ext cx="8225939" cy="4090737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CE1628-80F8-A093-95EB-C9C277DE718D}"/>
                </a:ext>
              </a:extLst>
            </p:cNvPr>
            <p:cNvGrpSpPr/>
            <p:nvPr/>
          </p:nvGrpSpPr>
          <p:grpSpPr>
            <a:xfrm>
              <a:off x="6758865" y="2476738"/>
              <a:ext cx="2640330" cy="742712"/>
              <a:chOff x="6758865" y="2476738"/>
              <a:chExt cx="2640330" cy="742712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C77B302-6A95-CF04-466A-438B1D0ED714}"/>
                  </a:ext>
                </a:extLst>
              </p:cNvPr>
              <p:cNvSpPr/>
              <p:nvPr/>
            </p:nvSpPr>
            <p:spPr>
              <a:xfrm>
                <a:off x="6758865" y="2720340"/>
                <a:ext cx="264033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D870AC9-BFDF-8F30-3693-9704DB900841}"/>
                  </a:ext>
                </a:extLst>
              </p:cNvPr>
              <p:cNvSpPr/>
              <p:nvPr/>
            </p:nvSpPr>
            <p:spPr>
              <a:xfrm>
                <a:off x="7744022" y="2476738"/>
                <a:ext cx="103251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43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39FD-1F91-F4B7-EFB4-78E60A572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Unstructured pruning with IMP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70CE5-47C5-3D54-E713-D78E1C26F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811960" y="2196895"/>
            <a:ext cx="5139690" cy="3073692"/>
          </a:xfrm>
        </p:spPr>
        <p:txBody>
          <a:bodyPr>
            <a:normAutofit/>
          </a:bodyPr>
          <a:lstStyle/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Train the network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Saves the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Continues training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Removes unneeded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Reset remaining weights to (2)</a:t>
            </a:r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08A997-140F-0074-5EDA-5E21C3A3BA14}"/>
              </a:ext>
            </a:extLst>
          </p:cNvPr>
          <p:cNvGrpSpPr/>
          <p:nvPr/>
        </p:nvGrpSpPr>
        <p:grpSpPr>
          <a:xfrm>
            <a:off x="240350" y="1395866"/>
            <a:ext cx="6382427" cy="4675750"/>
            <a:chOff x="2611225" y="1696825"/>
            <a:chExt cx="6127422" cy="4364610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3F16B819-71CD-3516-4AD4-5158B4C64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722" t="3436" r="54749" b="42385"/>
            <a:stretch>
              <a:fillRect/>
            </a:stretch>
          </p:blipFill>
          <p:spPr>
            <a:xfrm>
              <a:off x="2611225" y="1696825"/>
              <a:ext cx="6127422" cy="436461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D788D2-80CC-D4D0-9DB9-7A3966BD3812}"/>
                </a:ext>
              </a:extLst>
            </p:cNvPr>
            <p:cNvSpPr/>
            <p:nvPr/>
          </p:nvSpPr>
          <p:spPr>
            <a:xfrm>
              <a:off x="2611225" y="1696825"/>
              <a:ext cx="305711" cy="223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227F9-853E-CE4E-5A65-9E4DA5CD6D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3DB967-23FE-A722-2500-699191F3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2671-37ED-876B-FA19-5E47FC5F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1072627" cy="165065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How do we make these models' resource efficient?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Neural Network Pruning &amp; Sparse Matrix representation</a:t>
            </a:r>
          </a:p>
          <a:p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Initial lit review showed a speed up after 60% sparsity, we did not see it.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Need for specialized kernel calls on specialized hardware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78F45-CE7B-32F0-C6B0-119463AF1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2E080-BBB2-3656-252F-CEB1BC97A839}"/>
              </a:ext>
            </a:extLst>
          </p:cNvPr>
          <p:cNvSpPr txBox="1">
            <a:spLocks/>
          </p:cNvSpPr>
          <p:nvPr/>
        </p:nvSpPr>
        <p:spPr>
          <a:xfrm>
            <a:off x="952500" y="385436"/>
            <a:ext cx="10287000" cy="13318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Related Works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792F0-933D-A675-67D0-7B336C92FF7C}"/>
              </a:ext>
            </a:extLst>
          </p:cNvPr>
          <p:cNvGrpSpPr/>
          <p:nvPr/>
        </p:nvGrpSpPr>
        <p:grpSpPr>
          <a:xfrm>
            <a:off x="1835160" y="4535774"/>
            <a:ext cx="7924800" cy="1562237"/>
            <a:chOff x="757646" y="3930614"/>
            <a:chExt cx="7924800" cy="156223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FDE9FC-57D7-7587-FD00-FFBFA985D6A0}"/>
                </a:ext>
              </a:extLst>
            </p:cNvPr>
            <p:cNvSpPr/>
            <p:nvPr/>
          </p:nvSpPr>
          <p:spPr>
            <a:xfrm>
              <a:off x="757646" y="3930614"/>
              <a:ext cx="7924800" cy="1562237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249491-5A6A-6165-254D-81B2FFFB4830}"/>
                </a:ext>
              </a:extLst>
            </p:cNvPr>
            <p:cNvSpPr txBox="1"/>
            <p:nvPr/>
          </p:nvSpPr>
          <p:spPr>
            <a:xfrm>
              <a:off x="1049202" y="4052287"/>
              <a:ext cx="7628758" cy="138499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Where is the sparsity occurring?</a:t>
              </a:r>
              <a:r>
                <a:rPr lang="en-US" sz="2800" dirty="0">
                  <a:latin typeface="Roboto"/>
                  <a:ea typeface="Arial"/>
                  <a:cs typeface="Arial"/>
                </a:rPr>
                <a:t>​</a:t>
              </a:r>
              <a:endParaRPr lang="en-US" sz="2800" dirty="0">
                <a:ea typeface="Roboto"/>
              </a:endParaRPr>
            </a:p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What was happening inside these pruned models. </a:t>
              </a:r>
              <a:r>
                <a:rPr lang="en-US" sz="2800" dirty="0">
                  <a:latin typeface="Roboto"/>
                  <a:ea typeface="Segoe UI"/>
                  <a:cs typeface="Arial"/>
                </a:rPr>
                <a:t>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117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67C715-D99A-39D2-0685-A209037C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83C27-CB03-28A6-EAF7-A38E5EBAB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Related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71ECD-CD93-C24D-72EB-7DB583F92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sz="2400">
                <a:latin typeface="Roboto"/>
                <a:ea typeface="Roboto"/>
                <a:cs typeface="Arial"/>
              </a:rPr>
              <a:t>Large networks are expensive in compute, memory, and energy.</a:t>
            </a:r>
          </a:p>
          <a:p>
            <a:r>
              <a:rPr lang="en-US" sz="2400">
                <a:latin typeface="Roboto"/>
                <a:ea typeface="Roboto"/>
                <a:cs typeface="Arial"/>
              </a:rPr>
              <a:t>Pruning creates a highly sparse representation of a model that theoretically can be more resource efficient.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These sparse models are not smaller.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 weights are just set to zero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5D5EC-0C01-40FE-D875-04FD42C61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AA2D-5B42-5710-0A15-ED7BDC6C3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F37D09-F49C-33B8-633B-4A5EABD8E876}"/>
              </a:ext>
            </a:extLst>
          </p:cNvPr>
          <p:cNvSpPr txBox="1">
            <a:spLocks/>
          </p:cNvSpPr>
          <p:nvPr/>
        </p:nvSpPr>
        <p:spPr>
          <a:xfrm>
            <a:off x="1826732" y="3051966"/>
            <a:ext cx="8532627" cy="7588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US" sz="3200" b="1">
                <a:latin typeface="Roboto"/>
                <a:ea typeface="Roboto"/>
                <a:cs typeface="Arial"/>
              </a:rPr>
              <a:t>What happens to the network after pruning?</a:t>
            </a:r>
          </a:p>
        </p:txBody>
      </p:sp>
    </p:spTree>
    <p:extLst>
      <p:ext uri="{BB962C8B-B14F-4D97-AF65-F5344CB8AC3E}">
        <p14:creationId xmlns:p14="http://schemas.microsoft.com/office/powerpoint/2010/main" val="254961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9B89-A89B-A0CD-7734-F2E6C8631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Models/Datasets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940147-3A6C-897A-E7EE-5F396A320A51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6668" y="1700692"/>
            <a:ext cx="9118662" cy="449419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A33FA-425F-A91B-FC1C-2D934AC2D2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5558D-E8DA-C291-3AA5-7A41EC0148D1}"/>
              </a:ext>
            </a:extLst>
          </p:cNvPr>
          <p:cNvSpPr/>
          <p:nvPr/>
        </p:nvSpPr>
        <p:spPr>
          <a:xfrm>
            <a:off x="5681610" y="1602769"/>
            <a:ext cx="4037743" cy="1448656"/>
          </a:xfrm>
          <a:prstGeom prst="rect">
            <a:avLst/>
          </a:prstGeom>
          <a:noFill/>
          <a:ln w="19050">
            <a:solidFill>
              <a:srgbClr val="FFCD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CB4DF110-D1DE-53E7-6B6F-AF44CD242A12}"/>
              </a:ext>
            </a:extLst>
          </p:cNvPr>
          <p:cNvSpPr/>
          <p:nvPr/>
        </p:nvSpPr>
        <p:spPr>
          <a:xfrm>
            <a:off x="6405612" y="1312064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5712FF5E-0E77-7F53-1890-5F1B6E7CDBCA}"/>
              </a:ext>
            </a:extLst>
          </p:cNvPr>
          <p:cNvSpPr/>
          <p:nvPr/>
        </p:nvSpPr>
        <p:spPr>
          <a:xfrm>
            <a:off x="7274562" y="1312063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543A9F5D-17BF-8170-4071-5F5DFF984D7E}"/>
              </a:ext>
            </a:extLst>
          </p:cNvPr>
          <p:cNvSpPr/>
          <p:nvPr/>
        </p:nvSpPr>
        <p:spPr>
          <a:xfrm>
            <a:off x="8126400" y="1312062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476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CE324-3D19-4C63-125B-B4A9FB69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22065-97ED-BACC-37CE-FDA617A2B2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/>
              <a:t>Later stages are pruned more than early stages.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pattern emerges early in the unstructured pruning process.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C6F0CB-B35C-E638-42C2-349167108A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11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7E71-4C94-F22E-F3EA-6B299B9C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47302-CD83-C40B-ED63-662298913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0B4B6E0-CD59-256F-AEA3-34956EC37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0443" b="52294"/>
          <a:stretch>
            <a:fillRect/>
          </a:stretch>
        </p:blipFill>
        <p:spPr>
          <a:xfrm>
            <a:off x="3690107" y="1395866"/>
            <a:ext cx="8203849" cy="4310977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DF503C9-A82D-531A-238B-976839B2B3A2}"/>
              </a:ext>
            </a:extLst>
          </p:cNvPr>
          <p:cNvSpPr/>
          <p:nvPr/>
        </p:nvSpPr>
        <p:spPr>
          <a:xfrm>
            <a:off x="6419462" y="5788561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6C6369-8949-94BF-644E-F65ED558AB0F}"/>
              </a:ext>
            </a:extLst>
          </p:cNvPr>
          <p:cNvSpPr txBox="1"/>
          <p:nvPr/>
        </p:nvSpPr>
        <p:spPr>
          <a:xfrm>
            <a:off x="9396434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More Network Sparse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C90B0-4EF3-5884-152D-2F98483BCC95}"/>
              </a:ext>
            </a:extLst>
          </p:cNvPr>
          <p:cNvSpPr txBox="1"/>
          <p:nvPr/>
        </p:nvSpPr>
        <p:spPr>
          <a:xfrm>
            <a:off x="4230600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Less Network Sparse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73B5BC-2C99-0CA7-8B32-1DD81C87E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9C60DE-F3EA-93E7-E7FA-6DBAF72580B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2443845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Later stages are pruned more than early stages.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pattern emerges early in the unstructured pruning process. </a:t>
            </a:r>
          </a:p>
        </p:txBody>
      </p:sp>
    </p:spTree>
    <p:extLst>
      <p:ext uri="{BB962C8B-B14F-4D97-AF65-F5344CB8AC3E}">
        <p14:creationId xmlns:p14="http://schemas.microsoft.com/office/powerpoint/2010/main" val="266656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6FB29-5127-1313-B339-BCCCE088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D421-77DD-3A14-0AE5-693EDB55652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Even at high sparsity's there are </a:t>
            </a:r>
            <a:r>
              <a:rPr lang="en-US" b="1" u="sng" dirty="0">
                <a:latin typeface="Roboto"/>
                <a:ea typeface="Roboto"/>
                <a:cs typeface="Arial"/>
              </a:rPr>
              <a:t>NO</a:t>
            </a:r>
            <a:r>
              <a:rPr lang="en-US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endParaRPr lang="en-US" dirty="0"/>
          </a:p>
          <a:p>
            <a:r>
              <a:rPr lang="en-US" dirty="0">
                <a:latin typeface="Roboto"/>
                <a:ea typeface="Roboto"/>
                <a:cs typeface="Arial"/>
              </a:rPr>
              <a:t>The remaining weights in a neuron undergo larger gradient updates, decreasing the probability of their future removal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A02358-CB94-3C8D-5DA2-7BB9161784E4}"/>
              </a:ext>
            </a:extLst>
          </p:cNvPr>
          <p:cNvSpPr/>
          <p:nvPr/>
        </p:nvSpPr>
        <p:spPr>
          <a:xfrm>
            <a:off x="1650124" y="5381297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2DDB466-0349-510E-845F-57F9DBA1C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627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5B64-37C0-0CBC-D2F4-662BAF920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F7A6E-DC41-5CB5-DFD7-E6AD9137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439084-7926-77F1-EB39-A4C2A5D0A88F}"/>
              </a:ext>
            </a:extLst>
          </p:cNvPr>
          <p:cNvGrpSpPr/>
          <p:nvPr/>
        </p:nvGrpSpPr>
        <p:grpSpPr>
          <a:xfrm>
            <a:off x="3885351" y="1381861"/>
            <a:ext cx="7927901" cy="4480989"/>
            <a:chOff x="1279161" y="1279388"/>
            <a:chExt cx="8211360" cy="48957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80ABDCF-AFFD-A14D-7946-304640345E65}"/>
                </a:ext>
              </a:extLst>
            </p:cNvPr>
            <p:cNvGrpSpPr/>
            <p:nvPr/>
          </p:nvGrpSpPr>
          <p:grpSpPr>
            <a:xfrm>
              <a:off x="1279161" y="1648720"/>
              <a:ext cx="8211360" cy="4526379"/>
              <a:chOff x="1782081" y="4385259"/>
              <a:chExt cx="8211360" cy="4526379"/>
            </a:xfrm>
          </p:grpSpPr>
          <p:pic>
            <p:nvPicPr>
              <p:cNvPr id="5" name="Graphic 4">
                <a:extLst>
                  <a:ext uri="{FF2B5EF4-FFF2-40B4-BE49-F238E27FC236}">
                    <a16:creationId xmlns:a16="http://schemas.microsoft.com/office/drawing/2014/main" id="{1C26CACF-9EF5-BFCE-63E7-F6F741FA08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2797" t="65370"/>
              <a:stretch>
                <a:fillRect/>
              </a:stretch>
            </p:blipFill>
            <p:spPr>
              <a:xfrm>
                <a:off x="1782081" y="4385259"/>
                <a:ext cx="8211360" cy="4526379"/>
              </a:xfrm>
              <a:prstGeom prst="rect">
                <a:avLst/>
              </a:prstGeom>
            </p:spPr>
          </p:pic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077E14E-AB17-B144-974C-3CB57A9CC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2160" y="4385260"/>
                <a:ext cx="7951281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01CDCA-BED7-85A0-63F1-C4E2320FAF91}"/>
                </a:ext>
              </a:extLst>
            </p:cNvPr>
            <p:cNvSpPr txBox="1"/>
            <p:nvPr/>
          </p:nvSpPr>
          <p:spPr>
            <a:xfrm>
              <a:off x="4516048" y="1279388"/>
              <a:ext cx="1997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ResNet20 Cifar10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5988771-5B95-CCC4-F911-BCC54E0EB316}"/>
              </a:ext>
            </a:extLst>
          </p:cNvPr>
          <p:cNvSpPr/>
          <p:nvPr/>
        </p:nvSpPr>
        <p:spPr>
          <a:xfrm>
            <a:off x="3772838" y="5367292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B6007B-D268-AE0A-5908-F46519F47382}"/>
              </a:ext>
            </a:extLst>
          </p:cNvPr>
          <p:cNvGrpSpPr/>
          <p:nvPr/>
        </p:nvGrpSpPr>
        <p:grpSpPr>
          <a:xfrm>
            <a:off x="4072036" y="5837014"/>
            <a:ext cx="7760039" cy="383472"/>
            <a:chOff x="1849819" y="5648308"/>
            <a:chExt cx="7760039" cy="383472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8674A3F0-0BF7-8414-0848-7E4D1FCE5D89}"/>
                </a:ext>
              </a:extLst>
            </p:cNvPr>
            <p:cNvSpPr/>
            <p:nvPr/>
          </p:nvSpPr>
          <p:spPr>
            <a:xfrm>
              <a:off x="2697454" y="5699864"/>
              <a:ext cx="5780690" cy="29089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C6885C-A8FA-341D-DEA1-357A5BC41F38}"/>
                </a:ext>
              </a:extLst>
            </p:cNvPr>
            <p:cNvSpPr txBox="1"/>
            <p:nvPr/>
          </p:nvSpPr>
          <p:spPr>
            <a:xfrm>
              <a:off x="8558824" y="566244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Deeper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D81F6F-4FDC-7D9B-4418-EAB43D3743E8}"/>
                </a:ext>
              </a:extLst>
            </p:cNvPr>
            <p:cNvSpPr txBox="1"/>
            <p:nvPr/>
          </p:nvSpPr>
          <p:spPr>
            <a:xfrm>
              <a:off x="1849819" y="564830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Earlier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E0BF1E-DC40-D34F-001A-D453FD499BC8}"/>
              </a:ext>
            </a:extLst>
          </p:cNvPr>
          <p:cNvGrpSpPr/>
          <p:nvPr/>
        </p:nvGrpSpPr>
        <p:grpSpPr>
          <a:xfrm>
            <a:off x="2708043" y="1807440"/>
            <a:ext cx="1544478" cy="2748104"/>
            <a:chOff x="990398" y="1788438"/>
            <a:chExt cx="1544478" cy="2748104"/>
          </a:xfrm>
        </p:grpSpPr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450776ED-1A5E-6CEF-49B5-C550C81F06A7}"/>
                </a:ext>
              </a:extLst>
            </p:cNvPr>
            <p:cNvSpPr/>
            <p:nvPr/>
          </p:nvSpPr>
          <p:spPr>
            <a:xfrm>
              <a:off x="1534510" y="2123090"/>
              <a:ext cx="228127" cy="199696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3A6031-1154-D52A-F425-FC39DE30F24F}"/>
                </a:ext>
              </a:extLst>
            </p:cNvPr>
            <p:cNvSpPr txBox="1"/>
            <p:nvPr/>
          </p:nvSpPr>
          <p:spPr>
            <a:xfrm>
              <a:off x="990398" y="1788438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More sparse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2766F7-CE99-6594-F6B2-AD03775A81B2}"/>
                </a:ext>
              </a:extLst>
            </p:cNvPr>
            <p:cNvSpPr txBox="1"/>
            <p:nvPr/>
          </p:nvSpPr>
          <p:spPr>
            <a:xfrm>
              <a:off x="990398" y="4167210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Less sparse</a:t>
              </a:r>
            </a:p>
          </p:txBody>
        </p:sp>
      </p:grpSp>
      <p:sp>
        <p:nvSpPr>
          <p:cNvPr id="20" name="Block Arc 19">
            <a:extLst>
              <a:ext uri="{FF2B5EF4-FFF2-40B4-BE49-F238E27FC236}">
                <a16:creationId xmlns:a16="http://schemas.microsoft.com/office/drawing/2014/main" id="{3B7FD258-126C-FDF7-6B9A-DD3C314E5666}"/>
              </a:ext>
            </a:extLst>
          </p:cNvPr>
          <p:cNvSpPr/>
          <p:nvPr/>
        </p:nvSpPr>
        <p:spPr>
          <a:xfrm rot="10800000">
            <a:off x="5323113" y="2865026"/>
            <a:ext cx="2305050" cy="549969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BEC24FC9-A62F-1523-4C82-110BEB3B3E02}"/>
              </a:ext>
            </a:extLst>
          </p:cNvPr>
          <p:cNvSpPr/>
          <p:nvPr/>
        </p:nvSpPr>
        <p:spPr>
          <a:xfrm rot="10800000">
            <a:off x="7908364" y="2503578"/>
            <a:ext cx="2061677" cy="549945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Block Arc 21">
            <a:extLst>
              <a:ext uri="{FF2B5EF4-FFF2-40B4-BE49-F238E27FC236}">
                <a16:creationId xmlns:a16="http://schemas.microsoft.com/office/drawing/2014/main" id="{0C9FF6AD-B68C-1565-C67E-A2AAA784BB70}"/>
              </a:ext>
            </a:extLst>
          </p:cNvPr>
          <p:cNvSpPr/>
          <p:nvPr/>
        </p:nvSpPr>
        <p:spPr>
          <a:xfrm rot="10800000">
            <a:off x="10319461" y="2143765"/>
            <a:ext cx="1242527" cy="549910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D1C094-0F23-65DC-4AE0-700EF43A14F8}"/>
              </a:ext>
            </a:extLst>
          </p:cNvPr>
          <p:cNvSpPr/>
          <p:nvPr/>
        </p:nvSpPr>
        <p:spPr>
          <a:xfrm>
            <a:off x="11264518" y="1814795"/>
            <a:ext cx="367943" cy="5499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452F169-D072-70ED-FC02-25ED1EA0B8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A54202-82D1-6E4F-0090-1FE8E3B63F8E}"/>
              </a:ext>
            </a:extLst>
          </p:cNvPr>
          <p:cNvSpPr/>
          <p:nvPr/>
        </p:nvSpPr>
        <p:spPr>
          <a:xfrm>
            <a:off x="9960780" y="2791427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9114DF-2252-87B2-41E4-DCA10E635880}"/>
              </a:ext>
            </a:extLst>
          </p:cNvPr>
          <p:cNvSpPr/>
          <p:nvPr/>
        </p:nvSpPr>
        <p:spPr>
          <a:xfrm>
            <a:off x="7703239" y="2865026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A11A7-186F-CB88-3A46-9708D2BD92F2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89668" y="1686757"/>
            <a:ext cx="2782287" cy="425684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There are </a:t>
            </a:r>
            <a:r>
              <a:rPr lang="en-US" sz="2400" b="1" u="sng" dirty="0">
                <a:latin typeface="Roboto"/>
                <a:ea typeface="Roboto"/>
                <a:cs typeface="Arial"/>
              </a:rPr>
              <a:t>NO</a:t>
            </a:r>
            <a:r>
              <a:rPr lang="en-US" sz="2400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The remaining weights have larger gradients.</a:t>
            </a:r>
          </a:p>
        </p:txBody>
      </p:sp>
    </p:spTree>
    <p:extLst>
      <p:ext uri="{BB962C8B-B14F-4D97-AF65-F5344CB8AC3E}">
        <p14:creationId xmlns:p14="http://schemas.microsoft.com/office/powerpoint/2010/main" val="179990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19" grpId="0" animBg="1"/>
      <p:bldP spid="24" grpId="0" animBg="1"/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7AA3-E982-CD20-2ED1-349F0A85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Stable Neuron-Level Sensitivity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78490-5E1A-858D-32BB-7A2533E1A67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9" y="1686757"/>
            <a:ext cx="5143502" cy="425684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Neuron Zeroing: Ablation study of each neuron for change in accuracy.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As stages/neurons get sparser – their impact grows.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F2942-3D48-4572-766F-63419D4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47753"/>
          <a:stretch>
            <a:fillRect/>
          </a:stretch>
        </p:blipFill>
        <p:spPr>
          <a:xfrm>
            <a:off x="6642538" y="0"/>
            <a:ext cx="5174981" cy="639688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E404BE-0ABE-661A-51C0-690D84AE9F8C}"/>
              </a:ext>
            </a:extLst>
          </p:cNvPr>
          <p:cNvCxnSpPr>
            <a:cxnSpLocks/>
          </p:cNvCxnSpPr>
          <p:nvPr/>
        </p:nvCxnSpPr>
        <p:spPr>
          <a:xfrm>
            <a:off x="7493876" y="1344337"/>
            <a:ext cx="41774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9D380E-99F5-2747-3A4E-A1A7903E452D}"/>
              </a:ext>
            </a:extLst>
          </p:cNvPr>
          <p:cNvCxnSpPr>
            <a:cxnSpLocks/>
          </p:cNvCxnSpPr>
          <p:nvPr/>
        </p:nvCxnSpPr>
        <p:spPr>
          <a:xfrm>
            <a:off x="7456705" y="3598423"/>
            <a:ext cx="424422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FD7678-55DF-3944-1600-C791BA76CA2F}"/>
              </a:ext>
            </a:extLst>
          </p:cNvPr>
          <p:cNvCxnSpPr>
            <a:cxnSpLocks/>
          </p:cNvCxnSpPr>
          <p:nvPr/>
        </p:nvCxnSpPr>
        <p:spPr>
          <a:xfrm>
            <a:off x="7456705" y="5638326"/>
            <a:ext cx="421459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CFC46-D060-7DF4-F51D-DE5AC1DDC3AF}"/>
              </a:ext>
            </a:extLst>
          </p:cNvPr>
          <p:cNvSpPr/>
          <p:nvPr/>
        </p:nvSpPr>
        <p:spPr>
          <a:xfrm>
            <a:off x="11000449" y="325016"/>
            <a:ext cx="817070" cy="6006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8FFC091-EF76-1D92-173A-CBFF0EEFE2DF}"/>
              </a:ext>
            </a:extLst>
          </p:cNvPr>
          <p:cNvSpPr/>
          <p:nvPr/>
        </p:nvSpPr>
        <p:spPr>
          <a:xfrm>
            <a:off x="7847294" y="5985343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10DD-EEEA-C7AB-D077-C7108C0CC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4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E05C8-3508-239D-14D7-A1E09C7EA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8334A6E-A36F-76A7-A2AC-4BB1EE955D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1DD63-371E-987D-D633-A6DE7764BC1C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98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AE7-1A9D-B7D4-A8EC-AB16D1B84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35361-3509-84FD-B810-EF8BB72F3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9D8A931-4728-C223-6B4B-D425ABD11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7930" b="53819"/>
          <a:stretch>
            <a:fillRect/>
          </a:stretch>
        </p:blipFill>
        <p:spPr>
          <a:xfrm>
            <a:off x="1963617" y="1456224"/>
            <a:ext cx="8229288" cy="4086669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23B91206-8C3F-9C61-BA01-E4C3B9243FF8}"/>
              </a:ext>
            </a:extLst>
          </p:cNvPr>
          <p:cNvSpPr/>
          <p:nvPr/>
        </p:nvSpPr>
        <p:spPr>
          <a:xfrm>
            <a:off x="3026980" y="5689440"/>
            <a:ext cx="6390289" cy="2908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E051E-8DAF-AA17-F3F4-ADB9D94E8AEE}"/>
              </a:ext>
            </a:extLst>
          </p:cNvPr>
          <p:cNvSpPr txBox="1"/>
          <p:nvPr/>
        </p:nvSpPr>
        <p:spPr>
          <a:xfrm>
            <a:off x="9417269" y="5689440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High sparsity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55895E-7F43-1EC0-322C-79E46E7FFF3C}"/>
              </a:ext>
            </a:extLst>
          </p:cNvPr>
          <p:cNvSpPr txBox="1"/>
          <p:nvPr/>
        </p:nvSpPr>
        <p:spPr>
          <a:xfrm>
            <a:off x="1760637" y="5660863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Low sparsity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B4D1941-82D3-C688-F5D7-B5327F4A7F6F}"/>
              </a:ext>
            </a:extLst>
          </p:cNvPr>
          <p:cNvSpPr/>
          <p:nvPr/>
        </p:nvSpPr>
        <p:spPr>
          <a:xfrm rot="16200000">
            <a:off x="318462" y="3282979"/>
            <a:ext cx="2279193" cy="26275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346703-00BB-A176-322B-C6BA8421BEDB}"/>
              </a:ext>
            </a:extLst>
          </p:cNvPr>
          <p:cNvSpPr txBox="1"/>
          <p:nvPr/>
        </p:nvSpPr>
        <p:spPr>
          <a:xfrm>
            <a:off x="417532" y="4583237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Low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AC08A-0410-E42A-1EB4-AA1CCCC5B0FC}"/>
              </a:ext>
            </a:extLst>
          </p:cNvPr>
          <p:cNvSpPr txBox="1"/>
          <p:nvPr/>
        </p:nvSpPr>
        <p:spPr>
          <a:xfrm>
            <a:off x="417532" y="1751543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High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5B0B4D-5487-7DE0-14EA-1E8D0F12CD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2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4378E-0B45-1F42-4242-8E125B183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D9CA-57E1-96A5-50C4-F552AD74C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387" y="404918"/>
            <a:ext cx="11729544" cy="869089"/>
          </a:xfrm>
        </p:spPr>
        <p:txBody>
          <a:bodyPr>
            <a:noAutofit/>
          </a:bodyPr>
          <a:lstStyle/>
          <a:p>
            <a:pPr marL="457200" lvl="1" indent="0" algn="l">
              <a:buNone/>
            </a:pPr>
            <a:r>
              <a:rPr lang="en-US" sz="3200" b="1"/>
              <a:t>What internal changes occur when networks are pruned?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B0A-CDAB-30F9-8A90-B6708022E3D2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/>
              <a:t>How does unstructured pruning redistribute weights across layers/neurons?</a:t>
            </a:r>
          </a:p>
          <a:p>
            <a:pPr lvl="1"/>
            <a:r>
              <a:rPr lang="en-US"/>
              <a:t>Deeper layers get pruned more.</a:t>
            </a:r>
          </a:p>
          <a:p>
            <a:r>
              <a:rPr lang="en-US"/>
              <a:t>Do neurons get effectively removed?</a:t>
            </a:r>
          </a:p>
          <a:p>
            <a:pPr lvl="1"/>
            <a:r>
              <a:rPr lang="en-US"/>
              <a:t>No, there always exists some small weights.</a:t>
            </a:r>
          </a:p>
          <a:p>
            <a:r>
              <a:rPr lang="en-US"/>
              <a:t>How important are the remaining neurons?</a:t>
            </a:r>
          </a:p>
          <a:p>
            <a:pPr lvl="1"/>
            <a:r>
              <a:rPr lang="en-US"/>
              <a:t>Increase in importance as you go deeper into the network.</a:t>
            </a:r>
          </a:p>
          <a:p>
            <a:r>
              <a:rPr lang="en-US"/>
              <a:t>How stable are activations and representations under pruning?</a:t>
            </a:r>
          </a:p>
          <a:p>
            <a:pPr lvl="1"/>
            <a:r>
              <a:rPr lang="en-US"/>
              <a:t>Front layers have the highest feature similarity.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7867-3888-C2DF-44E6-0647816B7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2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F8FB-9A13-4D46-448C-2BA13B86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happens to the network after pruning?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2FBD9-8392-E206-E02A-D28032D69F9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IMP creates a surprising amount of internal structure</a:t>
            </a:r>
          </a:p>
          <a:p>
            <a:pPr lvl="1"/>
            <a:r>
              <a:rPr lang="en-US" dirty="0"/>
              <a:t>Preferential pruning of deep layers, preservation of feature representations. </a:t>
            </a:r>
          </a:p>
          <a:p>
            <a:pPr lvl="1"/>
            <a:endParaRPr lang="en-US" dirty="0"/>
          </a:p>
          <a:p>
            <a:r>
              <a:rPr lang="en-US" dirty="0"/>
              <a:t>We can reach around 97% sparsity without drop in accuracy, but it is difficult to take advantage of the sparsity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Under review to the Journal of Applied Intelligence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BE560-5ACF-1AB4-6592-CB996F8C01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98021-3D95-263E-898B-29BB5272964D}"/>
              </a:ext>
            </a:extLst>
          </p:cNvPr>
          <p:cNvSpPr txBox="1"/>
          <p:nvPr/>
        </p:nvSpPr>
        <p:spPr>
          <a:xfrm>
            <a:off x="2388283" y="5782603"/>
            <a:ext cx="90972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This work was authored by the National Renewable Energy Laboratory for the U.S. Department of Energy (DOE) under Contract No. DE-AC36-08GO28308.</a:t>
            </a:r>
          </a:p>
        </p:txBody>
      </p:sp>
    </p:spTree>
    <p:extLst>
      <p:ext uri="{BB962C8B-B14F-4D97-AF65-F5344CB8AC3E}">
        <p14:creationId xmlns:p14="http://schemas.microsoft.com/office/powerpoint/2010/main" val="302615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C96C-032B-481A-1EE0-85F23481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27E8-4010-C359-C127-944D295D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E10D6-C906-3CD6-7D9E-22E4ECA10B3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B1782-D317-3866-2783-782C96D604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39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AA9B25-33A2-902D-BAE8-A0AFB6A5DA97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D59D31-6BA3-5A40-E806-F081ABFAFCAC}"/>
              </a:ext>
            </a:extLst>
          </p:cNvPr>
          <p:cNvSpPr txBox="1"/>
          <p:nvPr/>
        </p:nvSpPr>
        <p:spPr>
          <a:xfrm>
            <a:off x="2928690" y="1800681"/>
            <a:ext cx="2913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0A3EA3-46A1-8950-4C50-551A32D36D10}"/>
              </a:ext>
            </a:extLst>
          </p:cNvPr>
          <p:cNvSpPr txBox="1"/>
          <p:nvPr/>
        </p:nvSpPr>
        <p:spPr>
          <a:xfrm>
            <a:off x="5010603" y="4536771"/>
            <a:ext cx="37101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C7B96E-A35F-4AF0-53E8-2B9CD7B42CA9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24026454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D236-DDB7-AC7B-FE1F-6BBA7A485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1020129"/>
            <a:ext cx="10287000" cy="683728"/>
          </a:xfrm>
        </p:spPr>
        <p:txBody>
          <a:bodyPr/>
          <a:lstStyle/>
          <a:p>
            <a:r>
              <a:rPr lang="en-US">
                <a:latin typeface="Roboto"/>
                <a:ea typeface="Roboto"/>
                <a:cs typeface="Arial"/>
              </a:rPr>
              <a:t>"Blind" Pruning vs. Structural Insight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00069-0434-7A3E-859F-DF43A9A6C1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585E6-B01A-8F5D-74C4-A77AEBB892BA}"/>
              </a:ext>
            </a:extLst>
          </p:cNvPr>
          <p:cNvSpPr txBox="1"/>
          <p:nvPr/>
        </p:nvSpPr>
        <p:spPr>
          <a:xfrm>
            <a:off x="952500" y="2137277"/>
            <a:ext cx="110163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Can we identify entire architectural blocks that are functionally redundant using only cheap, zero-shot diagnostics?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9279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4B94D-ADF2-4009-49DE-1FE008ED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BF0-6BE5-7D03-43A6-D7DE57CB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718876"/>
            <a:ext cx="10287000" cy="1331865"/>
          </a:xfrm>
        </p:spPr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Zero-Shot Heuristic Profiling</a:t>
            </a:r>
            <a:endParaRPr lang="en-US" dirty="0"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3E603-7CAD-D2F4-1070-C17CF6788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We need to find an optimal way to identify sections of the network to remove</a:t>
            </a:r>
          </a:p>
          <a:p>
            <a:endParaRPr lang="en-US" sz="2400" dirty="0">
              <a:latin typeface="Roboto"/>
              <a:ea typeface="Roboto"/>
              <a:cs typeface="Arial"/>
            </a:endParaRPr>
          </a:p>
          <a:p>
            <a:r>
              <a:rPr lang="en-US" sz="2400" b="1" dirty="0">
                <a:latin typeface="Roboto"/>
                <a:ea typeface="Roboto"/>
                <a:cs typeface="Arial"/>
              </a:rPr>
              <a:t>The Diagnostic Tool:</a:t>
            </a:r>
          </a:p>
          <a:p>
            <a:pPr lvl="1"/>
            <a:r>
              <a:rPr lang="en-US" sz="2000" b="1" dirty="0">
                <a:latin typeface="Roboto"/>
                <a:ea typeface="Roboto"/>
                <a:cs typeface="Arial"/>
              </a:rPr>
              <a:t>Activation Variance &amp; Depth:</a:t>
            </a:r>
            <a:r>
              <a:rPr lang="en-US" sz="2000" dirty="0">
                <a:latin typeface="Roboto"/>
                <a:ea typeface="Roboto"/>
                <a:cs typeface="Arial"/>
              </a:rPr>
              <a:t> Measures the dynamic range of a layer. Low variance indicates "dead" or static features. High variance indicates important features.</a:t>
            </a:r>
          </a:p>
          <a:p>
            <a:pPr lvl="1"/>
            <a:endParaRPr lang="en-US" sz="2000" dirty="0">
              <a:latin typeface="Roboto"/>
              <a:ea typeface="Roboto"/>
              <a:cs typeface="Arial"/>
            </a:endParaRPr>
          </a:p>
          <a:p>
            <a:pPr>
              <a:buFont typeface="Arial" panose="02000000000000000000" pitchFamily="2" charset="0"/>
              <a:buChar char="•"/>
            </a:pPr>
            <a:r>
              <a:rPr lang="en-US" sz="2400" dirty="0">
                <a:latin typeface="Roboto"/>
                <a:ea typeface="Roboto"/>
                <a:cs typeface="Arial"/>
              </a:rPr>
              <a:t>Preserve the feature manifold and gradient flow while removing the computational cost of spatial filtering and non-linearities.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B2A60-7A01-9C8C-77DF-BFE5C4D199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6049A-84C5-C90B-AFD2-223A5329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Layer-by-Layer Collapse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A09D1-9EBD-22CB-01F7-055FB7C1E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445299-7690-2F6D-A3C9-C47558F5F7FF}"/>
              </a:ext>
            </a:extLst>
          </p:cNvPr>
          <p:cNvGrpSpPr/>
          <p:nvPr/>
        </p:nvGrpSpPr>
        <p:grpSpPr>
          <a:xfrm>
            <a:off x="4716379" y="4377285"/>
            <a:ext cx="7036067" cy="1600201"/>
            <a:chOff x="4716379" y="4377285"/>
            <a:chExt cx="7036067" cy="160020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148C18-E838-C04A-C603-E6A17BC74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90175" y="4645134"/>
              <a:ext cx="6792544" cy="1064502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079D4-2517-FA11-0D26-F5B8402438C6}"/>
                </a:ext>
              </a:extLst>
            </p:cNvPr>
            <p:cNvSpPr/>
            <p:nvPr/>
          </p:nvSpPr>
          <p:spPr>
            <a:xfrm>
              <a:off x="4716379" y="4377285"/>
              <a:ext cx="7036067" cy="160020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115DE-CB57-3497-8570-FA3E26361185}"/>
              </a:ext>
            </a:extLst>
          </p:cNvPr>
          <p:cNvGrpSpPr/>
          <p:nvPr/>
        </p:nvGrpSpPr>
        <p:grpSpPr>
          <a:xfrm>
            <a:off x="6096000" y="1480008"/>
            <a:ext cx="5656446" cy="2594231"/>
            <a:chOff x="6096000" y="1480008"/>
            <a:chExt cx="5656446" cy="259423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2B5CC7-D7F8-8B22-0415-9A6BDD0DA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61678"/>
            <a:stretch>
              <a:fillRect/>
            </a:stretch>
          </p:blipFill>
          <p:spPr>
            <a:xfrm>
              <a:off x="6279609" y="1546913"/>
              <a:ext cx="2572160" cy="2527326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227090-C0D3-8156-21E4-687E5F48FA33}"/>
                </a:ext>
              </a:extLst>
            </p:cNvPr>
            <p:cNvSpPr/>
            <p:nvPr/>
          </p:nvSpPr>
          <p:spPr>
            <a:xfrm>
              <a:off x="6096000" y="1480008"/>
              <a:ext cx="5656446" cy="259423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A96818-B00C-1222-541E-0E27606E1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0914" t="9023" b="9664"/>
            <a:stretch>
              <a:fillRect/>
            </a:stretch>
          </p:blipFill>
          <p:spPr>
            <a:xfrm>
              <a:off x="10072748" y="1783054"/>
              <a:ext cx="1281052" cy="2055045"/>
            </a:xfrm>
            <a:prstGeom prst="rect">
              <a:avLst/>
            </a:prstGeom>
          </p:spPr>
        </p:pic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9D532B4-F9A3-78EA-A26B-D931A2C8EA8F}"/>
                </a:ext>
              </a:extLst>
            </p:cNvPr>
            <p:cNvSpPr/>
            <p:nvPr/>
          </p:nvSpPr>
          <p:spPr>
            <a:xfrm>
              <a:off x="9127607" y="2593759"/>
              <a:ext cx="669303" cy="43363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48E6CDF-0C5A-5512-7E06-A2B716117979}"/>
              </a:ext>
            </a:extLst>
          </p:cNvPr>
          <p:cNvSpPr txBox="1"/>
          <p:nvPr/>
        </p:nvSpPr>
        <p:spPr>
          <a:xfrm>
            <a:off x="677368" y="1945273"/>
            <a:ext cx="37141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Given a subset of adjacent layers, we collapse them into a 1x1 convolution projection feature space without changing spatial resolution, halting unnecessary expansion.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8636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E1DE-C71C-95DF-5ACB-4DF4EF6D4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3107" y="2763067"/>
            <a:ext cx="4925786" cy="1331865"/>
          </a:xfrm>
        </p:spPr>
        <p:txBody>
          <a:bodyPr/>
          <a:lstStyle/>
          <a:p>
            <a:r>
              <a:rPr lang="en-US"/>
              <a:t>Preliminary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14399-C221-72D0-B61C-D95825DDC1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41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A3A8-0EB8-5038-214F-7DFED666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Activation Variance Heuristic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95759-1FC7-2DD3-6626-3D59CD7CC6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10C37F4-C5A1-97C0-BDBD-AF46875A2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257" y="2424653"/>
            <a:ext cx="5631543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Zero-shot diagnostic: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Predicts “crash sites”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training, no gradients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Acts like an EKG of network health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 interpretation: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 variance → critical feature extraction → do not prune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Low variance → dead / static features → safe to collapse</a:t>
            </a:r>
          </a:p>
        </p:txBody>
      </p:sp>
    </p:spTree>
    <p:extLst>
      <p:ext uri="{BB962C8B-B14F-4D97-AF65-F5344CB8AC3E}">
        <p14:creationId xmlns:p14="http://schemas.microsoft.com/office/powerpoint/2010/main" val="32411374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272F-8D37-A224-B070-CD7AFF03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534" y="2701785"/>
            <a:ext cx="5136932" cy="1323107"/>
          </a:xfrm>
        </p:spPr>
        <p:txBody>
          <a:bodyPr/>
          <a:lstStyle/>
          <a:p>
            <a:r>
              <a:rPr lang="en-US"/>
              <a:t>Legacy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F6AD-5996-2B37-3766-DD8D7B4B87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AD21D90-7319-BE8C-E406-95CFDB698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900" y="3808029"/>
            <a:ext cx="624064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9295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EF82-2756-EB76-333D-DA282201E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VGG-16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B6188-31E8-9879-16B6-404DBEB52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FBACC9-757C-DE2E-C97C-DF08770099A8}"/>
              </a:ext>
            </a:extLst>
          </p:cNvPr>
          <p:cNvSpPr/>
          <p:nvPr/>
        </p:nvSpPr>
        <p:spPr>
          <a:xfrm>
            <a:off x="10747529" y="2143760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95A0CB-408C-F1B4-E479-1B7D2338A7CE}"/>
              </a:ext>
            </a:extLst>
          </p:cNvPr>
          <p:cNvSpPr/>
          <p:nvPr/>
        </p:nvSpPr>
        <p:spPr>
          <a:xfrm>
            <a:off x="10756285" y="1732103"/>
            <a:ext cx="5255" cy="4176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A3122-106E-91F5-481E-51008F7F80A2}"/>
              </a:ext>
            </a:extLst>
          </p:cNvPr>
          <p:cNvSpPr/>
          <p:nvPr/>
        </p:nvSpPr>
        <p:spPr>
          <a:xfrm>
            <a:off x="10765046" y="1399277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9A734-C505-A0AB-8446-AC65271359EE}"/>
              </a:ext>
            </a:extLst>
          </p:cNvPr>
          <p:cNvSpPr/>
          <p:nvPr/>
        </p:nvSpPr>
        <p:spPr>
          <a:xfrm>
            <a:off x="11868630" y="1723343"/>
            <a:ext cx="75323" cy="4263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FF684A-5367-0C6F-E1E7-BEAEA38B4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08" y="1559910"/>
            <a:ext cx="8621728" cy="432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7F274-E7EE-65B6-DE4C-86897A11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err="1"/>
              <a:t>InceptionNet</a:t>
            </a:r>
            <a:endParaRPr lang="en-US" dirty="0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8F11D-842C-1ABC-DD6A-F928987B4E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47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CC15C8-0DF2-7016-9C95-C489A89D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159000"/>
            <a:ext cx="10106450" cy="332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98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C281-335E-E02C-EDC2-57385347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Roboto"/>
                <a:ea typeface="Roboto"/>
                <a:cs typeface="Arial"/>
              </a:rPr>
              <a:t>Legacy Architectures </a:t>
            </a:r>
            <a:endParaRPr lang="en-US" sz="360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8035D-7ACB-373C-9111-E3793FC55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AB5357-E20C-6F36-8063-37E5EFB00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2884701"/>
            <a:ext cx="94923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/>
              <a:t>Both architectures exhibit significant structural slack in the final convolutional layers</a:t>
            </a:r>
          </a:p>
          <a:p>
            <a:pPr marL="342900" indent="-342900">
              <a:buFont typeface="Arial"/>
              <a:buChar char="•"/>
            </a:pPr>
            <a:endParaRPr lang="en-US" sz="2400" dirty="0"/>
          </a:p>
          <a:p>
            <a:pPr marL="342900" indent="-342900">
              <a:buFont typeface="Arial"/>
              <a:buChar char="•"/>
            </a:pPr>
            <a:r>
              <a:rPr lang="en-US" sz="2400" dirty="0"/>
              <a:t>In both models, stages with the lowest average activation variance consistently proved safe or beneficial to prune</a:t>
            </a:r>
          </a:p>
          <a:p>
            <a:pPr lvl="1"/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917302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56E6-B93D-3DA2-729D-37006AA70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95"/>
            <a:ext cx="10287000" cy="1331865"/>
          </a:xfrm>
        </p:spPr>
        <p:txBody>
          <a:bodyPr/>
          <a:lstStyle/>
          <a:p>
            <a:pPr algn="ctr"/>
            <a:r>
              <a:rPr lang="en-US" dirty="0">
                <a:latin typeface="Roboto"/>
                <a:ea typeface="Roboto"/>
                <a:cs typeface="Arial"/>
              </a:rPr>
              <a:t>Resource Efficient Networks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61548-F3D0-7166-1152-882AF4EE9C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23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EA23-D74D-523B-DC20-5A0EDBA6C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5272E-BC4D-53C1-B261-89B42E3582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CAEFF0-21BB-E4E3-18CF-3E5768468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90" y="1435100"/>
            <a:ext cx="8323070" cy="4708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606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550D-6F5E-E576-942F-E7EA5DC4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2D755-A68B-AE23-4B17-B6BCF3FF1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4110F-7C2F-7D04-2C55-7D8B58D42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832BA3-2FD6-69B4-0852-819CF4003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468"/>
          <a:stretch>
            <a:fillRect/>
          </a:stretch>
        </p:blipFill>
        <p:spPr>
          <a:xfrm>
            <a:off x="870876" y="2024743"/>
            <a:ext cx="11032636" cy="384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1581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46119-C5FB-A394-1A17-B4840464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Key take 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73F5B-F640-564A-10CF-5294C523E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 err="1"/>
              <a:t>MobileNet's</a:t>
            </a:r>
            <a:r>
              <a:rPr lang="en-US" dirty="0"/>
              <a:t> variance is remarkably consistent and low, hovering between </a:t>
            </a:r>
            <a:r>
              <a:rPr lang="en-US" b="1" dirty="0"/>
              <a:t>0.20 and 0.35</a:t>
            </a:r>
            <a:r>
              <a:rPr lang="en-US" dirty="0"/>
              <a:t> across the board.</a:t>
            </a:r>
          </a:p>
          <a:p>
            <a:endParaRPr lang="en-US" dirty="0"/>
          </a:p>
          <a:p>
            <a:r>
              <a:rPr lang="en-US" dirty="0"/>
              <a:t>There is no single stage where pruning causes a disproportionate drop. Accuracy remains stable (~44–46%) for all single-stage pruning experiments.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243F-EE69-3FBA-8AC5-C7B89A093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021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AF64-E306-7730-FE94-F3ABE23D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1B81-907A-27AC-2514-D5919C05B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A9661-1030-0E73-A7BB-416D9128A9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BB41-C819-11FF-FA5F-0F40A775B2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44D2987-0B1D-5044-FB06-BC414A1575C5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D380693-0CF9-001B-AB05-A22EB4EF1A9E}"/>
              </a:ext>
            </a:extLst>
          </p:cNvPr>
          <p:cNvSpPr txBox="1"/>
          <p:nvPr/>
        </p:nvSpPr>
        <p:spPr>
          <a:xfrm>
            <a:off x="2790145" y="1846863"/>
            <a:ext cx="3167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F3BD07-73A0-7E40-F0FA-BFD22E9EA175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C5129-4927-9526-A52F-C1DD18DABFCE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40673546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54A16-16CD-6099-A338-20C01F2D1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03CB4-6EC5-EE79-2DC5-295476D0A32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Poison is more effective against architecture that it arose from</a:t>
            </a:r>
          </a:p>
          <a:p>
            <a:r>
              <a:rPr lang="en-US" dirty="0"/>
              <a:t>Poison generated from more complex defenses/architecture are more effective</a:t>
            </a:r>
          </a:p>
          <a:p>
            <a:endParaRPr lang="en-US" dirty="0"/>
          </a:p>
          <a:p>
            <a:r>
              <a:rPr lang="en-US" dirty="0"/>
              <a:t>Network pruning targets later layers but needs specialized hardware</a:t>
            </a:r>
          </a:p>
          <a:p>
            <a:endParaRPr lang="en-US" dirty="0"/>
          </a:p>
          <a:p>
            <a:r>
              <a:rPr lang="en-US" dirty="0"/>
              <a:t>You can optimize the network by utilizing LBL and Activation Variance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18AC-A70E-91F0-9E0A-1AF85CA76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99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3E362-11FC-615F-808D-6621E6E3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FE743-AC49-5A5B-987B-FF722FE5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67"/>
            <a:ext cx="10287000" cy="1331865"/>
          </a:xfrm>
        </p:spPr>
        <p:txBody>
          <a:bodyPr/>
          <a:lstStyle/>
          <a:p>
            <a:pPr algn="ctr"/>
            <a:r>
              <a:rPr lang="en-US" dirty="0"/>
              <a:t>How Safe and Deployable are Resource Efficient Neural Network?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AA942-D5AE-F86F-9F3A-5670CCC426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EBE86-B100-8F07-254E-0C141420636F}"/>
              </a:ext>
            </a:extLst>
          </p:cNvPr>
          <p:cNvSpPr txBox="1"/>
          <p:nvPr/>
        </p:nvSpPr>
        <p:spPr>
          <a:xfrm>
            <a:off x="9804400" y="589280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 Continued…</a:t>
            </a:r>
          </a:p>
        </p:txBody>
      </p:sp>
    </p:spTree>
    <p:extLst>
      <p:ext uri="{BB962C8B-B14F-4D97-AF65-F5344CB8AC3E}">
        <p14:creationId xmlns:p14="http://schemas.microsoft.com/office/powerpoint/2010/main" val="679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F7983-0A39-2AD7-DAE6-5AA85D79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711" y="559207"/>
            <a:ext cx="10287001" cy="869089"/>
          </a:xfrm>
        </p:spPr>
        <p:txBody>
          <a:bodyPr/>
          <a:lstStyle/>
          <a:p>
            <a:r>
              <a:rPr lang="en-US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5BD15-D213-FB58-FA53-1FAFA47B93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6674" y="1883511"/>
            <a:ext cx="3587971" cy="1098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/>
              <a:t>UI/Goddard Lab</a:t>
            </a:r>
            <a:endParaRPr lang="en-US" sz="240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7ADF70-85AE-3181-D06E-59990755564C}"/>
              </a:ext>
            </a:extLst>
          </p:cNvPr>
          <p:cNvSpPr txBox="1">
            <a:spLocks/>
          </p:cNvSpPr>
          <p:nvPr/>
        </p:nvSpPr>
        <p:spPr>
          <a:xfrm>
            <a:off x="449762" y="3131175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Kevin Griffin</a:t>
            </a:r>
          </a:p>
          <a:p>
            <a:pPr marL="457200" lvl="1" indent="0">
              <a:buNone/>
            </a:pPr>
            <a:r>
              <a:rPr lang="en-US" sz="2000"/>
              <a:t>Dr. Nicholas Wimer</a:t>
            </a:r>
          </a:p>
        </p:txBody>
      </p:sp>
      <p:pic>
        <p:nvPicPr>
          <p:cNvPr id="1026" name="Picture 2" descr="National Renewable Energy Laboratory Logo">
            <a:extLst>
              <a:ext uri="{FF2B5EF4-FFF2-40B4-BE49-F238E27FC236}">
                <a16:creationId xmlns:a16="http://schemas.microsoft.com/office/drawing/2014/main" id="{0B7F3C55-C736-C738-6E7C-5C97D89452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13" r="3856" b="9596"/>
          <a:stretch>
            <a:fillRect/>
          </a:stretch>
        </p:blipFill>
        <p:spPr bwMode="auto">
          <a:xfrm>
            <a:off x="4556619" y="5756398"/>
            <a:ext cx="2118611" cy="631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s &amp; Lockups | Vanderbilt Brand Style Guide | Vanderbilt ...">
            <a:extLst>
              <a:ext uri="{FF2B5EF4-FFF2-40B4-BE49-F238E27FC236}">
                <a16:creationId xmlns:a16="http://schemas.microsoft.com/office/drawing/2014/main" id="{A84B62D9-8363-050B-A0A5-3B1DA5D83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17012" r="1921" b="66971"/>
          <a:stretch>
            <a:fillRect/>
          </a:stretch>
        </p:blipFill>
        <p:spPr bwMode="auto">
          <a:xfrm>
            <a:off x="6675230" y="5767776"/>
            <a:ext cx="2186152" cy="631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F6FA30-E3EA-F95D-90E3-B8136C130FFA}"/>
              </a:ext>
            </a:extLst>
          </p:cNvPr>
          <p:cNvSpPr txBox="1">
            <a:spLocks/>
          </p:cNvSpPr>
          <p:nvPr/>
        </p:nvSpPr>
        <p:spPr>
          <a:xfrm>
            <a:off x="502313" y="5094466"/>
            <a:ext cx="3587971" cy="6093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Max </a:t>
            </a:r>
            <a:r>
              <a:rPr lang="en-US" sz="2000" err="1"/>
              <a:t>Milkert</a:t>
            </a:r>
            <a:r>
              <a:rPr lang="en-US" sz="200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293AE15-1073-9BD8-A51F-AE500F88999E}"/>
              </a:ext>
            </a:extLst>
          </p:cNvPr>
          <p:cNvSpPr txBox="1">
            <a:spLocks/>
          </p:cNvSpPr>
          <p:nvPr/>
        </p:nvSpPr>
        <p:spPr>
          <a:xfrm>
            <a:off x="3587995" y="1509679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Collaborators:</a:t>
            </a:r>
            <a:endParaRPr lang="en-US" sz="2400"/>
          </a:p>
          <a:p>
            <a:pPr lvl="1"/>
            <a:endParaRPr lang="en-US" sz="2000"/>
          </a:p>
        </p:txBody>
      </p:sp>
      <p:pic>
        <p:nvPicPr>
          <p:cNvPr id="1032" name="Picture 8" descr="@EpiGenomicsCode">
            <a:extLst>
              <a:ext uri="{FF2B5EF4-FFF2-40B4-BE49-F238E27FC236}">
                <a16:creationId xmlns:a16="http://schemas.microsoft.com/office/drawing/2014/main" id="{6C5E378D-BF83-3DE2-B57E-81B38E617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9911" y="5572229"/>
            <a:ext cx="820103" cy="820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 descr="University Mark and Shield | Penn State Brand Book">
            <a:extLst>
              <a:ext uri="{FF2B5EF4-FFF2-40B4-BE49-F238E27FC236}">
                <a16:creationId xmlns:a16="http://schemas.microsoft.com/office/drawing/2014/main" id="{3B252371-A4BE-8FE0-E79E-45C3EDC34F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25" t="-1098" r="32055" b="28550"/>
          <a:stretch>
            <a:fillRect/>
          </a:stretch>
        </p:blipFill>
        <p:spPr bwMode="auto">
          <a:xfrm>
            <a:off x="10879539" y="5692018"/>
            <a:ext cx="635369" cy="722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3684CE9-AE42-F929-65E4-F457B1F92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7327" y="5631564"/>
            <a:ext cx="1162212" cy="752580"/>
          </a:xfrm>
          <a:prstGeom prst="rect">
            <a:avLst/>
          </a:prstGeom>
        </p:spPr>
      </p:pic>
      <p:pic>
        <p:nvPicPr>
          <p:cNvPr id="1040" name="Picture 16" descr="Salem Laboratory of Advanced Drug and Gene Delivery | The University of Iowa">
            <a:extLst>
              <a:ext uri="{FF2B5EF4-FFF2-40B4-BE49-F238E27FC236}">
                <a16:creationId xmlns:a16="http://schemas.microsoft.com/office/drawing/2014/main" id="{5E5E42E3-532D-CE19-C29A-4E44E683C5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1" t="25673" r="66177" b="19989"/>
          <a:stretch>
            <a:fillRect/>
          </a:stretch>
        </p:blipFill>
        <p:spPr bwMode="auto">
          <a:xfrm>
            <a:off x="11489066" y="5664679"/>
            <a:ext cx="702934" cy="719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66F1646-4A53-7385-200F-628515A96087}"/>
              </a:ext>
            </a:extLst>
          </p:cNvPr>
          <p:cNvSpPr txBox="1">
            <a:spLocks/>
          </p:cNvSpPr>
          <p:nvPr/>
        </p:nvSpPr>
        <p:spPr>
          <a:xfrm>
            <a:off x="645644" y="2666710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NREL</a:t>
            </a:r>
            <a:endParaRPr lang="en-US" sz="2400" u="sng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B910AA8-6578-019A-477B-E21595FAC261}"/>
              </a:ext>
            </a:extLst>
          </p:cNvPr>
          <p:cNvSpPr txBox="1">
            <a:spLocks/>
          </p:cNvSpPr>
          <p:nvPr/>
        </p:nvSpPr>
        <p:spPr>
          <a:xfrm>
            <a:off x="696711" y="3816436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Zazzle</a:t>
            </a:r>
            <a:endParaRPr lang="en-US" sz="2400" u="sng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01BAA6F-BE28-DD9F-944B-7514E40717A5}"/>
              </a:ext>
            </a:extLst>
          </p:cNvPr>
          <p:cNvSpPr txBox="1">
            <a:spLocks/>
          </p:cNvSpPr>
          <p:nvPr/>
        </p:nvSpPr>
        <p:spPr>
          <a:xfrm>
            <a:off x="472694" y="4247156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Charles Tripp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287EB56-E291-2C5B-5619-AFCFF73B511C}"/>
              </a:ext>
            </a:extLst>
          </p:cNvPr>
          <p:cNvSpPr txBox="1">
            <a:spLocks/>
          </p:cNvSpPr>
          <p:nvPr/>
        </p:nvSpPr>
        <p:spPr>
          <a:xfrm>
            <a:off x="705348" y="4646143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Vanderbilt U.</a:t>
            </a:r>
            <a:endParaRPr lang="en-US" sz="2400" u="sng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F194564B-B8D2-1D9E-F293-5978CEF0AF21}"/>
              </a:ext>
            </a:extLst>
          </p:cNvPr>
          <p:cNvSpPr txBox="1">
            <a:spLocks/>
          </p:cNvSpPr>
          <p:nvPr/>
        </p:nvSpPr>
        <p:spPr>
          <a:xfrm>
            <a:off x="414063" y="2312968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Steve Goddard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704F537-285D-4769-A677-861CC3DDE6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19E2BE5-4E47-02E6-BA70-14BA7287E848}"/>
              </a:ext>
            </a:extLst>
          </p:cNvPr>
          <p:cNvSpPr txBox="1">
            <a:spLocks/>
          </p:cNvSpPr>
          <p:nvPr/>
        </p:nvSpPr>
        <p:spPr>
          <a:xfrm>
            <a:off x="285062" y="1458834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Coauthors:</a:t>
            </a:r>
            <a:endParaRPr lang="en-US" sz="2400"/>
          </a:p>
          <a:p>
            <a:pPr lvl="1"/>
            <a:endParaRPr lang="en-US" sz="20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1CE69E2-70EB-2CD7-183E-1DF894853039}"/>
              </a:ext>
            </a:extLst>
          </p:cNvPr>
          <p:cNvGrpSpPr/>
          <p:nvPr/>
        </p:nvGrpSpPr>
        <p:grpSpPr>
          <a:xfrm>
            <a:off x="4002034" y="1960996"/>
            <a:ext cx="8489262" cy="2533990"/>
            <a:chOff x="4184559" y="1961887"/>
            <a:chExt cx="8489262" cy="253399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2EA0C3B-2ADA-1451-4E89-D30F406876E0}"/>
                </a:ext>
              </a:extLst>
            </p:cNvPr>
            <p:cNvGrpSpPr/>
            <p:nvPr/>
          </p:nvGrpSpPr>
          <p:grpSpPr>
            <a:xfrm>
              <a:off x="4184559" y="1961887"/>
              <a:ext cx="8489262" cy="2533990"/>
              <a:chOff x="4029696" y="1884621"/>
              <a:chExt cx="8489262" cy="253399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918B5AB-C567-CDE0-2119-18B3117F2055}"/>
                  </a:ext>
                </a:extLst>
              </p:cNvPr>
              <p:cNvGrpSpPr/>
              <p:nvPr/>
            </p:nvGrpSpPr>
            <p:grpSpPr>
              <a:xfrm>
                <a:off x="4029696" y="1884621"/>
                <a:ext cx="4895434" cy="1490411"/>
                <a:chOff x="3694597" y="2089794"/>
                <a:chExt cx="4895434" cy="1490411"/>
              </a:xfrm>
            </p:grpSpPr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9C0E8F77-D49D-8F86-31CC-0650EEB7C99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694597" y="2089794"/>
                  <a:ext cx="4895434" cy="33388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 </a:t>
                  </a:r>
                  <a:r>
                    <a:rPr lang="en-US" sz="2000" b="1" u="sng" err="1"/>
                    <a:t>EpiGenomics</a:t>
                  </a:r>
                  <a:r>
                    <a:rPr lang="en-US" sz="2000" b="1" u="sng"/>
                    <a:t> Core Lai Lab</a:t>
                  </a:r>
                </a:p>
                <a:p>
                  <a:pPr marL="457200" lvl="1" indent="0">
                    <a:buNone/>
                  </a:pPr>
                  <a:endParaRPr lang="en-US" sz="2000" u="sng"/>
                </a:p>
              </p:txBody>
            </p:sp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AE61D198-8F6A-557F-2E7F-888F36F1B3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28700" y="2531597"/>
                  <a:ext cx="2275949" cy="1048608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William Lai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Dr. Olivia Lang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Justin Cha</a:t>
                  </a: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99D9554-1F1D-5717-AC74-0EC34D0BA120}"/>
                  </a:ext>
                </a:extLst>
              </p:cNvPr>
              <p:cNvGrpSpPr/>
              <p:nvPr/>
            </p:nvGrpSpPr>
            <p:grpSpPr>
              <a:xfrm>
                <a:off x="8591780" y="1888265"/>
                <a:ext cx="3927178" cy="1902817"/>
                <a:chOff x="11612888" y="-540520"/>
                <a:chExt cx="3927178" cy="1902817"/>
              </a:xfrm>
            </p:grpSpPr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21BB09B-D294-881D-9649-7AB2EB57E8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612888" y="-540520"/>
                  <a:ext cx="2838683" cy="27462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U./Pugh Lab</a:t>
                  </a:r>
                </a:p>
              </p:txBody>
            </p:sp>
            <p:sp>
              <p:nvSpPr>
                <p:cNvPr id="10" name="Content Placeholder 2">
                  <a:extLst>
                    <a:ext uri="{FF2B5EF4-FFF2-40B4-BE49-F238E27FC236}">
                      <a16:creationId xmlns:a16="http://schemas.microsoft.com/office/drawing/2014/main" id="{417D11FB-8FF7-8934-4C7D-5DB0480B241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46992" y="-98717"/>
                  <a:ext cx="3693074" cy="1461014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</a:t>
                  </a:r>
                  <a:r>
                    <a:rPr lang="en-US" sz="2000" err="1"/>
                    <a:t>Ruihao</a:t>
                  </a:r>
                  <a:r>
                    <a:rPr lang="en-US" sz="2000"/>
                    <a:t> Li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Zimo Zhu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Kritika Grover</a:t>
                  </a:r>
                </a:p>
              </p:txBody>
            </p:sp>
          </p:grp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719055C-285C-B661-8F29-77A4FD497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3799" y="3945243"/>
                <a:ext cx="2374622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Gretta Kellogg</a:t>
                </a:r>
              </a:p>
            </p:txBody>
          </p: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CE409A8A-2980-415A-4714-C63FCC3184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0367" y="3507092"/>
                <a:ext cx="4813836" cy="280346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 b="1" u="sng"/>
                  <a:t>UI/Adv. Drug and Gene Delivery Lab</a:t>
                </a:r>
              </a:p>
              <a:p>
                <a:pPr marL="457200" lvl="1" indent="0">
                  <a:buNone/>
                </a:pPr>
                <a:endParaRPr lang="en-US" sz="2000" b="1" u="sng"/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AF2CE6F9-AE3C-AD92-AF97-50CCD97160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38421" y="3902644"/>
                <a:ext cx="2670756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Esraa Mohamed</a:t>
                </a:r>
              </a:p>
            </p:txBody>
          </p:sp>
        </p:grp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6C823E90-35AA-12AC-E6AD-81D6934CB504}"/>
                </a:ext>
              </a:extLst>
            </p:cNvPr>
            <p:cNvSpPr txBox="1">
              <a:spLocks/>
            </p:cNvSpPr>
            <p:nvPr/>
          </p:nvSpPr>
          <p:spPr>
            <a:xfrm>
              <a:off x="4252063" y="3590966"/>
              <a:ext cx="2442548" cy="396792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 b="1" u="sng"/>
                <a:t>Penn State ICDS</a:t>
              </a:r>
            </a:p>
          </p:txBody>
        </p: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DD6B2B65-23C8-C16D-13C1-25993E92CB43}"/>
                </a:ext>
              </a:extLst>
            </p:cNvPr>
            <p:cNvSpPr txBox="1">
              <a:spLocks/>
            </p:cNvSpPr>
            <p:nvPr/>
          </p:nvSpPr>
          <p:spPr>
            <a:xfrm>
              <a:off x="6418834" y="2415002"/>
              <a:ext cx="2442548" cy="1188715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/>
                <a:t>Amy Lyndaker</a:t>
              </a:r>
            </a:p>
            <a:p>
              <a:pPr marL="457200" lvl="1" indent="0">
                <a:buNone/>
              </a:pPr>
              <a:r>
                <a:rPr lang="en-US" sz="2000"/>
                <a:t>Devin </a:t>
              </a:r>
              <a:r>
                <a:rPr lang="en-US" sz="2000" err="1"/>
                <a:t>Mellini</a:t>
              </a:r>
              <a:endParaRPr lang="en-US" sz="2000"/>
            </a:p>
            <a:p>
              <a:pPr marL="457200" lvl="1" indent="0">
                <a:buNone/>
              </a:pPr>
              <a:r>
                <a:rPr lang="en-US" sz="2000"/>
                <a:t>Catie </a:t>
              </a:r>
              <a:r>
                <a:rPr lang="en-US" sz="2000" err="1"/>
                <a:t>Smugereski</a:t>
              </a:r>
              <a:endParaRPr lang="en-US" sz="2000"/>
            </a:p>
            <a:p>
              <a:pPr marL="457200" lvl="1" indent="0">
                <a:buNone/>
              </a:pPr>
              <a:endParaRPr lang="en-US" sz="2000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81BF74-DE26-4691-178C-6EDAA0BA996D}"/>
              </a:ext>
            </a:extLst>
          </p:cNvPr>
          <p:cNvSpPr txBox="1">
            <a:spLocks/>
          </p:cNvSpPr>
          <p:nvPr/>
        </p:nvSpPr>
        <p:spPr>
          <a:xfrm>
            <a:off x="3991356" y="4539063"/>
            <a:ext cx="3184610" cy="4184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b="1" u="sng"/>
              <a:t>Special Thanks/LANL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27985FB-7E48-A21D-9327-954C9CE9948F}"/>
              </a:ext>
            </a:extLst>
          </p:cNvPr>
          <p:cNvSpPr txBox="1">
            <a:spLocks/>
          </p:cNvSpPr>
          <p:nvPr/>
        </p:nvSpPr>
        <p:spPr>
          <a:xfrm>
            <a:off x="4652900" y="4935854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Patrick Diehl</a:t>
            </a:r>
          </a:p>
          <a:p>
            <a:pPr marL="457200" lvl="1" indent="0">
              <a:buNone/>
            </a:pPr>
            <a:r>
              <a:rPr lang="en-US" sz="2000"/>
              <a:t>Philipp Edelmann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C314FCF-4E84-C9EA-A9B3-E32B348B849D}"/>
              </a:ext>
            </a:extLst>
          </p:cNvPr>
          <p:cNvSpPr txBox="1">
            <a:spLocks/>
          </p:cNvSpPr>
          <p:nvPr/>
        </p:nvSpPr>
        <p:spPr>
          <a:xfrm>
            <a:off x="6862700" y="4935853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dirty="0"/>
              <a:t>Hailey Marie Lloyd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3991D89F-9528-05F4-A548-26751AC6B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166" y="5635102"/>
            <a:ext cx="1560124" cy="71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7837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44D6-DBC5-B97F-9BD9-A6CDF4BB7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764" y="2994455"/>
            <a:ext cx="2574472" cy="869089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8AD04-4AFE-5049-3404-BD39DDA71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83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OWA BRAND COLORS">
      <a:dk1>
        <a:srgbClr val="000000"/>
      </a:dk1>
      <a:lt1>
        <a:srgbClr val="FFFFFF"/>
      </a:lt1>
      <a:dk2>
        <a:srgbClr val="62666A"/>
      </a:dk2>
      <a:lt2>
        <a:srgbClr val="BBBCBC"/>
      </a:lt2>
      <a:accent1>
        <a:srgbClr val="FFCD00"/>
      </a:accent1>
      <a:accent2>
        <a:srgbClr val="616669"/>
      </a:accent2>
      <a:accent3>
        <a:srgbClr val="BBBCBC"/>
      </a:accent3>
      <a:accent4>
        <a:srgbClr val="00A9E0"/>
      </a:accent4>
      <a:accent5>
        <a:srgbClr val="00AF66"/>
      </a:accent5>
      <a:accent6>
        <a:srgbClr val="FF8200"/>
      </a:accent6>
      <a:hlink>
        <a:srgbClr val="00558C"/>
      </a:hlink>
      <a:folHlink>
        <a:srgbClr val="636669"/>
      </a:folHlink>
    </a:clrScheme>
    <a:fontScheme name="University of Iowa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508d77-5234-4dc4-a286-4ae4c9d349e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A04F62C455FF4DAA3519D26B9045B8" ma:contentTypeVersion="18" ma:contentTypeDescription="Create a new document." ma:contentTypeScope="" ma:versionID="67107b62173fe4461d23b2530e5f303d">
  <xsd:schema xmlns:xsd="http://www.w3.org/2001/XMLSchema" xmlns:xs="http://www.w3.org/2001/XMLSchema" xmlns:p="http://schemas.microsoft.com/office/2006/metadata/properties" xmlns:ns3="51508d77-5234-4dc4-a286-4ae4c9d349ea" xmlns:ns4="dc196e29-963a-419b-96b7-986ed0fb11b1" targetNamespace="http://schemas.microsoft.com/office/2006/metadata/properties" ma:root="true" ma:fieldsID="b6a8d05dafcc3f2edc93078eb0c718cb" ns3:_="" ns4:_="">
    <xsd:import namespace="51508d77-5234-4dc4-a286-4ae4c9d349ea"/>
    <xsd:import namespace="dc196e29-963a-419b-96b7-986ed0fb11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508d77-5234-4dc4-a286-4ae4c9d349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196e29-963a-419b-96b7-986ed0fb11b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7FFD54-27B0-415C-8654-D843242BD071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terms/"/>
    <ds:schemaRef ds:uri="51508d77-5234-4dc4-a286-4ae4c9d349ea"/>
    <ds:schemaRef ds:uri="dc196e29-963a-419b-96b7-986ed0fb11b1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597162E-1F7C-4D28-90B3-BA67B494465C}">
  <ds:schemaRefs>
    <ds:schemaRef ds:uri="51508d77-5234-4dc4-a286-4ae4c9d349ea"/>
    <ds:schemaRef ds:uri="dc196e29-963a-419b-96b7-986ed0fb11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14B8143-C3D6-460D-830C-A8DBEE8551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1698</Words>
  <Application>Microsoft Office PowerPoint</Application>
  <PresentationFormat>Widescreen</PresentationFormat>
  <Paragraphs>345</Paragraphs>
  <Slides>57</Slides>
  <Notes>9</Notes>
  <HiddenSlides>10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Calibri</vt:lpstr>
      <vt:lpstr>Roboto</vt:lpstr>
      <vt:lpstr>Roboto Black</vt:lpstr>
      <vt:lpstr>Office Theme</vt:lpstr>
      <vt:lpstr>Building Safe &amp; Resource Efficient NN through architectural collapse</vt:lpstr>
      <vt:lpstr>The Big Picture</vt:lpstr>
      <vt:lpstr>One Problem, Four Parts</vt:lpstr>
      <vt:lpstr>Deployable Security</vt:lpstr>
      <vt:lpstr>Deployable Security</vt:lpstr>
      <vt:lpstr>PowerPoint Presentation</vt:lpstr>
      <vt:lpstr>PowerPoint Presentation</vt:lpstr>
      <vt:lpstr>PowerPoint Presentation</vt:lpstr>
      <vt:lpstr>Deployable Security</vt:lpstr>
      <vt:lpstr>PowerPoint Presentation</vt:lpstr>
      <vt:lpstr>PowerPoint Presentation</vt:lpstr>
      <vt:lpstr>PowerPoint Presentation</vt:lpstr>
      <vt:lpstr>Individual model adversarial attacks</vt:lpstr>
      <vt:lpstr>Increased Data Complexity </vt:lpstr>
      <vt:lpstr>Increased Data Complexity</vt:lpstr>
      <vt:lpstr>Individual model adversarial attacks</vt:lpstr>
      <vt:lpstr>Individual model adversarial attacks</vt:lpstr>
      <vt:lpstr>How much perturbation is required to poison a true label?</vt:lpstr>
      <vt:lpstr>PowerPoint Presentation</vt:lpstr>
      <vt:lpstr>How well does targeted poison transfer?</vt:lpstr>
      <vt:lpstr>Real world applications of untargeted attack</vt:lpstr>
      <vt:lpstr>What about untargeted attacks?</vt:lpstr>
      <vt:lpstr>One Problem, Four Parts</vt:lpstr>
      <vt:lpstr>Network Efficiency  </vt:lpstr>
      <vt:lpstr>Unstructured pruning with IMP</vt:lpstr>
      <vt:lpstr>PowerPoint Presentation</vt:lpstr>
      <vt:lpstr>Related Works</vt:lpstr>
      <vt:lpstr>PowerPoint Presentation</vt:lpstr>
      <vt:lpstr>Models/Datasets</vt:lpstr>
      <vt:lpstr>Preferential Pruning of Deep Layers</vt:lpstr>
      <vt:lpstr>Preferential Pruning of Deep Layers</vt:lpstr>
      <vt:lpstr>Persistence of Sparse Neurons</vt:lpstr>
      <vt:lpstr>Persistence of Sparse Neurons</vt:lpstr>
      <vt:lpstr>Stable Neuron-Level Sensitivity</vt:lpstr>
      <vt:lpstr>Preservation of Feature Representations</vt:lpstr>
      <vt:lpstr>Preservation of Feature Representations</vt:lpstr>
      <vt:lpstr>What internal changes occur when networks are pruned?</vt:lpstr>
      <vt:lpstr>What happens to the network after pruning?</vt:lpstr>
      <vt:lpstr>One Problem, Four Parts</vt:lpstr>
      <vt:lpstr>"Blind" Pruning vs. Structural Insight</vt:lpstr>
      <vt:lpstr>Zero-Shot Heuristic Profiling</vt:lpstr>
      <vt:lpstr>Layer-by-Layer Collapse</vt:lpstr>
      <vt:lpstr>Preliminary Results</vt:lpstr>
      <vt:lpstr>Activation Variance Heuristic</vt:lpstr>
      <vt:lpstr>Legacy Architectures</vt:lpstr>
      <vt:lpstr>VGG-16</vt:lpstr>
      <vt:lpstr>InceptionNet</vt:lpstr>
      <vt:lpstr>Legacy Architectures </vt:lpstr>
      <vt:lpstr>Resource Efficient Networks</vt:lpstr>
      <vt:lpstr>MobileNet </vt:lpstr>
      <vt:lpstr>MobileNet </vt:lpstr>
      <vt:lpstr>Key take aways</vt:lpstr>
      <vt:lpstr>One Problem, Four Parts</vt:lpstr>
      <vt:lpstr>Where are we?</vt:lpstr>
      <vt:lpstr>How Safe and Deployable are Resource Efficient Neural Network?</vt:lpstr>
      <vt:lpstr>Acknowledgements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jamil-gafur@uiowa.edu</dc:creator>
  <cp:lastModifiedBy>Gafur, Jamil</cp:lastModifiedBy>
  <cp:revision>318</cp:revision>
  <dcterms:created xsi:type="dcterms:W3CDTF">2020-01-21T18:13:39Z</dcterms:created>
  <dcterms:modified xsi:type="dcterms:W3CDTF">2026-02-04T17:34:33Z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0x01010086A04F62C455FF4DAA3519D26B9045B8</vt:lpwstr>
  </property>
</Properties>
</file>