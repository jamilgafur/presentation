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9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62"/>
  </p:notesMasterIdLst>
  <p:handoutMasterIdLst>
    <p:handoutMasterId r:id="rId63"/>
  </p:handoutMasterIdLst>
  <p:sldIdLst>
    <p:sldId id="258" r:id="rId5"/>
    <p:sldId id="259" r:id="rId6"/>
    <p:sldId id="319" r:id="rId7"/>
    <p:sldId id="353" r:id="rId8"/>
    <p:sldId id="326" r:id="rId9"/>
    <p:sldId id="371" r:id="rId10"/>
    <p:sldId id="370" r:id="rId11"/>
    <p:sldId id="380" r:id="rId12"/>
    <p:sldId id="331" r:id="rId13"/>
    <p:sldId id="372" r:id="rId14"/>
    <p:sldId id="405" r:id="rId15"/>
    <p:sldId id="333" r:id="rId16"/>
    <p:sldId id="368" r:id="rId17"/>
    <p:sldId id="345" r:id="rId18"/>
    <p:sldId id="369" r:id="rId19"/>
    <p:sldId id="377" r:id="rId20"/>
    <p:sldId id="348" r:id="rId21"/>
    <p:sldId id="378" r:id="rId22"/>
    <p:sldId id="335" r:id="rId23"/>
    <p:sldId id="379" r:id="rId24"/>
    <p:sldId id="336" r:id="rId25"/>
    <p:sldId id="349" r:id="rId26"/>
    <p:sldId id="363" r:id="rId27"/>
    <p:sldId id="352" r:id="rId28"/>
    <p:sldId id="301" r:id="rId29"/>
    <p:sldId id="357" r:id="rId30"/>
    <p:sldId id="307" r:id="rId31"/>
    <p:sldId id="351" r:id="rId32"/>
    <p:sldId id="299" r:id="rId33"/>
    <p:sldId id="269" r:id="rId34"/>
    <p:sldId id="406" r:id="rId35"/>
    <p:sldId id="271" r:id="rId36"/>
    <p:sldId id="407" r:id="rId37"/>
    <p:sldId id="273" r:id="rId38"/>
    <p:sldId id="275" r:id="rId39"/>
    <p:sldId id="408" r:id="rId40"/>
    <p:sldId id="300" r:id="rId41"/>
    <p:sldId id="277" r:id="rId42"/>
    <p:sldId id="362" r:id="rId43"/>
    <p:sldId id="381" r:id="rId44"/>
    <p:sldId id="355" r:id="rId45"/>
    <p:sldId id="321" r:id="rId46"/>
    <p:sldId id="400" r:id="rId47"/>
    <p:sldId id="403" r:id="rId48"/>
    <p:sldId id="401" r:id="rId49"/>
    <p:sldId id="409" r:id="rId50"/>
    <p:sldId id="410" r:id="rId51"/>
    <p:sldId id="402" r:id="rId52"/>
    <p:sldId id="413" r:id="rId53"/>
    <p:sldId id="414" r:id="rId54"/>
    <p:sldId id="417" r:id="rId55"/>
    <p:sldId id="415" r:id="rId56"/>
    <p:sldId id="364" r:id="rId57"/>
    <p:sldId id="416" r:id="rId58"/>
    <p:sldId id="361" r:id="rId59"/>
    <p:sldId id="317" r:id="rId60"/>
    <p:sldId id="358" r:id="rId6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1AF4FD65-B56A-46EE-992F-A05B2DE9ECB0}">
          <p14:sldIdLst>
            <p14:sldId id="258"/>
            <p14:sldId id="259"/>
            <p14:sldId id="319"/>
            <p14:sldId id="353"/>
          </p14:sldIdLst>
        </p14:section>
        <p14:section name="Are they Secure?" id="{FEB4BB09-A1B3-4A1C-8E7F-6E9D95AD0F38}">
          <p14:sldIdLst>
            <p14:sldId id="326"/>
            <p14:sldId id="371"/>
            <p14:sldId id="370"/>
            <p14:sldId id="380"/>
            <p14:sldId id="331"/>
            <p14:sldId id="372"/>
            <p14:sldId id="405"/>
            <p14:sldId id="333"/>
          </p14:sldIdLst>
        </p14:section>
        <p14:section name="Worth Using?" id="{2DDD8CBF-8B42-4B8D-8648-29FA16219D84}">
          <p14:sldIdLst>
            <p14:sldId id="368"/>
            <p14:sldId id="345"/>
            <p14:sldId id="369"/>
            <p14:sldId id="377"/>
            <p14:sldId id="348"/>
            <p14:sldId id="378"/>
            <p14:sldId id="335"/>
            <p14:sldId id="379"/>
            <p14:sldId id="336"/>
            <p14:sldId id="349"/>
            <p14:sldId id="363"/>
          </p14:sldIdLst>
        </p14:section>
        <p14:section name="Transition Efficiency" id="{04DA8483-9755-455B-9C5B-40F61BE7E07A}">
          <p14:sldIdLst>
            <p14:sldId id="352"/>
            <p14:sldId id="301"/>
            <p14:sldId id="357"/>
            <p14:sldId id="307"/>
          </p14:sldIdLst>
        </p14:section>
        <p14:section name="Efficiency" id="{6EC89208-4C02-467B-80DB-10C139ACA78F}">
          <p14:sldIdLst>
            <p14:sldId id="351"/>
            <p14:sldId id="299"/>
            <p14:sldId id="269"/>
            <p14:sldId id="406"/>
            <p14:sldId id="271"/>
            <p14:sldId id="407"/>
            <p14:sldId id="273"/>
            <p14:sldId id="275"/>
            <p14:sldId id="408"/>
            <p14:sldId id="300"/>
            <p14:sldId id="277"/>
            <p14:sldId id="362"/>
          </p14:sldIdLst>
        </p14:section>
        <p14:section name="Archit. Refrag" id="{6FB267D6-2996-44E3-8C8D-493EE7A02AA1}">
          <p14:sldIdLst>
            <p14:sldId id="381"/>
            <p14:sldId id="355"/>
            <p14:sldId id="321"/>
            <p14:sldId id="400"/>
            <p14:sldId id="403"/>
            <p14:sldId id="401"/>
            <p14:sldId id="409"/>
            <p14:sldId id="410"/>
            <p14:sldId id="402"/>
            <p14:sldId id="413"/>
            <p14:sldId id="414"/>
            <p14:sldId id="417"/>
            <p14:sldId id="415"/>
            <p14:sldId id="364"/>
            <p14:sldId id="416"/>
            <p14:sldId id="361"/>
          </p14:sldIdLst>
        </p14:section>
        <p14:section name="Future Work" id="{64143293-626A-411D-A007-CA9B47A713CA}">
          <p14:sldIdLst/>
        </p14:section>
        <p14:section name="Ending" id="{86AC351F-D819-4423-9D36-FDA2BDF268F4}">
          <p14:sldIdLst>
            <p14:sldId id="317"/>
            <p14:sldId id="35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B0F0"/>
    <a:srgbClr val="92D050"/>
    <a:srgbClr val="7030A0"/>
    <a:srgbClr val="FFFF00"/>
    <a:srgbClr val="FFC000"/>
    <a:srgbClr val="FF0000"/>
    <a:srgbClr val="000000"/>
    <a:srgbClr val="BFE0BA"/>
    <a:srgbClr val="FFCC66"/>
    <a:srgbClr val="FFCD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384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63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openxmlformats.org/officeDocument/2006/relationships/theme" Target="theme/theme1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presProps" Target="presProp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tableStyles" Target="tableStyles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4">
  <dgm:title val=""/>
  <dgm:desc val=""/>
  <dgm:catLst>
    <dgm:cat type="accent1" pri="11400"/>
  </dgm:catLst>
  <dgm:styleLbl name="node0">
    <dgm:fillClrLst meth="cycle">
      <a:schemeClr val="accent1">
        <a:shade val="6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cycle">
      <a:schemeClr val="accent1">
        <a:shade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cycle">
      <a:schemeClr val="accent1">
        <a:shade val="50000"/>
      </a:schemeClr>
      <a:schemeClr val="accent1">
        <a:tint val="55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/>
    <dgm:txEffectClrLst/>
  </dgm:styleLbl>
  <dgm:styleLbl name="lnNode1">
    <dgm:fillClrLst meth="cycle">
      <a:schemeClr val="accent1">
        <a:shade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cycle">
      <a:schemeClr val="accent1">
        <a:shade val="80000"/>
        <a:alpha val="50000"/>
      </a:schemeClr>
      <a:schemeClr val="accent1">
        <a:tint val="5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fg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bg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sibTrans1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tint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5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55000"/>
      </a:schemeClr>
    </dgm:fillClrLst>
    <dgm:linClrLst meth="repeat">
      <a:schemeClr val="accent1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55000"/>
      </a:schemeClr>
    </dgm:fillClrLst>
    <dgm:linClrLst meth="repeat">
      <a:schemeClr val="accent1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5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55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4">
  <dgm:title val=""/>
  <dgm:desc val=""/>
  <dgm:catLst>
    <dgm:cat type="accent1" pri="11400"/>
  </dgm:catLst>
  <dgm:styleLbl name="node0">
    <dgm:fillClrLst meth="cycle">
      <a:schemeClr val="accent1">
        <a:shade val="6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cycle">
      <a:schemeClr val="accent1">
        <a:shade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cycle">
      <a:schemeClr val="accent1">
        <a:shade val="50000"/>
      </a:schemeClr>
      <a:schemeClr val="accent1">
        <a:tint val="55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/>
    <dgm:txEffectClrLst/>
  </dgm:styleLbl>
  <dgm:styleLbl name="lnNode1">
    <dgm:fillClrLst meth="cycle">
      <a:schemeClr val="accent1">
        <a:shade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cycle">
      <a:schemeClr val="accent1">
        <a:shade val="80000"/>
        <a:alpha val="50000"/>
      </a:schemeClr>
      <a:schemeClr val="accent1">
        <a:tint val="5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fg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bg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sibTrans1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tint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5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55000"/>
      </a:schemeClr>
    </dgm:fillClrLst>
    <dgm:linClrLst meth="repeat">
      <a:schemeClr val="accent1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55000"/>
      </a:schemeClr>
    </dgm:fillClrLst>
    <dgm:linClrLst meth="repeat">
      <a:schemeClr val="accent1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5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55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4">
  <dgm:title val=""/>
  <dgm:desc val=""/>
  <dgm:catLst>
    <dgm:cat type="accent1" pri="11400"/>
  </dgm:catLst>
  <dgm:styleLbl name="node0">
    <dgm:fillClrLst meth="cycle">
      <a:schemeClr val="accent1">
        <a:shade val="6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cycle">
      <a:schemeClr val="accent1">
        <a:shade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cycle">
      <a:schemeClr val="accent1">
        <a:shade val="50000"/>
      </a:schemeClr>
      <a:schemeClr val="accent1">
        <a:tint val="55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/>
    <dgm:txEffectClrLst/>
  </dgm:styleLbl>
  <dgm:styleLbl name="lnNode1">
    <dgm:fillClrLst meth="cycle">
      <a:schemeClr val="accent1">
        <a:shade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cycle">
      <a:schemeClr val="accent1">
        <a:shade val="80000"/>
        <a:alpha val="50000"/>
      </a:schemeClr>
      <a:schemeClr val="accent1">
        <a:tint val="5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fg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bg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sibTrans1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tint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5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55000"/>
      </a:schemeClr>
    </dgm:fillClrLst>
    <dgm:linClrLst meth="repeat">
      <a:schemeClr val="accent1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55000"/>
      </a:schemeClr>
    </dgm:fillClrLst>
    <dgm:linClrLst meth="repeat">
      <a:schemeClr val="accent1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5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55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4">
  <dgm:title val=""/>
  <dgm:desc val=""/>
  <dgm:catLst>
    <dgm:cat type="accent1" pri="11400"/>
  </dgm:catLst>
  <dgm:styleLbl name="node0">
    <dgm:fillClrLst meth="cycle">
      <a:schemeClr val="accent1">
        <a:shade val="6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cycle">
      <a:schemeClr val="accent1">
        <a:shade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cycle">
      <a:schemeClr val="accent1">
        <a:shade val="50000"/>
      </a:schemeClr>
      <a:schemeClr val="accent1">
        <a:tint val="55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/>
    <dgm:txEffectClrLst/>
  </dgm:styleLbl>
  <dgm:styleLbl name="lnNode1">
    <dgm:fillClrLst meth="cycle">
      <a:schemeClr val="accent1">
        <a:shade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cycle">
      <a:schemeClr val="accent1">
        <a:shade val="80000"/>
        <a:alpha val="50000"/>
      </a:schemeClr>
      <a:schemeClr val="accent1">
        <a:tint val="5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fg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bg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sibTrans1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tint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5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55000"/>
      </a:schemeClr>
    </dgm:fillClrLst>
    <dgm:linClrLst meth="repeat">
      <a:schemeClr val="accent1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55000"/>
      </a:schemeClr>
    </dgm:fillClrLst>
    <dgm:linClrLst meth="repeat">
      <a:schemeClr val="accent1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5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55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75B1501-7C65-4EF5-AE82-50EE552C1108}" type="doc">
      <dgm:prSet loTypeId="urn:microsoft.com/office/officeart/2005/8/layout/process1" loCatId="process" qsTypeId="urn:microsoft.com/office/officeart/2005/8/quickstyle/3d1" qsCatId="3D" csTypeId="urn:microsoft.com/office/officeart/2005/8/colors/accent1_4" csCatId="accent1" phldr="1"/>
      <dgm:spPr/>
      <dgm:t>
        <a:bodyPr/>
        <a:lstStyle/>
        <a:p>
          <a:endParaRPr lang="en-US"/>
        </a:p>
      </dgm:t>
    </dgm:pt>
    <dgm:pt modelId="{09D1983D-2B2E-49E5-853E-36EB44AFB8E7}">
      <dgm:prSet phldrT="[Text]" phldr="0"/>
      <dgm:spPr/>
      <dgm:t>
        <a:bodyPr/>
        <a:lstStyle/>
        <a:p>
          <a:r>
            <a:rPr lang="en-US"/>
            <a:t>Deployable Security</a:t>
          </a:r>
        </a:p>
      </dgm:t>
    </dgm:pt>
    <dgm:pt modelId="{D8C7FA24-59C9-4683-AB74-F819E48B9D37}" type="parTrans" cxnId="{BE3B5300-44C3-446B-A9AA-6F48A013B9E1}">
      <dgm:prSet/>
      <dgm:spPr/>
      <dgm:t>
        <a:bodyPr/>
        <a:lstStyle/>
        <a:p>
          <a:endParaRPr lang="en-US"/>
        </a:p>
      </dgm:t>
    </dgm:pt>
    <dgm:pt modelId="{2C758FFC-CB20-43D2-BB71-7C1F282DDD88}" type="sibTrans" cxnId="{BE3B5300-44C3-446B-A9AA-6F48A013B9E1}">
      <dgm:prSet/>
      <dgm:spPr/>
      <dgm:t>
        <a:bodyPr/>
        <a:lstStyle/>
        <a:p>
          <a:endParaRPr lang="en-US"/>
        </a:p>
      </dgm:t>
    </dgm:pt>
    <dgm:pt modelId="{D0B3FAFC-C43B-4BB4-A4C9-853321BB972D}">
      <dgm:prSet phldrT="[Text]" phldr="0"/>
      <dgm:spPr/>
      <dgm:t>
        <a:bodyPr/>
        <a:lstStyle/>
        <a:p>
          <a:r>
            <a:rPr lang="en-US"/>
            <a:t>Network Efficiency</a:t>
          </a:r>
        </a:p>
      </dgm:t>
    </dgm:pt>
    <dgm:pt modelId="{458CEF5C-ADDC-4573-B0EC-F179196F6892}" type="parTrans" cxnId="{F28FE123-A159-4183-9673-FE107DC96BB5}">
      <dgm:prSet/>
      <dgm:spPr/>
      <dgm:t>
        <a:bodyPr/>
        <a:lstStyle/>
        <a:p>
          <a:endParaRPr lang="en-US"/>
        </a:p>
      </dgm:t>
    </dgm:pt>
    <dgm:pt modelId="{9920BC66-BA85-4F49-AFF1-DD4691C51D48}" type="sibTrans" cxnId="{F28FE123-A159-4183-9673-FE107DC96BB5}">
      <dgm:prSet/>
      <dgm:spPr/>
      <dgm:t>
        <a:bodyPr/>
        <a:lstStyle/>
        <a:p>
          <a:endParaRPr lang="en-US"/>
        </a:p>
      </dgm:t>
    </dgm:pt>
    <dgm:pt modelId="{07578C2E-6DC7-4CA3-A071-11A7BBFA3DCE}">
      <dgm:prSet phldrT="[Text]" phldr="0"/>
      <dgm:spPr/>
      <dgm:t>
        <a:bodyPr/>
        <a:lstStyle/>
        <a:p>
          <a:r>
            <a:rPr lang="en-US"/>
            <a:t>Architectural Optimization</a:t>
          </a:r>
        </a:p>
      </dgm:t>
    </dgm:pt>
    <dgm:pt modelId="{CD660AFE-C535-47CB-B25D-26F96F55D85C}" type="parTrans" cxnId="{5FA054CF-F2AB-40B8-B579-84030EFD5302}">
      <dgm:prSet/>
      <dgm:spPr/>
      <dgm:t>
        <a:bodyPr/>
        <a:lstStyle/>
        <a:p>
          <a:endParaRPr lang="en-US"/>
        </a:p>
      </dgm:t>
    </dgm:pt>
    <dgm:pt modelId="{C54B13E0-AB6F-4020-9380-B6461CC5D779}" type="sibTrans" cxnId="{5FA054CF-F2AB-40B8-B579-84030EFD5302}">
      <dgm:prSet/>
      <dgm:spPr/>
      <dgm:t>
        <a:bodyPr/>
        <a:lstStyle/>
        <a:p>
          <a:endParaRPr lang="en-US"/>
        </a:p>
      </dgm:t>
    </dgm:pt>
    <dgm:pt modelId="{95236E51-4B0F-4734-905D-2842E145ADEA}">
      <dgm:prSet phldrT="[Text]" phldr="0"/>
      <dgm:spPr/>
      <dgm:t>
        <a:bodyPr/>
        <a:lstStyle/>
        <a:p>
          <a:r>
            <a:rPr lang="en-US"/>
            <a:t>Future Work</a:t>
          </a:r>
        </a:p>
      </dgm:t>
    </dgm:pt>
    <dgm:pt modelId="{569DB4D0-4AA5-45CC-921D-EFAAA1FEDC55}" type="parTrans" cxnId="{48BAE678-801C-4D63-BB55-58BC4FB48743}">
      <dgm:prSet/>
      <dgm:spPr/>
      <dgm:t>
        <a:bodyPr/>
        <a:lstStyle/>
        <a:p>
          <a:endParaRPr lang="en-US"/>
        </a:p>
      </dgm:t>
    </dgm:pt>
    <dgm:pt modelId="{67CEDC2A-7AAA-45A0-ABB5-08D535E6F47B}" type="sibTrans" cxnId="{48BAE678-801C-4D63-BB55-58BC4FB48743}">
      <dgm:prSet/>
      <dgm:spPr/>
      <dgm:t>
        <a:bodyPr/>
        <a:lstStyle/>
        <a:p>
          <a:endParaRPr lang="en-US"/>
        </a:p>
      </dgm:t>
    </dgm:pt>
    <dgm:pt modelId="{9C5775D3-90B6-46E8-A44B-5195EB64D900}" type="pres">
      <dgm:prSet presAssocID="{575B1501-7C65-4EF5-AE82-50EE552C1108}" presName="Name0" presStyleCnt="0">
        <dgm:presLayoutVars>
          <dgm:dir/>
          <dgm:resizeHandles val="exact"/>
        </dgm:presLayoutVars>
      </dgm:prSet>
      <dgm:spPr/>
    </dgm:pt>
    <dgm:pt modelId="{538315C9-6D76-4060-B8A7-B6FB9BD08497}" type="pres">
      <dgm:prSet presAssocID="{09D1983D-2B2E-49E5-853E-36EB44AFB8E7}" presName="node" presStyleLbl="node1" presStyleIdx="0" presStyleCnt="4">
        <dgm:presLayoutVars>
          <dgm:bulletEnabled val="1"/>
        </dgm:presLayoutVars>
      </dgm:prSet>
      <dgm:spPr/>
    </dgm:pt>
    <dgm:pt modelId="{F57A8BCC-CB34-4FE8-A94C-94C62D3C06D7}" type="pres">
      <dgm:prSet presAssocID="{2C758FFC-CB20-43D2-BB71-7C1F282DDD88}" presName="sibTrans" presStyleLbl="sibTrans2D1" presStyleIdx="0" presStyleCnt="3"/>
      <dgm:spPr/>
    </dgm:pt>
    <dgm:pt modelId="{DF24C9AD-2C45-46C7-A8FE-A26F9658C36B}" type="pres">
      <dgm:prSet presAssocID="{2C758FFC-CB20-43D2-BB71-7C1F282DDD88}" presName="connectorText" presStyleLbl="sibTrans2D1" presStyleIdx="0" presStyleCnt="3"/>
      <dgm:spPr/>
    </dgm:pt>
    <dgm:pt modelId="{B1808118-423F-4693-AF53-B5655E0604C2}" type="pres">
      <dgm:prSet presAssocID="{D0B3FAFC-C43B-4BB4-A4C9-853321BB972D}" presName="node" presStyleLbl="node1" presStyleIdx="1" presStyleCnt="4">
        <dgm:presLayoutVars>
          <dgm:bulletEnabled val="1"/>
        </dgm:presLayoutVars>
      </dgm:prSet>
      <dgm:spPr/>
    </dgm:pt>
    <dgm:pt modelId="{0307ECB9-61A7-4828-AA94-720E853314F0}" type="pres">
      <dgm:prSet presAssocID="{9920BC66-BA85-4F49-AFF1-DD4691C51D48}" presName="sibTrans" presStyleLbl="sibTrans2D1" presStyleIdx="1" presStyleCnt="3"/>
      <dgm:spPr/>
    </dgm:pt>
    <dgm:pt modelId="{3E75827D-019B-495F-8C78-556A9BBF4E7D}" type="pres">
      <dgm:prSet presAssocID="{9920BC66-BA85-4F49-AFF1-DD4691C51D48}" presName="connectorText" presStyleLbl="sibTrans2D1" presStyleIdx="1" presStyleCnt="3"/>
      <dgm:spPr/>
    </dgm:pt>
    <dgm:pt modelId="{1AA0B888-292D-4274-8A3D-9E8C27899190}" type="pres">
      <dgm:prSet presAssocID="{07578C2E-6DC7-4CA3-A071-11A7BBFA3DCE}" presName="node" presStyleLbl="node1" presStyleIdx="2" presStyleCnt="4">
        <dgm:presLayoutVars>
          <dgm:bulletEnabled val="1"/>
        </dgm:presLayoutVars>
      </dgm:prSet>
      <dgm:spPr/>
    </dgm:pt>
    <dgm:pt modelId="{D2A63571-318F-4139-8556-82357F40DFAC}" type="pres">
      <dgm:prSet presAssocID="{C54B13E0-AB6F-4020-9380-B6461CC5D779}" presName="sibTrans" presStyleLbl="sibTrans2D1" presStyleIdx="2" presStyleCnt="3"/>
      <dgm:spPr/>
    </dgm:pt>
    <dgm:pt modelId="{A27EEDD7-9557-4B8C-AF7C-2ADDC83FC642}" type="pres">
      <dgm:prSet presAssocID="{C54B13E0-AB6F-4020-9380-B6461CC5D779}" presName="connectorText" presStyleLbl="sibTrans2D1" presStyleIdx="2" presStyleCnt="3"/>
      <dgm:spPr/>
    </dgm:pt>
    <dgm:pt modelId="{BB1861F2-0922-470C-BB55-F2B07E559658}" type="pres">
      <dgm:prSet presAssocID="{95236E51-4B0F-4734-905D-2842E145ADEA}" presName="node" presStyleLbl="node1" presStyleIdx="3" presStyleCnt="4">
        <dgm:presLayoutVars>
          <dgm:bulletEnabled val="1"/>
        </dgm:presLayoutVars>
      </dgm:prSet>
      <dgm:spPr/>
    </dgm:pt>
  </dgm:ptLst>
  <dgm:cxnLst>
    <dgm:cxn modelId="{BE3B5300-44C3-446B-A9AA-6F48A013B9E1}" srcId="{575B1501-7C65-4EF5-AE82-50EE552C1108}" destId="{09D1983D-2B2E-49E5-853E-36EB44AFB8E7}" srcOrd="0" destOrd="0" parTransId="{D8C7FA24-59C9-4683-AB74-F819E48B9D37}" sibTransId="{2C758FFC-CB20-43D2-BB71-7C1F282DDD88}"/>
    <dgm:cxn modelId="{F28FE123-A159-4183-9673-FE107DC96BB5}" srcId="{575B1501-7C65-4EF5-AE82-50EE552C1108}" destId="{D0B3FAFC-C43B-4BB4-A4C9-853321BB972D}" srcOrd="1" destOrd="0" parTransId="{458CEF5C-ADDC-4573-B0EC-F179196F6892}" sibTransId="{9920BC66-BA85-4F49-AFF1-DD4691C51D48}"/>
    <dgm:cxn modelId="{8798102A-8B4A-453D-BA9F-D7F2F8C01515}" type="presOf" srcId="{C54B13E0-AB6F-4020-9380-B6461CC5D779}" destId="{D2A63571-318F-4139-8556-82357F40DFAC}" srcOrd="0" destOrd="0" presId="urn:microsoft.com/office/officeart/2005/8/layout/process1"/>
    <dgm:cxn modelId="{9EF3E52E-6AE8-4927-ABA7-2351EB24C79E}" type="presOf" srcId="{575B1501-7C65-4EF5-AE82-50EE552C1108}" destId="{9C5775D3-90B6-46E8-A44B-5195EB64D900}" srcOrd="0" destOrd="0" presId="urn:microsoft.com/office/officeart/2005/8/layout/process1"/>
    <dgm:cxn modelId="{3274C835-2420-4A55-B85F-687B2DB4D662}" type="presOf" srcId="{2C758FFC-CB20-43D2-BB71-7C1F282DDD88}" destId="{DF24C9AD-2C45-46C7-A8FE-A26F9658C36B}" srcOrd="1" destOrd="0" presId="urn:microsoft.com/office/officeart/2005/8/layout/process1"/>
    <dgm:cxn modelId="{F0227E6B-6B86-490D-8A8B-FCA39632A574}" type="presOf" srcId="{2C758FFC-CB20-43D2-BB71-7C1F282DDD88}" destId="{F57A8BCC-CB34-4FE8-A94C-94C62D3C06D7}" srcOrd="0" destOrd="0" presId="urn:microsoft.com/office/officeart/2005/8/layout/process1"/>
    <dgm:cxn modelId="{48BAE678-801C-4D63-BB55-58BC4FB48743}" srcId="{575B1501-7C65-4EF5-AE82-50EE552C1108}" destId="{95236E51-4B0F-4734-905D-2842E145ADEA}" srcOrd="3" destOrd="0" parTransId="{569DB4D0-4AA5-45CC-921D-EFAAA1FEDC55}" sibTransId="{67CEDC2A-7AAA-45A0-ABB5-08D535E6F47B}"/>
    <dgm:cxn modelId="{D6C81488-0634-42D7-8777-D4CCF77C7897}" type="presOf" srcId="{D0B3FAFC-C43B-4BB4-A4C9-853321BB972D}" destId="{B1808118-423F-4693-AF53-B5655E0604C2}" srcOrd="0" destOrd="0" presId="urn:microsoft.com/office/officeart/2005/8/layout/process1"/>
    <dgm:cxn modelId="{6391959A-EDF1-4252-BA9D-B2ABEFE6C0D8}" type="presOf" srcId="{07578C2E-6DC7-4CA3-A071-11A7BBFA3DCE}" destId="{1AA0B888-292D-4274-8A3D-9E8C27899190}" srcOrd="0" destOrd="0" presId="urn:microsoft.com/office/officeart/2005/8/layout/process1"/>
    <dgm:cxn modelId="{25BFA8B2-2272-4FC3-B7AE-693479BD2BA9}" type="presOf" srcId="{95236E51-4B0F-4734-905D-2842E145ADEA}" destId="{BB1861F2-0922-470C-BB55-F2B07E559658}" srcOrd="0" destOrd="0" presId="urn:microsoft.com/office/officeart/2005/8/layout/process1"/>
    <dgm:cxn modelId="{F76CABBE-DB5F-41C7-A36F-0935C449FB54}" type="presOf" srcId="{C54B13E0-AB6F-4020-9380-B6461CC5D779}" destId="{A27EEDD7-9557-4B8C-AF7C-2ADDC83FC642}" srcOrd="1" destOrd="0" presId="urn:microsoft.com/office/officeart/2005/8/layout/process1"/>
    <dgm:cxn modelId="{0D64BAC4-987E-4E26-B8B8-4D939021D6FE}" type="presOf" srcId="{09D1983D-2B2E-49E5-853E-36EB44AFB8E7}" destId="{538315C9-6D76-4060-B8A7-B6FB9BD08497}" srcOrd="0" destOrd="0" presId="urn:microsoft.com/office/officeart/2005/8/layout/process1"/>
    <dgm:cxn modelId="{E42995C6-A34E-4120-8E69-B92091A30737}" type="presOf" srcId="{9920BC66-BA85-4F49-AFF1-DD4691C51D48}" destId="{0307ECB9-61A7-4828-AA94-720E853314F0}" srcOrd="0" destOrd="0" presId="urn:microsoft.com/office/officeart/2005/8/layout/process1"/>
    <dgm:cxn modelId="{5FA054CF-F2AB-40B8-B579-84030EFD5302}" srcId="{575B1501-7C65-4EF5-AE82-50EE552C1108}" destId="{07578C2E-6DC7-4CA3-A071-11A7BBFA3DCE}" srcOrd="2" destOrd="0" parTransId="{CD660AFE-C535-47CB-B25D-26F96F55D85C}" sibTransId="{C54B13E0-AB6F-4020-9380-B6461CC5D779}"/>
    <dgm:cxn modelId="{A5320DFD-E496-489B-AF3A-201EA8FFECB3}" type="presOf" srcId="{9920BC66-BA85-4F49-AFF1-DD4691C51D48}" destId="{3E75827D-019B-495F-8C78-556A9BBF4E7D}" srcOrd="1" destOrd="0" presId="urn:microsoft.com/office/officeart/2005/8/layout/process1"/>
    <dgm:cxn modelId="{2BF2A9BB-1F1D-42CC-B658-2A792A91B837}" type="presParOf" srcId="{9C5775D3-90B6-46E8-A44B-5195EB64D900}" destId="{538315C9-6D76-4060-B8A7-B6FB9BD08497}" srcOrd="0" destOrd="0" presId="urn:microsoft.com/office/officeart/2005/8/layout/process1"/>
    <dgm:cxn modelId="{BACFB7E1-0194-442E-ADB9-BEE2F6B63D04}" type="presParOf" srcId="{9C5775D3-90B6-46E8-A44B-5195EB64D900}" destId="{F57A8BCC-CB34-4FE8-A94C-94C62D3C06D7}" srcOrd="1" destOrd="0" presId="urn:microsoft.com/office/officeart/2005/8/layout/process1"/>
    <dgm:cxn modelId="{DF17C1BA-C91F-4DC1-92B4-A595F95566A2}" type="presParOf" srcId="{F57A8BCC-CB34-4FE8-A94C-94C62D3C06D7}" destId="{DF24C9AD-2C45-46C7-A8FE-A26F9658C36B}" srcOrd="0" destOrd="0" presId="urn:microsoft.com/office/officeart/2005/8/layout/process1"/>
    <dgm:cxn modelId="{FD238F57-43CB-4D1B-ABC8-E3B852D80967}" type="presParOf" srcId="{9C5775D3-90B6-46E8-A44B-5195EB64D900}" destId="{B1808118-423F-4693-AF53-B5655E0604C2}" srcOrd="2" destOrd="0" presId="urn:microsoft.com/office/officeart/2005/8/layout/process1"/>
    <dgm:cxn modelId="{59F7D5FE-29F8-4C90-8250-7E2A04958F99}" type="presParOf" srcId="{9C5775D3-90B6-46E8-A44B-5195EB64D900}" destId="{0307ECB9-61A7-4828-AA94-720E853314F0}" srcOrd="3" destOrd="0" presId="urn:microsoft.com/office/officeart/2005/8/layout/process1"/>
    <dgm:cxn modelId="{E3F10C98-D610-46F9-B1CB-4424BE191773}" type="presParOf" srcId="{0307ECB9-61A7-4828-AA94-720E853314F0}" destId="{3E75827D-019B-495F-8C78-556A9BBF4E7D}" srcOrd="0" destOrd="0" presId="urn:microsoft.com/office/officeart/2005/8/layout/process1"/>
    <dgm:cxn modelId="{A28167B1-4FC6-4AAA-9EDE-FEBC06F561B2}" type="presParOf" srcId="{9C5775D3-90B6-46E8-A44B-5195EB64D900}" destId="{1AA0B888-292D-4274-8A3D-9E8C27899190}" srcOrd="4" destOrd="0" presId="urn:microsoft.com/office/officeart/2005/8/layout/process1"/>
    <dgm:cxn modelId="{E379997D-DF90-44E3-B3F4-22CFB7B2C305}" type="presParOf" srcId="{9C5775D3-90B6-46E8-A44B-5195EB64D900}" destId="{D2A63571-318F-4139-8556-82357F40DFAC}" srcOrd="5" destOrd="0" presId="urn:microsoft.com/office/officeart/2005/8/layout/process1"/>
    <dgm:cxn modelId="{591C59B7-628D-456E-8C5E-CC0F73E6DF47}" type="presParOf" srcId="{D2A63571-318F-4139-8556-82357F40DFAC}" destId="{A27EEDD7-9557-4B8C-AF7C-2ADDC83FC642}" srcOrd="0" destOrd="0" presId="urn:microsoft.com/office/officeart/2005/8/layout/process1"/>
    <dgm:cxn modelId="{5A3E03A4-E2BF-4A76-9CA1-E8B26229B269}" type="presParOf" srcId="{9C5775D3-90B6-46E8-A44B-5195EB64D900}" destId="{BB1861F2-0922-470C-BB55-F2B07E559658}" srcOrd="6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75B1501-7C65-4EF5-AE82-50EE552C1108}" type="doc">
      <dgm:prSet loTypeId="urn:microsoft.com/office/officeart/2005/8/layout/process1" loCatId="process" qsTypeId="urn:microsoft.com/office/officeart/2005/8/quickstyle/3d1" qsCatId="3D" csTypeId="urn:microsoft.com/office/officeart/2005/8/colors/accent1_4" csCatId="accent1" phldr="1"/>
      <dgm:spPr/>
      <dgm:t>
        <a:bodyPr/>
        <a:lstStyle/>
        <a:p>
          <a:endParaRPr lang="en-US"/>
        </a:p>
      </dgm:t>
    </dgm:pt>
    <dgm:pt modelId="{09D1983D-2B2E-49E5-853E-36EB44AFB8E7}">
      <dgm:prSet phldrT="[Text]" phldr="0"/>
      <dgm:spPr/>
      <dgm:t>
        <a:bodyPr/>
        <a:lstStyle/>
        <a:p>
          <a:r>
            <a:rPr lang="en-US"/>
            <a:t>Deployable Security</a:t>
          </a:r>
        </a:p>
      </dgm:t>
    </dgm:pt>
    <dgm:pt modelId="{D8C7FA24-59C9-4683-AB74-F819E48B9D37}" type="parTrans" cxnId="{BE3B5300-44C3-446B-A9AA-6F48A013B9E1}">
      <dgm:prSet/>
      <dgm:spPr/>
      <dgm:t>
        <a:bodyPr/>
        <a:lstStyle/>
        <a:p>
          <a:endParaRPr lang="en-US"/>
        </a:p>
      </dgm:t>
    </dgm:pt>
    <dgm:pt modelId="{2C758FFC-CB20-43D2-BB71-7C1F282DDD88}" type="sibTrans" cxnId="{BE3B5300-44C3-446B-A9AA-6F48A013B9E1}">
      <dgm:prSet/>
      <dgm:spPr/>
      <dgm:t>
        <a:bodyPr/>
        <a:lstStyle/>
        <a:p>
          <a:endParaRPr lang="en-US"/>
        </a:p>
      </dgm:t>
    </dgm:pt>
    <dgm:pt modelId="{D0B3FAFC-C43B-4BB4-A4C9-853321BB972D}">
      <dgm:prSet phldrT="[Text]" phldr="0"/>
      <dgm:spPr/>
      <dgm:t>
        <a:bodyPr/>
        <a:lstStyle/>
        <a:p>
          <a:r>
            <a:rPr lang="en-US"/>
            <a:t>Network Efficiency</a:t>
          </a:r>
        </a:p>
      </dgm:t>
    </dgm:pt>
    <dgm:pt modelId="{458CEF5C-ADDC-4573-B0EC-F179196F6892}" type="parTrans" cxnId="{F28FE123-A159-4183-9673-FE107DC96BB5}">
      <dgm:prSet/>
      <dgm:spPr/>
      <dgm:t>
        <a:bodyPr/>
        <a:lstStyle/>
        <a:p>
          <a:endParaRPr lang="en-US"/>
        </a:p>
      </dgm:t>
    </dgm:pt>
    <dgm:pt modelId="{9920BC66-BA85-4F49-AFF1-DD4691C51D48}" type="sibTrans" cxnId="{F28FE123-A159-4183-9673-FE107DC96BB5}">
      <dgm:prSet/>
      <dgm:spPr/>
      <dgm:t>
        <a:bodyPr/>
        <a:lstStyle/>
        <a:p>
          <a:endParaRPr lang="en-US"/>
        </a:p>
      </dgm:t>
    </dgm:pt>
    <dgm:pt modelId="{07578C2E-6DC7-4CA3-A071-11A7BBFA3DCE}">
      <dgm:prSet phldrT="[Text]" phldr="0"/>
      <dgm:spPr/>
      <dgm:t>
        <a:bodyPr/>
        <a:lstStyle/>
        <a:p>
          <a:r>
            <a:rPr lang="en-US"/>
            <a:t>Architectural Optimization</a:t>
          </a:r>
        </a:p>
      </dgm:t>
    </dgm:pt>
    <dgm:pt modelId="{CD660AFE-C535-47CB-B25D-26F96F55D85C}" type="parTrans" cxnId="{5FA054CF-F2AB-40B8-B579-84030EFD5302}">
      <dgm:prSet/>
      <dgm:spPr/>
      <dgm:t>
        <a:bodyPr/>
        <a:lstStyle/>
        <a:p>
          <a:endParaRPr lang="en-US"/>
        </a:p>
      </dgm:t>
    </dgm:pt>
    <dgm:pt modelId="{C54B13E0-AB6F-4020-9380-B6461CC5D779}" type="sibTrans" cxnId="{5FA054CF-F2AB-40B8-B579-84030EFD5302}">
      <dgm:prSet/>
      <dgm:spPr/>
      <dgm:t>
        <a:bodyPr/>
        <a:lstStyle/>
        <a:p>
          <a:endParaRPr lang="en-US"/>
        </a:p>
      </dgm:t>
    </dgm:pt>
    <dgm:pt modelId="{95236E51-4B0F-4734-905D-2842E145ADEA}">
      <dgm:prSet phldrT="[Text]" phldr="0"/>
      <dgm:spPr/>
      <dgm:t>
        <a:bodyPr/>
        <a:lstStyle/>
        <a:p>
          <a:r>
            <a:rPr lang="en-US"/>
            <a:t>Future Work</a:t>
          </a:r>
        </a:p>
      </dgm:t>
    </dgm:pt>
    <dgm:pt modelId="{569DB4D0-4AA5-45CC-921D-EFAAA1FEDC55}" type="parTrans" cxnId="{48BAE678-801C-4D63-BB55-58BC4FB48743}">
      <dgm:prSet/>
      <dgm:spPr/>
      <dgm:t>
        <a:bodyPr/>
        <a:lstStyle/>
        <a:p>
          <a:endParaRPr lang="en-US"/>
        </a:p>
      </dgm:t>
    </dgm:pt>
    <dgm:pt modelId="{67CEDC2A-7AAA-45A0-ABB5-08D535E6F47B}" type="sibTrans" cxnId="{48BAE678-801C-4D63-BB55-58BC4FB48743}">
      <dgm:prSet/>
      <dgm:spPr/>
      <dgm:t>
        <a:bodyPr/>
        <a:lstStyle/>
        <a:p>
          <a:endParaRPr lang="en-US"/>
        </a:p>
      </dgm:t>
    </dgm:pt>
    <dgm:pt modelId="{9C5775D3-90B6-46E8-A44B-5195EB64D900}" type="pres">
      <dgm:prSet presAssocID="{575B1501-7C65-4EF5-AE82-50EE552C1108}" presName="Name0" presStyleCnt="0">
        <dgm:presLayoutVars>
          <dgm:dir/>
          <dgm:resizeHandles val="exact"/>
        </dgm:presLayoutVars>
      </dgm:prSet>
      <dgm:spPr/>
    </dgm:pt>
    <dgm:pt modelId="{538315C9-6D76-4060-B8A7-B6FB9BD08497}" type="pres">
      <dgm:prSet presAssocID="{09D1983D-2B2E-49E5-853E-36EB44AFB8E7}" presName="node" presStyleLbl="node1" presStyleIdx="0" presStyleCnt="4">
        <dgm:presLayoutVars>
          <dgm:bulletEnabled val="1"/>
        </dgm:presLayoutVars>
      </dgm:prSet>
      <dgm:spPr/>
    </dgm:pt>
    <dgm:pt modelId="{F57A8BCC-CB34-4FE8-A94C-94C62D3C06D7}" type="pres">
      <dgm:prSet presAssocID="{2C758FFC-CB20-43D2-BB71-7C1F282DDD88}" presName="sibTrans" presStyleLbl="sibTrans2D1" presStyleIdx="0" presStyleCnt="3"/>
      <dgm:spPr/>
    </dgm:pt>
    <dgm:pt modelId="{DF24C9AD-2C45-46C7-A8FE-A26F9658C36B}" type="pres">
      <dgm:prSet presAssocID="{2C758FFC-CB20-43D2-BB71-7C1F282DDD88}" presName="connectorText" presStyleLbl="sibTrans2D1" presStyleIdx="0" presStyleCnt="3"/>
      <dgm:spPr/>
    </dgm:pt>
    <dgm:pt modelId="{B1808118-423F-4693-AF53-B5655E0604C2}" type="pres">
      <dgm:prSet presAssocID="{D0B3FAFC-C43B-4BB4-A4C9-853321BB972D}" presName="node" presStyleLbl="node1" presStyleIdx="1" presStyleCnt="4">
        <dgm:presLayoutVars>
          <dgm:bulletEnabled val="1"/>
        </dgm:presLayoutVars>
      </dgm:prSet>
      <dgm:spPr/>
    </dgm:pt>
    <dgm:pt modelId="{0307ECB9-61A7-4828-AA94-720E853314F0}" type="pres">
      <dgm:prSet presAssocID="{9920BC66-BA85-4F49-AFF1-DD4691C51D48}" presName="sibTrans" presStyleLbl="sibTrans2D1" presStyleIdx="1" presStyleCnt="3"/>
      <dgm:spPr/>
    </dgm:pt>
    <dgm:pt modelId="{3E75827D-019B-495F-8C78-556A9BBF4E7D}" type="pres">
      <dgm:prSet presAssocID="{9920BC66-BA85-4F49-AFF1-DD4691C51D48}" presName="connectorText" presStyleLbl="sibTrans2D1" presStyleIdx="1" presStyleCnt="3"/>
      <dgm:spPr/>
    </dgm:pt>
    <dgm:pt modelId="{1AA0B888-292D-4274-8A3D-9E8C27899190}" type="pres">
      <dgm:prSet presAssocID="{07578C2E-6DC7-4CA3-A071-11A7BBFA3DCE}" presName="node" presStyleLbl="node1" presStyleIdx="2" presStyleCnt="4">
        <dgm:presLayoutVars>
          <dgm:bulletEnabled val="1"/>
        </dgm:presLayoutVars>
      </dgm:prSet>
      <dgm:spPr/>
    </dgm:pt>
    <dgm:pt modelId="{D2A63571-318F-4139-8556-82357F40DFAC}" type="pres">
      <dgm:prSet presAssocID="{C54B13E0-AB6F-4020-9380-B6461CC5D779}" presName="sibTrans" presStyleLbl="sibTrans2D1" presStyleIdx="2" presStyleCnt="3"/>
      <dgm:spPr/>
    </dgm:pt>
    <dgm:pt modelId="{A27EEDD7-9557-4B8C-AF7C-2ADDC83FC642}" type="pres">
      <dgm:prSet presAssocID="{C54B13E0-AB6F-4020-9380-B6461CC5D779}" presName="connectorText" presStyleLbl="sibTrans2D1" presStyleIdx="2" presStyleCnt="3"/>
      <dgm:spPr/>
    </dgm:pt>
    <dgm:pt modelId="{BB1861F2-0922-470C-BB55-F2B07E559658}" type="pres">
      <dgm:prSet presAssocID="{95236E51-4B0F-4734-905D-2842E145ADEA}" presName="node" presStyleLbl="node1" presStyleIdx="3" presStyleCnt="4">
        <dgm:presLayoutVars>
          <dgm:bulletEnabled val="1"/>
        </dgm:presLayoutVars>
      </dgm:prSet>
      <dgm:spPr/>
    </dgm:pt>
  </dgm:ptLst>
  <dgm:cxnLst>
    <dgm:cxn modelId="{BE3B5300-44C3-446B-A9AA-6F48A013B9E1}" srcId="{575B1501-7C65-4EF5-AE82-50EE552C1108}" destId="{09D1983D-2B2E-49E5-853E-36EB44AFB8E7}" srcOrd="0" destOrd="0" parTransId="{D8C7FA24-59C9-4683-AB74-F819E48B9D37}" sibTransId="{2C758FFC-CB20-43D2-BB71-7C1F282DDD88}"/>
    <dgm:cxn modelId="{F28FE123-A159-4183-9673-FE107DC96BB5}" srcId="{575B1501-7C65-4EF5-AE82-50EE552C1108}" destId="{D0B3FAFC-C43B-4BB4-A4C9-853321BB972D}" srcOrd="1" destOrd="0" parTransId="{458CEF5C-ADDC-4573-B0EC-F179196F6892}" sibTransId="{9920BC66-BA85-4F49-AFF1-DD4691C51D48}"/>
    <dgm:cxn modelId="{8798102A-8B4A-453D-BA9F-D7F2F8C01515}" type="presOf" srcId="{C54B13E0-AB6F-4020-9380-B6461CC5D779}" destId="{D2A63571-318F-4139-8556-82357F40DFAC}" srcOrd="0" destOrd="0" presId="urn:microsoft.com/office/officeart/2005/8/layout/process1"/>
    <dgm:cxn modelId="{9EF3E52E-6AE8-4927-ABA7-2351EB24C79E}" type="presOf" srcId="{575B1501-7C65-4EF5-AE82-50EE552C1108}" destId="{9C5775D3-90B6-46E8-A44B-5195EB64D900}" srcOrd="0" destOrd="0" presId="urn:microsoft.com/office/officeart/2005/8/layout/process1"/>
    <dgm:cxn modelId="{3274C835-2420-4A55-B85F-687B2DB4D662}" type="presOf" srcId="{2C758FFC-CB20-43D2-BB71-7C1F282DDD88}" destId="{DF24C9AD-2C45-46C7-A8FE-A26F9658C36B}" srcOrd="1" destOrd="0" presId="urn:microsoft.com/office/officeart/2005/8/layout/process1"/>
    <dgm:cxn modelId="{F0227E6B-6B86-490D-8A8B-FCA39632A574}" type="presOf" srcId="{2C758FFC-CB20-43D2-BB71-7C1F282DDD88}" destId="{F57A8BCC-CB34-4FE8-A94C-94C62D3C06D7}" srcOrd="0" destOrd="0" presId="urn:microsoft.com/office/officeart/2005/8/layout/process1"/>
    <dgm:cxn modelId="{48BAE678-801C-4D63-BB55-58BC4FB48743}" srcId="{575B1501-7C65-4EF5-AE82-50EE552C1108}" destId="{95236E51-4B0F-4734-905D-2842E145ADEA}" srcOrd="3" destOrd="0" parTransId="{569DB4D0-4AA5-45CC-921D-EFAAA1FEDC55}" sibTransId="{67CEDC2A-7AAA-45A0-ABB5-08D535E6F47B}"/>
    <dgm:cxn modelId="{D6C81488-0634-42D7-8777-D4CCF77C7897}" type="presOf" srcId="{D0B3FAFC-C43B-4BB4-A4C9-853321BB972D}" destId="{B1808118-423F-4693-AF53-B5655E0604C2}" srcOrd="0" destOrd="0" presId="urn:microsoft.com/office/officeart/2005/8/layout/process1"/>
    <dgm:cxn modelId="{6391959A-EDF1-4252-BA9D-B2ABEFE6C0D8}" type="presOf" srcId="{07578C2E-6DC7-4CA3-A071-11A7BBFA3DCE}" destId="{1AA0B888-292D-4274-8A3D-9E8C27899190}" srcOrd="0" destOrd="0" presId="urn:microsoft.com/office/officeart/2005/8/layout/process1"/>
    <dgm:cxn modelId="{25BFA8B2-2272-4FC3-B7AE-693479BD2BA9}" type="presOf" srcId="{95236E51-4B0F-4734-905D-2842E145ADEA}" destId="{BB1861F2-0922-470C-BB55-F2B07E559658}" srcOrd="0" destOrd="0" presId="urn:microsoft.com/office/officeart/2005/8/layout/process1"/>
    <dgm:cxn modelId="{F76CABBE-DB5F-41C7-A36F-0935C449FB54}" type="presOf" srcId="{C54B13E0-AB6F-4020-9380-B6461CC5D779}" destId="{A27EEDD7-9557-4B8C-AF7C-2ADDC83FC642}" srcOrd="1" destOrd="0" presId="urn:microsoft.com/office/officeart/2005/8/layout/process1"/>
    <dgm:cxn modelId="{0D64BAC4-987E-4E26-B8B8-4D939021D6FE}" type="presOf" srcId="{09D1983D-2B2E-49E5-853E-36EB44AFB8E7}" destId="{538315C9-6D76-4060-B8A7-B6FB9BD08497}" srcOrd="0" destOrd="0" presId="urn:microsoft.com/office/officeart/2005/8/layout/process1"/>
    <dgm:cxn modelId="{E42995C6-A34E-4120-8E69-B92091A30737}" type="presOf" srcId="{9920BC66-BA85-4F49-AFF1-DD4691C51D48}" destId="{0307ECB9-61A7-4828-AA94-720E853314F0}" srcOrd="0" destOrd="0" presId="urn:microsoft.com/office/officeart/2005/8/layout/process1"/>
    <dgm:cxn modelId="{5FA054CF-F2AB-40B8-B579-84030EFD5302}" srcId="{575B1501-7C65-4EF5-AE82-50EE552C1108}" destId="{07578C2E-6DC7-4CA3-A071-11A7BBFA3DCE}" srcOrd="2" destOrd="0" parTransId="{CD660AFE-C535-47CB-B25D-26F96F55D85C}" sibTransId="{C54B13E0-AB6F-4020-9380-B6461CC5D779}"/>
    <dgm:cxn modelId="{A5320DFD-E496-489B-AF3A-201EA8FFECB3}" type="presOf" srcId="{9920BC66-BA85-4F49-AFF1-DD4691C51D48}" destId="{3E75827D-019B-495F-8C78-556A9BBF4E7D}" srcOrd="1" destOrd="0" presId="urn:microsoft.com/office/officeart/2005/8/layout/process1"/>
    <dgm:cxn modelId="{2BF2A9BB-1F1D-42CC-B658-2A792A91B837}" type="presParOf" srcId="{9C5775D3-90B6-46E8-A44B-5195EB64D900}" destId="{538315C9-6D76-4060-B8A7-B6FB9BD08497}" srcOrd="0" destOrd="0" presId="urn:microsoft.com/office/officeart/2005/8/layout/process1"/>
    <dgm:cxn modelId="{BACFB7E1-0194-442E-ADB9-BEE2F6B63D04}" type="presParOf" srcId="{9C5775D3-90B6-46E8-A44B-5195EB64D900}" destId="{F57A8BCC-CB34-4FE8-A94C-94C62D3C06D7}" srcOrd="1" destOrd="0" presId="urn:microsoft.com/office/officeart/2005/8/layout/process1"/>
    <dgm:cxn modelId="{DF17C1BA-C91F-4DC1-92B4-A595F95566A2}" type="presParOf" srcId="{F57A8BCC-CB34-4FE8-A94C-94C62D3C06D7}" destId="{DF24C9AD-2C45-46C7-A8FE-A26F9658C36B}" srcOrd="0" destOrd="0" presId="urn:microsoft.com/office/officeart/2005/8/layout/process1"/>
    <dgm:cxn modelId="{FD238F57-43CB-4D1B-ABC8-E3B852D80967}" type="presParOf" srcId="{9C5775D3-90B6-46E8-A44B-5195EB64D900}" destId="{B1808118-423F-4693-AF53-B5655E0604C2}" srcOrd="2" destOrd="0" presId="urn:microsoft.com/office/officeart/2005/8/layout/process1"/>
    <dgm:cxn modelId="{59F7D5FE-29F8-4C90-8250-7E2A04958F99}" type="presParOf" srcId="{9C5775D3-90B6-46E8-A44B-5195EB64D900}" destId="{0307ECB9-61A7-4828-AA94-720E853314F0}" srcOrd="3" destOrd="0" presId="urn:microsoft.com/office/officeart/2005/8/layout/process1"/>
    <dgm:cxn modelId="{E3F10C98-D610-46F9-B1CB-4424BE191773}" type="presParOf" srcId="{0307ECB9-61A7-4828-AA94-720E853314F0}" destId="{3E75827D-019B-495F-8C78-556A9BBF4E7D}" srcOrd="0" destOrd="0" presId="urn:microsoft.com/office/officeart/2005/8/layout/process1"/>
    <dgm:cxn modelId="{A28167B1-4FC6-4AAA-9EDE-FEBC06F561B2}" type="presParOf" srcId="{9C5775D3-90B6-46E8-A44B-5195EB64D900}" destId="{1AA0B888-292D-4274-8A3D-9E8C27899190}" srcOrd="4" destOrd="0" presId="urn:microsoft.com/office/officeart/2005/8/layout/process1"/>
    <dgm:cxn modelId="{E379997D-DF90-44E3-B3F4-22CFB7B2C305}" type="presParOf" srcId="{9C5775D3-90B6-46E8-A44B-5195EB64D900}" destId="{D2A63571-318F-4139-8556-82357F40DFAC}" srcOrd="5" destOrd="0" presId="urn:microsoft.com/office/officeart/2005/8/layout/process1"/>
    <dgm:cxn modelId="{591C59B7-628D-456E-8C5E-CC0F73E6DF47}" type="presParOf" srcId="{D2A63571-318F-4139-8556-82357F40DFAC}" destId="{A27EEDD7-9557-4B8C-AF7C-2ADDC83FC642}" srcOrd="0" destOrd="0" presId="urn:microsoft.com/office/officeart/2005/8/layout/process1"/>
    <dgm:cxn modelId="{5A3E03A4-E2BF-4A76-9CA1-E8B26229B269}" type="presParOf" srcId="{9C5775D3-90B6-46E8-A44B-5195EB64D900}" destId="{BB1861F2-0922-470C-BB55-F2B07E559658}" srcOrd="6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575B1501-7C65-4EF5-AE82-50EE552C1108}" type="doc">
      <dgm:prSet loTypeId="urn:microsoft.com/office/officeart/2005/8/layout/process1" loCatId="process" qsTypeId="urn:microsoft.com/office/officeart/2005/8/quickstyle/3d1" qsCatId="3D" csTypeId="urn:microsoft.com/office/officeart/2005/8/colors/accent1_4" csCatId="accent1" phldr="1"/>
      <dgm:spPr/>
      <dgm:t>
        <a:bodyPr/>
        <a:lstStyle/>
        <a:p>
          <a:endParaRPr lang="en-US"/>
        </a:p>
      </dgm:t>
    </dgm:pt>
    <dgm:pt modelId="{09D1983D-2B2E-49E5-853E-36EB44AFB8E7}">
      <dgm:prSet phldrT="[Text]" phldr="0"/>
      <dgm:spPr/>
      <dgm:t>
        <a:bodyPr/>
        <a:lstStyle/>
        <a:p>
          <a:r>
            <a:rPr lang="en-US"/>
            <a:t>Deployable Security</a:t>
          </a:r>
        </a:p>
      </dgm:t>
    </dgm:pt>
    <dgm:pt modelId="{D8C7FA24-59C9-4683-AB74-F819E48B9D37}" type="parTrans" cxnId="{BE3B5300-44C3-446B-A9AA-6F48A013B9E1}">
      <dgm:prSet/>
      <dgm:spPr/>
      <dgm:t>
        <a:bodyPr/>
        <a:lstStyle/>
        <a:p>
          <a:endParaRPr lang="en-US"/>
        </a:p>
      </dgm:t>
    </dgm:pt>
    <dgm:pt modelId="{2C758FFC-CB20-43D2-BB71-7C1F282DDD88}" type="sibTrans" cxnId="{BE3B5300-44C3-446B-A9AA-6F48A013B9E1}">
      <dgm:prSet/>
      <dgm:spPr/>
      <dgm:t>
        <a:bodyPr/>
        <a:lstStyle/>
        <a:p>
          <a:endParaRPr lang="en-US"/>
        </a:p>
      </dgm:t>
    </dgm:pt>
    <dgm:pt modelId="{D0B3FAFC-C43B-4BB4-A4C9-853321BB972D}">
      <dgm:prSet phldrT="[Text]" phldr="0"/>
      <dgm:spPr/>
      <dgm:t>
        <a:bodyPr/>
        <a:lstStyle/>
        <a:p>
          <a:r>
            <a:rPr lang="en-US"/>
            <a:t>Network Efficiency</a:t>
          </a:r>
        </a:p>
      </dgm:t>
    </dgm:pt>
    <dgm:pt modelId="{458CEF5C-ADDC-4573-B0EC-F179196F6892}" type="parTrans" cxnId="{F28FE123-A159-4183-9673-FE107DC96BB5}">
      <dgm:prSet/>
      <dgm:spPr/>
      <dgm:t>
        <a:bodyPr/>
        <a:lstStyle/>
        <a:p>
          <a:endParaRPr lang="en-US"/>
        </a:p>
      </dgm:t>
    </dgm:pt>
    <dgm:pt modelId="{9920BC66-BA85-4F49-AFF1-DD4691C51D48}" type="sibTrans" cxnId="{F28FE123-A159-4183-9673-FE107DC96BB5}">
      <dgm:prSet/>
      <dgm:spPr/>
      <dgm:t>
        <a:bodyPr/>
        <a:lstStyle/>
        <a:p>
          <a:endParaRPr lang="en-US"/>
        </a:p>
      </dgm:t>
    </dgm:pt>
    <dgm:pt modelId="{07578C2E-6DC7-4CA3-A071-11A7BBFA3DCE}">
      <dgm:prSet phldrT="[Text]" phldr="0"/>
      <dgm:spPr/>
      <dgm:t>
        <a:bodyPr/>
        <a:lstStyle/>
        <a:p>
          <a:r>
            <a:rPr lang="en-US"/>
            <a:t>Architectural Optimization</a:t>
          </a:r>
        </a:p>
      </dgm:t>
    </dgm:pt>
    <dgm:pt modelId="{CD660AFE-C535-47CB-B25D-26F96F55D85C}" type="parTrans" cxnId="{5FA054CF-F2AB-40B8-B579-84030EFD5302}">
      <dgm:prSet/>
      <dgm:spPr/>
      <dgm:t>
        <a:bodyPr/>
        <a:lstStyle/>
        <a:p>
          <a:endParaRPr lang="en-US"/>
        </a:p>
      </dgm:t>
    </dgm:pt>
    <dgm:pt modelId="{C54B13E0-AB6F-4020-9380-B6461CC5D779}" type="sibTrans" cxnId="{5FA054CF-F2AB-40B8-B579-84030EFD5302}">
      <dgm:prSet/>
      <dgm:spPr/>
      <dgm:t>
        <a:bodyPr/>
        <a:lstStyle/>
        <a:p>
          <a:endParaRPr lang="en-US"/>
        </a:p>
      </dgm:t>
    </dgm:pt>
    <dgm:pt modelId="{95236E51-4B0F-4734-905D-2842E145ADEA}">
      <dgm:prSet phldrT="[Text]" phldr="0"/>
      <dgm:spPr/>
      <dgm:t>
        <a:bodyPr/>
        <a:lstStyle/>
        <a:p>
          <a:r>
            <a:rPr lang="en-US"/>
            <a:t>Future Work</a:t>
          </a:r>
        </a:p>
      </dgm:t>
    </dgm:pt>
    <dgm:pt modelId="{569DB4D0-4AA5-45CC-921D-EFAAA1FEDC55}" type="parTrans" cxnId="{48BAE678-801C-4D63-BB55-58BC4FB48743}">
      <dgm:prSet/>
      <dgm:spPr/>
      <dgm:t>
        <a:bodyPr/>
        <a:lstStyle/>
        <a:p>
          <a:endParaRPr lang="en-US"/>
        </a:p>
      </dgm:t>
    </dgm:pt>
    <dgm:pt modelId="{67CEDC2A-7AAA-45A0-ABB5-08D535E6F47B}" type="sibTrans" cxnId="{48BAE678-801C-4D63-BB55-58BC4FB48743}">
      <dgm:prSet/>
      <dgm:spPr/>
      <dgm:t>
        <a:bodyPr/>
        <a:lstStyle/>
        <a:p>
          <a:endParaRPr lang="en-US"/>
        </a:p>
      </dgm:t>
    </dgm:pt>
    <dgm:pt modelId="{9C5775D3-90B6-46E8-A44B-5195EB64D900}" type="pres">
      <dgm:prSet presAssocID="{575B1501-7C65-4EF5-AE82-50EE552C1108}" presName="Name0" presStyleCnt="0">
        <dgm:presLayoutVars>
          <dgm:dir/>
          <dgm:resizeHandles val="exact"/>
        </dgm:presLayoutVars>
      </dgm:prSet>
      <dgm:spPr/>
    </dgm:pt>
    <dgm:pt modelId="{538315C9-6D76-4060-B8A7-B6FB9BD08497}" type="pres">
      <dgm:prSet presAssocID="{09D1983D-2B2E-49E5-853E-36EB44AFB8E7}" presName="node" presStyleLbl="node1" presStyleIdx="0" presStyleCnt="4">
        <dgm:presLayoutVars>
          <dgm:bulletEnabled val="1"/>
        </dgm:presLayoutVars>
      </dgm:prSet>
      <dgm:spPr/>
    </dgm:pt>
    <dgm:pt modelId="{F57A8BCC-CB34-4FE8-A94C-94C62D3C06D7}" type="pres">
      <dgm:prSet presAssocID="{2C758FFC-CB20-43D2-BB71-7C1F282DDD88}" presName="sibTrans" presStyleLbl="sibTrans2D1" presStyleIdx="0" presStyleCnt="3"/>
      <dgm:spPr/>
    </dgm:pt>
    <dgm:pt modelId="{DF24C9AD-2C45-46C7-A8FE-A26F9658C36B}" type="pres">
      <dgm:prSet presAssocID="{2C758FFC-CB20-43D2-BB71-7C1F282DDD88}" presName="connectorText" presStyleLbl="sibTrans2D1" presStyleIdx="0" presStyleCnt="3"/>
      <dgm:spPr/>
    </dgm:pt>
    <dgm:pt modelId="{B1808118-423F-4693-AF53-B5655E0604C2}" type="pres">
      <dgm:prSet presAssocID="{D0B3FAFC-C43B-4BB4-A4C9-853321BB972D}" presName="node" presStyleLbl="node1" presStyleIdx="1" presStyleCnt="4">
        <dgm:presLayoutVars>
          <dgm:bulletEnabled val="1"/>
        </dgm:presLayoutVars>
      </dgm:prSet>
      <dgm:spPr/>
    </dgm:pt>
    <dgm:pt modelId="{0307ECB9-61A7-4828-AA94-720E853314F0}" type="pres">
      <dgm:prSet presAssocID="{9920BC66-BA85-4F49-AFF1-DD4691C51D48}" presName="sibTrans" presStyleLbl="sibTrans2D1" presStyleIdx="1" presStyleCnt="3"/>
      <dgm:spPr/>
    </dgm:pt>
    <dgm:pt modelId="{3E75827D-019B-495F-8C78-556A9BBF4E7D}" type="pres">
      <dgm:prSet presAssocID="{9920BC66-BA85-4F49-AFF1-DD4691C51D48}" presName="connectorText" presStyleLbl="sibTrans2D1" presStyleIdx="1" presStyleCnt="3"/>
      <dgm:spPr/>
    </dgm:pt>
    <dgm:pt modelId="{1AA0B888-292D-4274-8A3D-9E8C27899190}" type="pres">
      <dgm:prSet presAssocID="{07578C2E-6DC7-4CA3-A071-11A7BBFA3DCE}" presName="node" presStyleLbl="node1" presStyleIdx="2" presStyleCnt="4">
        <dgm:presLayoutVars>
          <dgm:bulletEnabled val="1"/>
        </dgm:presLayoutVars>
      </dgm:prSet>
      <dgm:spPr/>
    </dgm:pt>
    <dgm:pt modelId="{D2A63571-318F-4139-8556-82357F40DFAC}" type="pres">
      <dgm:prSet presAssocID="{C54B13E0-AB6F-4020-9380-B6461CC5D779}" presName="sibTrans" presStyleLbl="sibTrans2D1" presStyleIdx="2" presStyleCnt="3"/>
      <dgm:spPr/>
    </dgm:pt>
    <dgm:pt modelId="{A27EEDD7-9557-4B8C-AF7C-2ADDC83FC642}" type="pres">
      <dgm:prSet presAssocID="{C54B13E0-AB6F-4020-9380-B6461CC5D779}" presName="connectorText" presStyleLbl="sibTrans2D1" presStyleIdx="2" presStyleCnt="3"/>
      <dgm:spPr/>
    </dgm:pt>
    <dgm:pt modelId="{BB1861F2-0922-470C-BB55-F2B07E559658}" type="pres">
      <dgm:prSet presAssocID="{95236E51-4B0F-4734-905D-2842E145ADEA}" presName="node" presStyleLbl="node1" presStyleIdx="3" presStyleCnt="4">
        <dgm:presLayoutVars>
          <dgm:bulletEnabled val="1"/>
        </dgm:presLayoutVars>
      </dgm:prSet>
      <dgm:spPr/>
    </dgm:pt>
  </dgm:ptLst>
  <dgm:cxnLst>
    <dgm:cxn modelId="{BE3B5300-44C3-446B-A9AA-6F48A013B9E1}" srcId="{575B1501-7C65-4EF5-AE82-50EE552C1108}" destId="{09D1983D-2B2E-49E5-853E-36EB44AFB8E7}" srcOrd="0" destOrd="0" parTransId="{D8C7FA24-59C9-4683-AB74-F819E48B9D37}" sibTransId="{2C758FFC-CB20-43D2-BB71-7C1F282DDD88}"/>
    <dgm:cxn modelId="{F28FE123-A159-4183-9673-FE107DC96BB5}" srcId="{575B1501-7C65-4EF5-AE82-50EE552C1108}" destId="{D0B3FAFC-C43B-4BB4-A4C9-853321BB972D}" srcOrd="1" destOrd="0" parTransId="{458CEF5C-ADDC-4573-B0EC-F179196F6892}" sibTransId="{9920BC66-BA85-4F49-AFF1-DD4691C51D48}"/>
    <dgm:cxn modelId="{8798102A-8B4A-453D-BA9F-D7F2F8C01515}" type="presOf" srcId="{C54B13E0-AB6F-4020-9380-B6461CC5D779}" destId="{D2A63571-318F-4139-8556-82357F40DFAC}" srcOrd="0" destOrd="0" presId="urn:microsoft.com/office/officeart/2005/8/layout/process1"/>
    <dgm:cxn modelId="{9EF3E52E-6AE8-4927-ABA7-2351EB24C79E}" type="presOf" srcId="{575B1501-7C65-4EF5-AE82-50EE552C1108}" destId="{9C5775D3-90B6-46E8-A44B-5195EB64D900}" srcOrd="0" destOrd="0" presId="urn:microsoft.com/office/officeart/2005/8/layout/process1"/>
    <dgm:cxn modelId="{3274C835-2420-4A55-B85F-687B2DB4D662}" type="presOf" srcId="{2C758FFC-CB20-43D2-BB71-7C1F282DDD88}" destId="{DF24C9AD-2C45-46C7-A8FE-A26F9658C36B}" srcOrd="1" destOrd="0" presId="urn:microsoft.com/office/officeart/2005/8/layout/process1"/>
    <dgm:cxn modelId="{F0227E6B-6B86-490D-8A8B-FCA39632A574}" type="presOf" srcId="{2C758FFC-CB20-43D2-BB71-7C1F282DDD88}" destId="{F57A8BCC-CB34-4FE8-A94C-94C62D3C06D7}" srcOrd="0" destOrd="0" presId="urn:microsoft.com/office/officeart/2005/8/layout/process1"/>
    <dgm:cxn modelId="{48BAE678-801C-4D63-BB55-58BC4FB48743}" srcId="{575B1501-7C65-4EF5-AE82-50EE552C1108}" destId="{95236E51-4B0F-4734-905D-2842E145ADEA}" srcOrd="3" destOrd="0" parTransId="{569DB4D0-4AA5-45CC-921D-EFAAA1FEDC55}" sibTransId="{67CEDC2A-7AAA-45A0-ABB5-08D535E6F47B}"/>
    <dgm:cxn modelId="{D6C81488-0634-42D7-8777-D4CCF77C7897}" type="presOf" srcId="{D0B3FAFC-C43B-4BB4-A4C9-853321BB972D}" destId="{B1808118-423F-4693-AF53-B5655E0604C2}" srcOrd="0" destOrd="0" presId="urn:microsoft.com/office/officeart/2005/8/layout/process1"/>
    <dgm:cxn modelId="{6391959A-EDF1-4252-BA9D-B2ABEFE6C0D8}" type="presOf" srcId="{07578C2E-6DC7-4CA3-A071-11A7BBFA3DCE}" destId="{1AA0B888-292D-4274-8A3D-9E8C27899190}" srcOrd="0" destOrd="0" presId="urn:microsoft.com/office/officeart/2005/8/layout/process1"/>
    <dgm:cxn modelId="{25BFA8B2-2272-4FC3-B7AE-693479BD2BA9}" type="presOf" srcId="{95236E51-4B0F-4734-905D-2842E145ADEA}" destId="{BB1861F2-0922-470C-BB55-F2B07E559658}" srcOrd="0" destOrd="0" presId="urn:microsoft.com/office/officeart/2005/8/layout/process1"/>
    <dgm:cxn modelId="{F76CABBE-DB5F-41C7-A36F-0935C449FB54}" type="presOf" srcId="{C54B13E0-AB6F-4020-9380-B6461CC5D779}" destId="{A27EEDD7-9557-4B8C-AF7C-2ADDC83FC642}" srcOrd="1" destOrd="0" presId="urn:microsoft.com/office/officeart/2005/8/layout/process1"/>
    <dgm:cxn modelId="{0D64BAC4-987E-4E26-B8B8-4D939021D6FE}" type="presOf" srcId="{09D1983D-2B2E-49E5-853E-36EB44AFB8E7}" destId="{538315C9-6D76-4060-B8A7-B6FB9BD08497}" srcOrd="0" destOrd="0" presId="urn:microsoft.com/office/officeart/2005/8/layout/process1"/>
    <dgm:cxn modelId="{E42995C6-A34E-4120-8E69-B92091A30737}" type="presOf" srcId="{9920BC66-BA85-4F49-AFF1-DD4691C51D48}" destId="{0307ECB9-61A7-4828-AA94-720E853314F0}" srcOrd="0" destOrd="0" presId="urn:microsoft.com/office/officeart/2005/8/layout/process1"/>
    <dgm:cxn modelId="{5FA054CF-F2AB-40B8-B579-84030EFD5302}" srcId="{575B1501-7C65-4EF5-AE82-50EE552C1108}" destId="{07578C2E-6DC7-4CA3-A071-11A7BBFA3DCE}" srcOrd="2" destOrd="0" parTransId="{CD660AFE-C535-47CB-B25D-26F96F55D85C}" sibTransId="{C54B13E0-AB6F-4020-9380-B6461CC5D779}"/>
    <dgm:cxn modelId="{A5320DFD-E496-489B-AF3A-201EA8FFECB3}" type="presOf" srcId="{9920BC66-BA85-4F49-AFF1-DD4691C51D48}" destId="{3E75827D-019B-495F-8C78-556A9BBF4E7D}" srcOrd="1" destOrd="0" presId="urn:microsoft.com/office/officeart/2005/8/layout/process1"/>
    <dgm:cxn modelId="{2BF2A9BB-1F1D-42CC-B658-2A792A91B837}" type="presParOf" srcId="{9C5775D3-90B6-46E8-A44B-5195EB64D900}" destId="{538315C9-6D76-4060-B8A7-B6FB9BD08497}" srcOrd="0" destOrd="0" presId="urn:microsoft.com/office/officeart/2005/8/layout/process1"/>
    <dgm:cxn modelId="{BACFB7E1-0194-442E-ADB9-BEE2F6B63D04}" type="presParOf" srcId="{9C5775D3-90B6-46E8-A44B-5195EB64D900}" destId="{F57A8BCC-CB34-4FE8-A94C-94C62D3C06D7}" srcOrd="1" destOrd="0" presId="urn:microsoft.com/office/officeart/2005/8/layout/process1"/>
    <dgm:cxn modelId="{DF17C1BA-C91F-4DC1-92B4-A595F95566A2}" type="presParOf" srcId="{F57A8BCC-CB34-4FE8-A94C-94C62D3C06D7}" destId="{DF24C9AD-2C45-46C7-A8FE-A26F9658C36B}" srcOrd="0" destOrd="0" presId="urn:microsoft.com/office/officeart/2005/8/layout/process1"/>
    <dgm:cxn modelId="{FD238F57-43CB-4D1B-ABC8-E3B852D80967}" type="presParOf" srcId="{9C5775D3-90B6-46E8-A44B-5195EB64D900}" destId="{B1808118-423F-4693-AF53-B5655E0604C2}" srcOrd="2" destOrd="0" presId="urn:microsoft.com/office/officeart/2005/8/layout/process1"/>
    <dgm:cxn modelId="{59F7D5FE-29F8-4C90-8250-7E2A04958F99}" type="presParOf" srcId="{9C5775D3-90B6-46E8-A44B-5195EB64D900}" destId="{0307ECB9-61A7-4828-AA94-720E853314F0}" srcOrd="3" destOrd="0" presId="urn:microsoft.com/office/officeart/2005/8/layout/process1"/>
    <dgm:cxn modelId="{E3F10C98-D610-46F9-B1CB-4424BE191773}" type="presParOf" srcId="{0307ECB9-61A7-4828-AA94-720E853314F0}" destId="{3E75827D-019B-495F-8C78-556A9BBF4E7D}" srcOrd="0" destOrd="0" presId="urn:microsoft.com/office/officeart/2005/8/layout/process1"/>
    <dgm:cxn modelId="{A28167B1-4FC6-4AAA-9EDE-FEBC06F561B2}" type="presParOf" srcId="{9C5775D3-90B6-46E8-A44B-5195EB64D900}" destId="{1AA0B888-292D-4274-8A3D-9E8C27899190}" srcOrd="4" destOrd="0" presId="urn:microsoft.com/office/officeart/2005/8/layout/process1"/>
    <dgm:cxn modelId="{E379997D-DF90-44E3-B3F4-22CFB7B2C305}" type="presParOf" srcId="{9C5775D3-90B6-46E8-A44B-5195EB64D900}" destId="{D2A63571-318F-4139-8556-82357F40DFAC}" srcOrd="5" destOrd="0" presId="urn:microsoft.com/office/officeart/2005/8/layout/process1"/>
    <dgm:cxn modelId="{591C59B7-628D-456E-8C5E-CC0F73E6DF47}" type="presParOf" srcId="{D2A63571-318F-4139-8556-82357F40DFAC}" destId="{A27EEDD7-9557-4B8C-AF7C-2ADDC83FC642}" srcOrd="0" destOrd="0" presId="urn:microsoft.com/office/officeart/2005/8/layout/process1"/>
    <dgm:cxn modelId="{5A3E03A4-E2BF-4A76-9CA1-E8B26229B269}" type="presParOf" srcId="{9C5775D3-90B6-46E8-A44B-5195EB64D900}" destId="{BB1861F2-0922-470C-BB55-F2B07E559658}" srcOrd="6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575B1501-7C65-4EF5-AE82-50EE552C1108}" type="doc">
      <dgm:prSet loTypeId="urn:microsoft.com/office/officeart/2005/8/layout/process1" loCatId="process" qsTypeId="urn:microsoft.com/office/officeart/2005/8/quickstyle/3d1" qsCatId="3D" csTypeId="urn:microsoft.com/office/officeart/2005/8/colors/accent1_4" csCatId="accent1" phldr="1"/>
      <dgm:spPr/>
      <dgm:t>
        <a:bodyPr/>
        <a:lstStyle/>
        <a:p>
          <a:endParaRPr lang="en-US"/>
        </a:p>
      </dgm:t>
    </dgm:pt>
    <dgm:pt modelId="{09D1983D-2B2E-49E5-853E-36EB44AFB8E7}">
      <dgm:prSet phldrT="[Text]" phldr="0"/>
      <dgm:spPr/>
      <dgm:t>
        <a:bodyPr/>
        <a:lstStyle/>
        <a:p>
          <a:r>
            <a:rPr lang="en-US"/>
            <a:t>Deployable Security</a:t>
          </a:r>
        </a:p>
      </dgm:t>
    </dgm:pt>
    <dgm:pt modelId="{D8C7FA24-59C9-4683-AB74-F819E48B9D37}" type="parTrans" cxnId="{BE3B5300-44C3-446B-A9AA-6F48A013B9E1}">
      <dgm:prSet/>
      <dgm:spPr/>
      <dgm:t>
        <a:bodyPr/>
        <a:lstStyle/>
        <a:p>
          <a:endParaRPr lang="en-US"/>
        </a:p>
      </dgm:t>
    </dgm:pt>
    <dgm:pt modelId="{2C758FFC-CB20-43D2-BB71-7C1F282DDD88}" type="sibTrans" cxnId="{BE3B5300-44C3-446B-A9AA-6F48A013B9E1}">
      <dgm:prSet/>
      <dgm:spPr/>
      <dgm:t>
        <a:bodyPr/>
        <a:lstStyle/>
        <a:p>
          <a:endParaRPr lang="en-US"/>
        </a:p>
      </dgm:t>
    </dgm:pt>
    <dgm:pt modelId="{D0B3FAFC-C43B-4BB4-A4C9-853321BB972D}">
      <dgm:prSet phldrT="[Text]" phldr="0"/>
      <dgm:spPr/>
      <dgm:t>
        <a:bodyPr/>
        <a:lstStyle/>
        <a:p>
          <a:r>
            <a:rPr lang="en-US"/>
            <a:t>Network Efficiency</a:t>
          </a:r>
        </a:p>
      </dgm:t>
    </dgm:pt>
    <dgm:pt modelId="{458CEF5C-ADDC-4573-B0EC-F179196F6892}" type="parTrans" cxnId="{F28FE123-A159-4183-9673-FE107DC96BB5}">
      <dgm:prSet/>
      <dgm:spPr/>
      <dgm:t>
        <a:bodyPr/>
        <a:lstStyle/>
        <a:p>
          <a:endParaRPr lang="en-US"/>
        </a:p>
      </dgm:t>
    </dgm:pt>
    <dgm:pt modelId="{9920BC66-BA85-4F49-AFF1-DD4691C51D48}" type="sibTrans" cxnId="{F28FE123-A159-4183-9673-FE107DC96BB5}">
      <dgm:prSet/>
      <dgm:spPr/>
      <dgm:t>
        <a:bodyPr/>
        <a:lstStyle/>
        <a:p>
          <a:endParaRPr lang="en-US"/>
        </a:p>
      </dgm:t>
    </dgm:pt>
    <dgm:pt modelId="{07578C2E-6DC7-4CA3-A071-11A7BBFA3DCE}">
      <dgm:prSet phldrT="[Text]" phldr="0"/>
      <dgm:spPr/>
      <dgm:t>
        <a:bodyPr/>
        <a:lstStyle/>
        <a:p>
          <a:r>
            <a:rPr lang="en-US"/>
            <a:t>Architectural Optimization</a:t>
          </a:r>
        </a:p>
      </dgm:t>
    </dgm:pt>
    <dgm:pt modelId="{CD660AFE-C535-47CB-B25D-26F96F55D85C}" type="parTrans" cxnId="{5FA054CF-F2AB-40B8-B579-84030EFD5302}">
      <dgm:prSet/>
      <dgm:spPr/>
      <dgm:t>
        <a:bodyPr/>
        <a:lstStyle/>
        <a:p>
          <a:endParaRPr lang="en-US"/>
        </a:p>
      </dgm:t>
    </dgm:pt>
    <dgm:pt modelId="{C54B13E0-AB6F-4020-9380-B6461CC5D779}" type="sibTrans" cxnId="{5FA054CF-F2AB-40B8-B579-84030EFD5302}">
      <dgm:prSet/>
      <dgm:spPr/>
      <dgm:t>
        <a:bodyPr/>
        <a:lstStyle/>
        <a:p>
          <a:endParaRPr lang="en-US"/>
        </a:p>
      </dgm:t>
    </dgm:pt>
    <dgm:pt modelId="{95236E51-4B0F-4734-905D-2842E145ADEA}">
      <dgm:prSet phldrT="[Text]" phldr="0"/>
      <dgm:spPr/>
      <dgm:t>
        <a:bodyPr/>
        <a:lstStyle/>
        <a:p>
          <a:r>
            <a:rPr lang="en-US"/>
            <a:t>Future Work</a:t>
          </a:r>
        </a:p>
      </dgm:t>
    </dgm:pt>
    <dgm:pt modelId="{569DB4D0-4AA5-45CC-921D-EFAAA1FEDC55}" type="parTrans" cxnId="{48BAE678-801C-4D63-BB55-58BC4FB48743}">
      <dgm:prSet/>
      <dgm:spPr/>
      <dgm:t>
        <a:bodyPr/>
        <a:lstStyle/>
        <a:p>
          <a:endParaRPr lang="en-US"/>
        </a:p>
      </dgm:t>
    </dgm:pt>
    <dgm:pt modelId="{67CEDC2A-7AAA-45A0-ABB5-08D535E6F47B}" type="sibTrans" cxnId="{48BAE678-801C-4D63-BB55-58BC4FB48743}">
      <dgm:prSet/>
      <dgm:spPr/>
      <dgm:t>
        <a:bodyPr/>
        <a:lstStyle/>
        <a:p>
          <a:endParaRPr lang="en-US"/>
        </a:p>
      </dgm:t>
    </dgm:pt>
    <dgm:pt modelId="{9C5775D3-90B6-46E8-A44B-5195EB64D900}" type="pres">
      <dgm:prSet presAssocID="{575B1501-7C65-4EF5-AE82-50EE552C1108}" presName="Name0" presStyleCnt="0">
        <dgm:presLayoutVars>
          <dgm:dir/>
          <dgm:resizeHandles val="exact"/>
        </dgm:presLayoutVars>
      </dgm:prSet>
      <dgm:spPr/>
    </dgm:pt>
    <dgm:pt modelId="{538315C9-6D76-4060-B8A7-B6FB9BD08497}" type="pres">
      <dgm:prSet presAssocID="{09D1983D-2B2E-49E5-853E-36EB44AFB8E7}" presName="node" presStyleLbl="node1" presStyleIdx="0" presStyleCnt="4">
        <dgm:presLayoutVars>
          <dgm:bulletEnabled val="1"/>
        </dgm:presLayoutVars>
      </dgm:prSet>
      <dgm:spPr/>
    </dgm:pt>
    <dgm:pt modelId="{F57A8BCC-CB34-4FE8-A94C-94C62D3C06D7}" type="pres">
      <dgm:prSet presAssocID="{2C758FFC-CB20-43D2-BB71-7C1F282DDD88}" presName="sibTrans" presStyleLbl="sibTrans2D1" presStyleIdx="0" presStyleCnt="3"/>
      <dgm:spPr/>
    </dgm:pt>
    <dgm:pt modelId="{DF24C9AD-2C45-46C7-A8FE-A26F9658C36B}" type="pres">
      <dgm:prSet presAssocID="{2C758FFC-CB20-43D2-BB71-7C1F282DDD88}" presName="connectorText" presStyleLbl="sibTrans2D1" presStyleIdx="0" presStyleCnt="3"/>
      <dgm:spPr/>
    </dgm:pt>
    <dgm:pt modelId="{B1808118-423F-4693-AF53-B5655E0604C2}" type="pres">
      <dgm:prSet presAssocID="{D0B3FAFC-C43B-4BB4-A4C9-853321BB972D}" presName="node" presStyleLbl="node1" presStyleIdx="1" presStyleCnt="4">
        <dgm:presLayoutVars>
          <dgm:bulletEnabled val="1"/>
        </dgm:presLayoutVars>
      </dgm:prSet>
      <dgm:spPr/>
    </dgm:pt>
    <dgm:pt modelId="{0307ECB9-61A7-4828-AA94-720E853314F0}" type="pres">
      <dgm:prSet presAssocID="{9920BC66-BA85-4F49-AFF1-DD4691C51D48}" presName="sibTrans" presStyleLbl="sibTrans2D1" presStyleIdx="1" presStyleCnt="3"/>
      <dgm:spPr/>
    </dgm:pt>
    <dgm:pt modelId="{3E75827D-019B-495F-8C78-556A9BBF4E7D}" type="pres">
      <dgm:prSet presAssocID="{9920BC66-BA85-4F49-AFF1-DD4691C51D48}" presName="connectorText" presStyleLbl="sibTrans2D1" presStyleIdx="1" presStyleCnt="3"/>
      <dgm:spPr/>
    </dgm:pt>
    <dgm:pt modelId="{1AA0B888-292D-4274-8A3D-9E8C27899190}" type="pres">
      <dgm:prSet presAssocID="{07578C2E-6DC7-4CA3-A071-11A7BBFA3DCE}" presName="node" presStyleLbl="node1" presStyleIdx="2" presStyleCnt="4">
        <dgm:presLayoutVars>
          <dgm:bulletEnabled val="1"/>
        </dgm:presLayoutVars>
      </dgm:prSet>
      <dgm:spPr/>
    </dgm:pt>
    <dgm:pt modelId="{D2A63571-318F-4139-8556-82357F40DFAC}" type="pres">
      <dgm:prSet presAssocID="{C54B13E0-AB6F-4020-9380-B6461CC5D779}" presName="sibTrans" presStyleLbl="sibTrans2D1" presStyleIdx="2" presStyleCnt="3"/>
      <dgm:spPr/>
    </dgm:pt>
    <dgm:pt modelId="{A27EEDD7-9557-4B8C-AF7C-2ADDC83FC642}" type="pres">
      <dgm:prSet presAssocID="{C54B13E0-AB6F-4020-9380-B6461CC5D779}" presName="connectorText" presStyleLbl="sibTrans2D1" presStyleIdx="2" presStyleCnt="3"/>
      <dgm:spPr/>
    </dgm:pt>
    <dgm:pt modelId="{BB1861F2-0922-470C-BB55-F2B07E559658}" type="pres">
      <dgm:prSet presAssocID="{95236E51-4B0F-4734-905D-2842E145ADEA}" presName="node" presStyleLbl="node1" presStyleIdx="3" presStyleCnt="4">
        <dgm:presLayoutVars>
          <dgm:bulletEnabled val="1"/>
        </dgm:presLayoutVars>
      </dgm:prSet>
      <dgm:spPr/>
    </dgm:pt>
  </dgm:ptLst>
  <dgm:cxnLst>
    <dgm:cxn modelId="{BE3B5300-44C3-446B-A9AA-6F48A013B9E1}" srcId="{575B1501-7C65-4EF5-AE82-50EE552C1108}" destId="{09D1983D-2B2E-49E5-853E-36EB44AFB8E7}" srcOrd="0" destOrd="0" parTransId="{D8C7FA24-59C9-4683-AB74-F819E48B9D37}" sibTransId="{2C758FFC-CB20-43D2-BB71-7C1F282DDD88}"/>
    <dgm:cxn modelId="{F28FE123-A159-4183-9673-FE107DC96BB5}" srcId="{575B1501-7C65-4EF5-AE82-50EE552C1108}" destId="{D0B3FAFC-C43B-4BB4-A4C9-853321BB972D}" srcOrd="1" destOrd="0" parTransId="{458CEF5C-ADDC-4573-B0EC-F179196F6892}" sibTransId="{9920BC66-BA85-4F49-AFF1-DD4691C51D48}"/>
    <dgm:cxn modelId="{8798102A-8B4A-453D-BA9F-D7F2F8C01515}" type="presOf" srcId="{C54B13E0-AB6F-4020-9380-B6461CC5D779}" destId="{D2A63571-318F-4139-8556-82357F40DFAC}" srcOrd="0" destOrd="0" presId="urn:microsoft.com/office/officeart/2005/8/layout/process1"/>
    <dgm:cxn modelId="{9EF3E52E-6AE8-4927-ABA7-2351EB24C79E}" type="presOf" srcId="{575B1501-7C65-4EF5-AE82-50EE552C1108}" destId="{9C5775D3-90B6-46E8-A44B-5195EB64D900}" srcOrd="0" destOrd="0" presId="urn:microsoft.com/office/officeart/2005/8/layout/process1"/>
    <dgm:cxn modelId="{3274C835-2420-4A55-B85F-687B2DB4D662}" type="presOf" srcId="{2C758FFC-CB20-43D2-BB71-7C1F282DDD88}" destId="{DF24C9AD-2C45-46C7-A8FE-A26F9658C36B}" srcOrd="1" destOrd="0" presId="urn:microsoft.com/office/officeart/2005/8/layout/process1"/>
    <dgm:cxn modelId="{F0227E6B-6B86-490D-8A8B-FCA39632A574}" type="presOf" srcId="{2C758FFC-CB20-43D2-BB71-7C1F282DDD88}" destId="{F57A8BCC-CB34-4FE8-A94C-94C62D3C06D7}" srcOrd="0" destOrd="0" presId="urn:microsoft.com/office/officeart/2005/8/layout/process1"/>
    <dgm:cxn modelId="{48BAE678-801C-4D63-BB55-58BC4FB48743}" srcId="{575B1501-7C65-4EF5-AE82-50EE552C1108}" destId="{95236E51-4B0F-4734-905D-2842E145ADEA}" srcOrd="3" destOrd="0" parTransId="{569DB4D0-4AA5-45CC-921D-EFAAA1FEDC55}" sibTransId="{67CEDC2A-7AAA-45A0-ABB5-08D535E6F47B}"/>
    <dgm:cxn modelId="{D6C81488-0634-42D7-8777-D4CCF77C7897}" type="presOf" srcId="{D0B3FAFC-C43B-4BB4-A4C9-853321BB972D}" destId="{B1808118-423F-4693-AF53-B5655E0604C2}" srcOrd="0" destOrd="0" presId="urn:microsoft.com/office/officeart/2005/8/layout/process1"/>
    <dgm:cxn modelId="{6391959A-EDF1-4252-BA9D-B2ABEFE6C0D8}" type="presOf" srcId="{07578C2E-6DC7-4CA3-A071-11A7BBFA3DCE}" destId="{1AA0B888-292D-4274-8A3D-9E8C27899190}" srcOrd="0" destOrd="0" presId="urn:microsoft.com/office/officeart/2005/8/layout/process1"/>
    <dgm:cxn modelId="{25BFA8B2-2272-4FC3-B7AE-693479BD2BA9}" type="presOf" srcId="{95236E51-4B0F-4734-905D-2842E145ADEA}" destId="{BB1861F2-0922-470C-BB55-F2B07E559658}" srcOrd="0" destOrd="0" presId="urn:microsoft.com/office/officeart/2005/8/layout/process1"/>
    <dgm:cxn modelId="{F76CABBE-DB5F-41C7-A36F-0935C449FB54}" type="presOf" srcId="{C54B13E0-AB6F-4020-9380-B6461CC5D779}" destId="{A27EEDD7-9557-4B8C-AF7C-2ADDC83FC642}" srcOrd="1" destOrd="0" presId="urn:microsoft.com/office/officeart/2005/8/layout/process1"/>
    <dgm:cxn modelId="{0D64BAC4-987E-4E26-B8B8-4D939021D6FE}" type="presOf" srcId="{09D1983D-2B2E-49E5-853E-36EB44AFB8E7}" destId="{538315C9-6D76-4060-B8A7-B6FB9BD08497}" srcOrd="0" destOrd="0" presId="urn:microsoft.com/office/officeart/2005/8/layout/process1"/>
    <dgm:cxn modelId="{E42995C6-A34E-4120-8E69-B92091A30737}" type="presOf" srcId="{9920BC66-BA85-4F49-AFF1-DD4691C51D48}" destId="{0307ECB9-61A7-4828-AA94-720E853314F0}" srcOrd="0" destOrd="0" presId="urn:microsoft.com/office/officeart/2005/8/layout/process1"/>
    <dgm:cxn modelId="{5FA054CF-F2AB-40B8-B579-84030EFD5302}" srcId="{575B1501-7C65-4EF5-AE82-50EE552C1108}" destId="{07578C2E-6DC7-4CA3-A071-11A7BBFA3DCE}" srcOrd="2" destOrd="0" parTransId="{CD660AFE-C535-47CB-B25D-26F96F55D85C}" sibTransId="{C54B13E0-AB6F-4020-9380-B6461CC5D779}"/>
    <dgm:cxn modelId="{A5320DFD-E496-489B-AF3A-201EA8FFECB3}" type="presOf" srcId="{9920BC66-BA85-4F49-AFF1-DD4691C51D48}" destId="{3E75827D-019B-495F-8C78-556A9BBF4E7D}" srcOrd="1" destOrd="0" presId="urn:microsoft.com/office/officeart/2005/8/layout/process1"/>
    <dgm:cxn modelId="{2BF2A9BB-1F1D-42CC-B658-2A792A91B837}" type="presParOf" srcId="{9C5775D3-90B6-46E8-A44B-5195EB64D900}" destId="{538315C9-6D76-4060-B8A7-B6FB9BD08497}" srcOrd="0" destOrd="0" presId="urn:microsoft.com/office/officeart/2005/8/layout/process1"/>
    <dgm:cxn modelId="{BACFB7E1-0194-442E-ADB9-BEE2F6B63D04}" type="presParOf" srcId="{9C5775D3-90B6-46E8-A44B-5195EB64D900}" destId="{F57A8BCC-CB34-4FE8-A94C-94C62D3C06D7}" srcOrd="1" destOrd="0" presId="urn:microsoft.com/office/officeart/2005/8/layout/process1"/>
    <dgm:cxn modelId="{DF17C1BA-C91F-4DC1-92B4-A595F95566A2}" type="presParOf" srcId="{F57A8BCC-CB34-4FE8-A94C-94C62D3C06D7}" destId="{DF24C9AD-2C45-46C7-A8FE-A26F9658C36B}" srcOrd="0" destOrd="0" presId="urn:microsoft.com/office/officeart/2005/8/layout/process1"/>
    <dgm:cxn modelId="{FD238F57-43CB-4D1B-ABC8-E3B852D80967}" type="presParOf" srcId="{9C5775D3-90B6-46E8-A44B-5195EB64D900}" destId="{B1808118-423F-4693-AF53-B5655E0604C2}" srcOrd="2" destOrd="0" presId="urn:microsoft.com/office/officeart/2005/8/layout/process1"/>
    <dgm:cxn modelId="{59F7D5FE-29F8-4C90-8250-7E2A04958F99}" type="presParOf" srcId="{9C5775D3-90B6-46E8-A44B-5195EB64D900}" destId="{0307ECB9-61A7-4828-AA94-720E853314F0}" srcOrd="3" destOrd="0" presId="urn:microsoft.com/office/officeart/2005/8/layout/process1"/>
    <dgm:cxn modelId="{E3F10C98-D610-46F9-B1CB-4424BE191773}" type="presParOf" srcId="{0307ECB9-61A7-4828-AA94-720E853314F0}" destId="{3E75827D-019B-495F-8C78-556A9BBF4E7D}" srcOrd="0" destOrd="0" presId="urn:microsoft.com/office/officeart/2005/8/layout/process1"/>
    <dgm:cxn modelId="{A28167B1-4FC6-4AAA-9EDE-FEBC06F561B2}" type="presParOf" srcId="{9C5775D3-90B6-46E8-A44B-5195EB64D900}" destId="{1AA0B888-292D-4274-8A3D-9E8C27899190}" srcOrd="4" destOrd="0" presId="urn:microsoft.com/office/officeart/2005/8/layout/process1"/>
    <dgm:cxn modelId="{E379997D-DF90-44E3-B3F4-22CFB7B2C305}" type="presParOf" srcId="{9C5775D3-90B6-46E8-A44B-5195EB64D900}" destId="{D2A63571-318F-4139-8556-82357F40DFAC}" srcOrd="5" destOrd="0" presId="urn:microsoft.com/office/officeart/2005/8/layout/process1"/>
    <dgm:cxn modelId="{591C59B7-628D-456E-8C5E-CC0F73E6DF47}" type="presParOf" srcId="{D2A63571-318F-4139-8556-82357F40DFAC}" destId="{A27EEDD7-9557-4B8C-AF7C-2ADDC83FC642}" srcOrd="0" destOrd="0" presId="urn:microsoft.com/office/officeart/2005/8/layout/process1"/>
    <dgm:cxn modelId="{5A3E03A4-E2BF-4A76-9CA1-E8B26229B269}" type="presParOf" srcId="{9C5775D3-90B6-46E8-A44B-5195EB64D900}" destId="{BB1861F2-0922-470C-BB55-F2B07E559658}" srcOrd="6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38315C9-6D76-4060-B8A7-B6FB9BD08497}">
      <dsp:nvSpPr>
        <dsp:cNvPr id="0" name=""/>
        <dsp:cNvSpPr/>
      </dsp:nvSpPr>
      <dsp:spPr>
        <a:xfrm>
          <a:off x="4196" y="505413"/>
          <a:ext cx="1835001" cy="110100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shade val="5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5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5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Deployable Security</a:t>
          </a:r>
        </a:p>
      </dsp:txBody>
      <dsp:txXfrm>
        <a:off x="36443" y="537660"/>
        <a:ext cx="1770507" cy="1036506"/>
      </dsp:txXfrm>
    </dsp:sp>
    <dsp:sp modelId="{F57A8BCC-CB34-4FE8-A94C-94C62D3C06D7}">
      <dsp:nvSpPr>
        <dsp:cNvPr id="0" name=""/>
        <dsp:cNvSpPr/>
      </dsp:nvSpPr>
      <dsp:spPr>
        <a:xfrm>
          <a:off x="2022698" y="828373"/>
          <a:ext cx="389020" cy="455080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shade val="9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9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9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z="-80000" prstMaterial="plastic">
          <a:bevelT w="50800" h="50800"/>
          <a:bevelB w="25400" h="2540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/>
        </a:p>
      </dsp:txBody>
      <dsp:txXfrm>
        <a:off x="2022698" y="919389"/>
        <a:ext cx="272314" cy="273048"/>
      </dsp:txXfrm>
    </dsp:sp>
    <dsp:sp modelId="{B1808118-423F-4693-AF53-B5655E0604C2}">
      <dsp:nvSpPr>
        <dsp:cNvPr id="0" name=""/>
        <dsp:cNvSpPr/>
      </dsp:nvSpPr>
      <dsp:spPr>
        <a:xfrm>
          <a:off x="2573198" y="505413"/>
          <a:ext cx="1835001" cy="110100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shade val="50000"/>
                <a:hueOff val="-248283"/>
                <a:satOff val="0"/>
                <a:lumOff val="2415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50000"/>
                <a:hueOff val="-248283"/>
                <a:satOff val="0"/>
                <a:lumOff val="2415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50000"/>
                <a:hueOff val="-248283"/>
                <a:satOff val="0"/>
                <a:lumOff val="2415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Network Efficiency</a:t>
          </a:r>
        </a:p>
      </dsp:txBody>
      <dsp:txXfrm>
        <a:off x="2605445" y="537660"/>
        <a:ext cx="1770507" cy="1036506"/>
      </dsp:txXfrm>
    </dsp:sp>
    <dsp:sp modelId="{0307ECB9-61A7-4828-AA94-720E853314F0}">
      <dsp:nvSpPr>
        <dsp:cNvPr id="0" name=""/>
        <dsp:cNvSpPr/>
      </dsp:nvSpPr>
      <dsp:spPr>
        <a:xfrm>
          <a:off x="4591699" y="828373"/>
          <a:ext cx="389020" cy="455080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shade val="90000"/>
                <a:hueOff val="-353921"/>
                <a:satOff val="0"/>
                <a:lumOff val="26023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90000"/>
                <a:hueOff val="-353921"/>
                <a:satOff val="0"/>
                <a:lumOff val="26023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90000"/>
                <a:hueOff val="-353921"/>
                <a:satOff val="0"/>
                <a:lumOff val="26023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z="-80000" prstMaterial="plastic">
          <a:bevelT w="50800" h="50800"/>
          <a:bevelB w="25400" h="2540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/>
        </a:p>
      </dsp:txBody>
      <dsp:txXfrm>
        <a:off x="4591699" y="919389"/>
        <a:ext cx="272314" cy="273048"/>
      </dsp:txXfrm>
    </dsp:sp>
    <dsp:sp modelId="{1AA0B888-292D-4274-8A3D-9E8C27899190}">
      <dsp:nvSpPr>
        <dsp:cNvPr id="0" name=""/>
        <dsp:cNvSpPr/>
      </dsp:nvSpPr>
      <dsp:spPr>
        <a:xfrm>
          <a:off x="5142200" y="505413"/>
          <a:ext cx="1835001" cy="110100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shade val="50000"/>
                <a:hueOff val="-496566"/>
                <a:satOff val="0"/>
                <a:lumOff val="48303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50000"/>
                <a:hueOff val="-496566"/>
                <a:satOff val="0"/>
                <a:lumOff val="48303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50000"/>
                <a:hueOff val="-496566"/>
                <a:satOff val="0"/>
                <a:lumOff val="48303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Architectural Optimization</a:t>
          </a:r>
        </a:p>
      </dsp:txBody>
      <dsp:txXfrm>
        <a:off x="5174447" y="537660"/>
        <a:ext cx="1770507" cy="1036506"/>
      </dsp:txXfrm>
    </dsp:sp>
    <dsp:sp modelId="{D2A63571-318F-4139-8556-82357F40DFAC}">
      <dsp:nvSpPr>
        <dsp:cNvPr id="0" name=""/>
        <dsp:cNvSpPr/>
      </dsp:nvSpPr>
      <dsp:spPr>
        <a:xfrm>
          <a:off x="7160701" y="828373"/>
          <a:ext cx="389020" cy="455080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shade val="90000"/>
                <a:hueOff val="-353921"/>
                <a:satOff val="0"/>
                <a:lumOff val="26023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90000"/>
                <a:hueOff val="-353921"/>
                <a:satOff val="0"/>
                <a:lumOff val="26023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90000"/>
                <a:hueOff val="-353921"/>
                <a:satOff val="0"/>
                <a:lumOff val="26023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z="-80000" prstMaterial="plastic">
          <a:bevelT w="50800" h="50800"/>
          <a:bevelB w="25400" h="2540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/>
        </a:p>
      </dsp:txBody>
      <dsp:txXfrm>
        <a:off x="7160701" y="919389"/>
        <a:ext cx="272314" cy="273048"/>
      </dsp:txXfrm>
    </dsp:sp>
    <dsp:sp modelId="{BB1861F2-0922-470C-BB55-F2B07E559658}">
      <dsp:nvSpPr>
        <dsp:cNvPr id="0" name=""/>
        <dsp:cNvSpPr/>
      </dsp:nvSpPr>
      <dsp:spPr>
        <a:xfrm>
          <a:off x="7711201" y="505413"/>
          <a:ext cx="1835001" cy="110100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shade val="50000"/>
                <a:hueOff val="-248283"/>
                <a:satOff val="0"/>
                <a:lumOff val="2415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50000"/>
                <a:hueOff val="-248283"/>
                <a:satOff val="0"/>
                <a:lumOff val="2415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50000"/>
                <a:hueOff val="-248283"/>
                <a:satOff val="0"/>
                <a:lumOff val="2415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Future Work</a:t>
          </a:r>
        </a:p>
      </dsp:txBody>
      <dsp:txXfrm>
        <a:off x="7743448" y="537660"/>
        <a:ext cx="1770507" cy="103650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38315C9-6D76-4060-B8A7-B6FB9BD08497}">
      <dsp:nvSpPr>
        <dsp:cNvPr id="0" name=""/>
        <dsp:cNvSpPr/>
      </dsp:nvSpPr>
      <dsp:spPr>
        <a:xfrm>
          <a:off x="4196" y="505413"/>
          <a:ext cx="1835001" cy="110100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shade val="5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5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5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Deployable Security</a:t>
          </a:r>
        </a:p>
      </dsp:txBody>
      <dsp:txXfrm>
        <a:off x="36443" y="537660"/>
        <a:ext cx="1770507" cy="1036506"/>
      </dsp:txXfrm>
    </dsp:sp>
    <dsp:sp modelId="{F57A8BCC-CB34-4FE8-A94C-94C62D3C06D7}">
      <dsp:nvSpPr>
        <dsp:cNvPr id="0" name=""/>
        <dsp:cNvSpPr/>
      </dsp:nvSpPr>
      <dsp:spPr>
        <a:xfrm>
          <a:off x="2022698" y="828373"/>
          <a:ext cx="389020" cy="455080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shade val="9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9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9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z="-80000" prstMaterial="plastic">
          <a:bevelT w="50800" h="50800"/>
          <a:bevelB w="25400" h="2540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/>
        </a:p>
      </dsp:txBody>
      <dsp:txXfrm>
        <a:off x="2022698" y="919389"/>
        <a:ext cx="272314" cy="273048"/>
      </dsp:txXfrm>
    </dsp:sp>
    <dsp:sp modelId="{B1808118-423F-4693-AF53-B5655E0604C2}">
      <dsp:nvSpPr>
        <dsp:cNvPr id="0" name=""/>
        <dsp:cNvSpPr/>
      </dsp:nvSpPr>
      <dsp:spPr>
        <a:xfrm>
          <a:off x="2573198" y="505413"/>
          <a:ext cx="1835001" cy="110100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shade val="50000"/>
                <a:hueOff val="-248283"/>
                <a:satOff val="0"/>
                <a:lumOff val="2415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50000"/>
                <a:hueOff val="-248283"/>
                <a:satOff val="0"/>
                <a:lumOff val="2415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50000"/>
                <a:hueOff val="-248283"/>
                <a:satOff val="0"/>
                <a:lumOff val="2415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Network Efficiency</a:t>
          </a:r>
        </a:p>
      </dsp:txBody>
      <dsp:txXfrm>
        <a:off x="2605445" y="537660"/>
        <a:ext cx="1770507" cy="1036506"/>
      </dsp:txXfrm>
    </dsp:sp>
    <dsp:sp modelId="{0307ECB9-61A7-4828-AA94-720E853314F0}">
      <dsp:nvSpPr>
        <dsp:cNvPr id="0" name=""/>
        <dsp:cNvSpPr/>
      </dsp:nvSpPr>
      <dsp:spPr>
        <a:xfrm>
          <a:off x="4591699" y="828373"/>
          <a:ext cx="389020" cy="455080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shade val="90000"/>
                <a:hueOff val="-353921"/>
                <a:satOff val="0"/>
                <a:lumOff val="26023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90000"/>
                <a:hueOff val="-353921"/>
                <a:satOff val="0"/>
                <a:lumOff val="26023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90000"/>
                <a:hueOff val="-353921"/>
                <a:satOff val="0"/>
                <a:lumOff val="26023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z="-80000" prstMaterial="plastic">
          <a:bevelT w="50800" h="50800"/>
          <a:bevelB w="25400" h="2540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/>
        </a:p>
      </dsp:txBody>
      <dsp:txXfrm>
        <a:off x="4591699" y="919389"/>
        <a:ext cx="272314" cy="273048"/>
      </dsp:txXfrm>
    </dsp:sp>
    <dsp:sp modelId="{1AA0B888-292D-4274-8A3D-9E8C27899190}">
      <dsp:nvSpPr>
        <dsp:cNvPr id="0" name=""/>
        <dsp:cNvSpPr/>
      </dsp:nvSpPr>
      <dsp:spPr>
        <a:xfrm>
          <a:off x="5142200" y="505413"/>
          <a:ext cx="1835001" cy="110100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shade val="50000"/>
                <a:hueOff val="-496566"/>
                <a:satOff val="0"/>
                <a:lumOff val="48303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50000"/>
                <a:hueOff val="-496566"/>
                <a:satOff val="0"/>
                <a:lumOff val="48303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50000"/>
                <a:hueOff val="-496566"/>
                <a:satOff val="0"/>
                <a:lumOff val="48303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Architectural Optimization</a:t>
          </a:r>
        </a:p>
      </dsp:txBody>
      <dsp:txXfrm>
        <a:off x="5174447" y="537660"/>
        <a:ext cx="1770507" cy="1036506"/>
      </dsp:txXfrm>
    </dsp:sp>
    <dsp:sp modelId="{D2A63571-318F-4139-8556-82357F40DFAC}">
      <dsp:nvSpPr>
        <dsp:cNvPr id="0" name=""/>
        <dsp:cNvSpPr/>
      </dsp:nvSpPr>
      <dsp:spPr>
        <a:xfrm>
          <a:off x="7160701" y="828373"/>
          <a:ext cx="389020" cy="455080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shade val="90000"/>
                <a:hueOff val="-353921"/>
                <a:satOff val="0"/>
                <a:lumOff val="26023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90000"/>
                <a:hueOff val="-353921"/>
                <a:satOff val="0"/>
                <a:lumOff val="26023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90000"/>
                <a:hueOff val="-353921"/>
                <a:satOff val="0"/>
                <a:lumOff val="26023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z="-80000" prstMaterial="plastic">
          <a:bevelT w="50800" h="50800"/>
          <a:bevelB w="25400" h="2540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/>
        </a:p>
      </dsp:txBody>
      <dsp:txXfrm>
        <a:off x="7160701" y="919389"/>
        <a:ext cx="272314" cy="273048"/>
      </dsp:txXfrm>
    </dsp:sp>
    <dsp:sp modelId="{BB1861F2-0922-470C-BB55-F2B07E559658}">
      <dsp:nvSpPr>
        <dsp:cNvPr id="0" name=""/>
        <dsp:cNvSpPr/>
      </dsp:nvSpPr>
      <dsp:spPr>
        <a:xfrm>
          <a:off x="7711201" y="505413"/>
          <a:ext cx="1835001" cy="110100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shade val="50000"/>
                <a:hueOff val="-248283"/>
                <a:satOff val="0"/>
                <a:lumOff val="2415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50000"/>
                <a:hueOff val="-248283"/>
                <a:satOff val="0"/>
                <a:lumOff val="2415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50000"/>
                <a:hueOff val="-248283"/>
                <a:satOff val="0"/>
                <a:lumOff val="2415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Future Work</a:t>
          </a:r>
        </a:p>
      </dsp:txBody>
      <dsp:txXfrm>
        <a:off x="7743448" y="537660"/>
        <a:ext cx="1770507" cy="1036506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38315C9-6D76-4060-B8A7-B6FB9BD08497}">
      <dsp:nvSpPr>
        <dsp:cNvPr id="0" name=""/>
        <dsp:cNvSpPr/>
      </dsp:nvSpPr>
      <dsp:spPr>
        <a:xfrm>
          <a:off x="4196" y="505413"/>
          <a:ext cx="1835001" cy="110100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shade val="5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5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5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Deployable Security</a:t>
          </a:r>
        </a:p>
      </dsp:txBody>
      <dsp:txXfrm>
        <a:off x="36443" y="537660"/>
        <a:ext cx="1770507" cy="1036506"/>
      </dsp:txXfrm>
    </dsp:sp>
    <dsp:sp modelId="{F57A8BCC-CB34-4FE8-A94C-94C62D3C06D7}">
      <dsp:nvSpPr>
        <dsp:cNvPr id="0" name=""/>
        <dsp:cNvSpPr/>
      </dsp:nvSpPr>
      <dsp:spPr>
        <a:xfrm>
          <a:off x="2022698" y="828373"/>
          <a:ext cx="389020" cy="455080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shade val="9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9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9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z="-80000" prstMaterial="plastic">
          <a:bevelT w="50800" h="50800"/>
          <a:bevelB w="25400" h="2540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/>
        </a:p>
      </dsp:txBody>
      <dsp:txXfrm>
        <a:off x="2022698" y="919389"/>
        <a:ext cx="272314" cy="273048"/>
      </dsp:txXfrm>
    </dsp:sp>
    <dsp:sp modelId="{B1808118-423F-4693-AF53-B5655E0604C2}">
      <dsp:nvSpPr>
        <dsp:cNvPr id="0" name=""/>
        <dsp:cNvSpPr/>
      </dsp:nvSpPr>
      <dsp:spPr>
        <a:xfrm>
          <a:off x="2573198" y="505413"/>
          <a:ext cx="1835001" cy="110100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shade val="50000"/>
                <a:hueOff val="-248283"/>
                <a:satOff val="0"/>
                <a:lumOff val="2415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50000"/>
                <a:hueOff val="-248283"/>
                <a:satOff val="0"/>
                <a:lumOff val="2415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50000"/>
                <a:hueOff val="-248283"/>
                <a:satOff val="0"/>
                <a:lumOff val="2415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Network Efficiency</a:t>
          </a:r>
        </a:p>
      </dsp:txBody>
      <dsp:txXfrm>
        <a:off x="2605445" y="537660"/>
        <a:ext cx="1770507" cy="1036506"/>
      </dsp:txXfrm>
    </dsp:sp>
    <dsp:sp modelId="{0307ECB9-61A7-4828-AA94-720E853314F0}">
      <dsp:nvSpPr>
        <dsp:cNvPr id="0" name=""/>
        <dsp:cNvSpPr/>
      </dsp:nvSpPr>
      <dsp:spPr>
        <a:xfrm>
          <a:off x="4591699" y="828373"/>
          <a:ext cx="389020" cy="455080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shade val="90000"/>
                <a:hueOff val="-353921"/>
                <a:satOff val="0"/>
                <a:lumOff val="26023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90000"/>
                <a:hueOff val="-353921"/>
                <a:satOff val="0"/>
                <a:lumOff val="26023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90000"/>
                <a:hueOff val="-353921"/>
                <a:satOff val="0"/>
                <a:lumOff val="26023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z="-80000" prstMaterial="plastic">
          <a:bevelT w="50800" h="50800"/>
          <a:bevelB w="25400" h="2540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/>
        </a:p>
      </dsp:txBody>
      <dsp:txXfrm>
        <a:off x="4591699" y="919389"/>
        <a:ext cx="272314" cy="273048"/>
      </dsp:txXfrm>
    </dsp:sp>
    <dsp:sp modelId="{1AA0B888-292D-4274-8A3D-9E8C27899190}">
      <dsp:nvSpPr>
        <dsp:cNvPr id="0" name=""/>
        <dsp:cNvSpPr/>
      </dsp:nvSpPr>
      <dsp:spPr>
        <a:xfrm>
          <a:off x="5142200" y="505413"/>
          <a:ext cx="1835001" cy="110100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shade val="50000"/>
                <a:hueOff val="-496566"/>
                <a:satOff val="0"/>
                <a:lumOff val="48303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50000"/>
                <a:hueOff val="-496566"/>
                <a:satOff val="0"/>
                <a:lumOff val="48303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50000"/>
                <a:hueOff val="-496566"/>
                <a:satOff val="0"/>
                <a:lumOff val="48303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Architectural Optimization</a:t>
          </a:r>
        </a:p>
      </dsp:txBody>
      <dsp:txXfrm>
        <a:off x="5174447" y="537660"/>
        <a:ext cx="1770507" cy="1036506"/>
      </dsp:txXfrm>
    </dsp:sp>
    <dsp:sp modelId="{D2A63571-318F-4139-8556-82357F40DFAC}">
      <dsp:nvSpPr>
        <dsp:cNvPr id="0" name=""/>
        <dsp:cNvSpPr/>
      </dsp:nvSpPr>
      <dsp:spPr>
        <a:xfrm>
          <a:off x="7160701" y="828373"/>
          <a:ext cx="389020" cy="455080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shade val="90000"/>
                <a:hueOff val="-353921"/>
                <a:satOff val="0"/>
                <a:lumOff val="26023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90000"/>
                <a:hueOff val="-353921"/>
                <a:satOff val="0"/>
                <a:lumOff val="26023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90000"/>
                <a:hueOff val="-353921"/>
                <a:satOff val="0"/>
                <a:lumOff val="26023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z="-80000" prstMaterial="plastic">
          <a:bevelT w="50800" h="50800"/>
          <a:bevelB w="25400" h="2540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/>
        </a:p>
      </dsp:txBody>
      <dsp:txXfrm>
        <a:off x="7160701" y="919389"/>
        <a:ext cx="272314" cy="273048"/>
      </dsp:txXfrm>
    </dsp:sp>
    <dsp:sp modelId="{BB1861F2-0922-470C-BB55-F2B07E559658}">
      <dsp:nvSpPr>
        <dsp:cNvPr id="0" name=""/>
        <dsp:cNvSpPr/>
      </dsp:nvSpPr>
      <dsp:spPr>
        <a:xfrm>
          <a:off x="7711201" y="505413"/>
          <a:ext cx="1835001" cy="110100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shade val="50000"/>
                <a:hueOff val="-248283"/>
                <a:satOff val="0"/>
                <a:lumOff val="2415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50000"/>
                <a:hueOff val="-248283"/>
                <a:satOff val="0"/>
                <a:lumOff val="2415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50000"/>
                <a:hueOff val="-248283"/>
                <a:satOff val="0"/>
                <a:lumOff val="2415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Future Work</a:t>
          </a:r>
        </a:p>
      </dsp:txBody>
      <dsp:txXfrm>
        <a:off x="7743448" y="537660"/>
        <a:ext cx="1770507" cy="1036506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38315C9-6D76-4060-B8A7-B6FB9BD08497}">
      <dsp:nvSpPr>
        <dsp:cNvPr id="0" name=""/>
        <dsp:cNvSpPr/>
      </dsp:nvSpPr>
      <dsp:spPr>
        <a:xfrm>
          <a:off x="4196" y="505413"/>
          <a:ext cx="1835001" cy="110100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shade val="5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5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5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Deployable Security</a:t>
          </a:r>
        </a:p>
      </dsp:txBody>
      <dsp:txXfrm>
        <a:off x="36443" y="537660"/>
        <a:ext cx="1770507" cy="1036506"/>
      </dsp:txXfrm>
    </dsp:sp>
    <dsp:sp modelId="{F57A8BCC-CB34-4FE8-A94C-94C62D3C06D7}">
      <dsp:nvSpPr>
        <dsp:cNvPr id="0" name=""/>
        <dsp:cNvSpPr/>
      </dsp:nvSpPr>
      <dsp:spPr>
        <a:xfrm>
          <a:off x="2022698" y="828373"/>
          <a:ext cx="389020" cy="455080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shade val="9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9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9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z="-80000" prstMaterial="plastic">
          <a:bevelT w="50800" h="50800"/>
          <a:bevelB w="25400" h="2540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/>
        </a:p>
      </dsp:txBody>
      <dsp:txXfrm>
        <a:off x="2022698" y="919389"/>
        <a:ext cx="272314" cy="273048"/>
      </dsp:txXfrm>
    </dsp:sp>
    <dsp:sp modelId="{B1808118-423F-4693-AF53-B5655E0604C2}">
      <dsp:nvSpPr>
        <dsp:cNvPr id="0" name=""/>
        <dsp:cNvSpPr/>
      </dsp:nvSpPr>
      <dsp:spPr>
        <a:xfrm>
          <a:off x="2573198" y="505413"/>
          <a:ext cx="1835001" cy="110100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shade val="50000"/>
                <a:hueOff val="-248283"/>
                <a:satOff val="0"/>
                <a:lumOff val="2415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50000"/>
                <a:hueOff val="-248283"/>
                <a:satOff val="0"/>
                <a:lumOff val="2415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50000"/>
                <a:hueOff val="-248283"/>
                <a:satOff val="0"/>
                <a:lumOff val="2415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Network Efficiency</a:t>
          </a:r>
        </a:p>
      </dsp:txBody>
      <dsp:txXfrm>
        <a:off x="2605445" y="537660"/>
        <a:ext cx="1770507" cy="1036506"/>
      </dsp:txXfrm>
    </dsp:sp>
    <dsp:sp modelId="{0307ECB9-61A7-4828-AA94-720E853314F0}">
      <dsp:nvSpPr>
        <dsp:cNvPr id="0" name=""/>
        <dsp:cNvSpPr/>
      </dsp:nvSpPr>
      <dsp:spPr>
        <a:xfrm>
          <a:off x="4591699" y="828373"/>
          <a:ext cx="389020" cy="455080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shade val="90000"/>
                <a:hueOff val="-353921"/>
                <a:satOff val="0"/>
                <a:lumOff val="26023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90000"/>
                <a:hueOff val="-353921"/>
                <a:satOff val="0"/>
                <a:lumOff val="26023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90000"/>
                <a:hueOff val="-353921"/>
                <a:satOff val="0"/>
                <a:lumOff val="26023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z="-80000" prstMaterial="plastic">
          <a:bevelT w="50800" h="50800"/>
          <a:bevelB w="25400" h="2540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/>
        </a:p>
      </dsp:txBody>
      <dsp:txXfrm>
        <a:off x="4591699" y="919389"/>
        <a:ext cx="272314" cy="273048"/>
      </dsp:txXfrm>
    </dsp:sp>
    <dsp:sp modelId="{1AA0B888-292D-4274-8A3D-9E8C27899190}">
      <dsp:nvSpPr>
        <dsp:cNvPr id="0" name=""/>
        <dsp:cNvSpPr/>
      </dsp:nvSpPr>
      <dsp:spPr>
        <a:xfrm>
          <a:off x="5142200" y="505413"/>
          <a:ext cx="1835001" cy="110100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shade val="50000"/>
                <a:hueOff val="-496566"/>
                <a:satOff val="0"/>
                <a:lumOff val="48303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50000"/>
                <a:hueOff val="-496566"/>
                <a:satOff val="0"/>
                <a:lumOff val="48303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50000"/>
                <a:hueOff val="-496566"/>
                <a:satOff val="0"/>
                <a:lumOff val="48303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Architectural Optimization</a:t>
          </a:r>
        </a:p>
      </dsp:txBody>
      <dsp:txXfrm>
        <a:off x="5174447" y="537660"/>
        <a:ext cx="1770507" cy="1036506"/>
      </dsp:txXfrm>
    </dsp:sp>
    <dsp:sp modelId="{D2A63571-318F-4139-8556-82357F40DFAC}">
      <dsp:nvSpPr>
        <dsp:cNvPr id="0" name=""/>
        <dsp:cNvSpPr/>
      </dsp:nvSpPr>
      <dsp:spPr>
        <a:xfrm>
          <a:off x="7160701" y="828373"/>
          <a:ext cx="389020" cy="455080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shade val="90000"/>
                <a:hueOff val="-353921"/>
                <a:satOff val="0"/>
                <a:lumOff val="26023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90000"/>
                <a:hueOff val="-353921"/>
                <a:satOff val="0"/>
                <a:lumOff val="26023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90000"/>
                <a:hueOff val="-353921"/>
                <a:satOff val="0"/>
                <a:lumOff val="26023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z="-80000" prstMaterial="plastic">
          <a:bevelT w="50800" h="50800"/>
          <a:bevelB w="25400" h="2540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/>
        </a:p>
      </dsp:txBody>
      <dsp:txXfrm>
        <a:off x="7160701" y="919389"/>
        <a:ext cx="272314" cy="273048"/>
      </dsp:txXfrm>
    </dsp:sp>
    <dsp:sp modelId="{BB1861F2-0922-470C-BB55-F2B07E559658}">
      <dsp:nvSpPr>
        <dsp:cNvPr id="0" name=""/>
        <dsp:cNvSpPr/>
      </dsp:nvSpPr>
      <dsp:spPr>
        <a:xfrm>
          <a:off x="7711201" y="505413"/>
          <a:ext cx="1835001" cy="110100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shade val="50000"/>
                <a:hueOff val="-248283"/>
                <a:satOff val="0"/>
                <a:lumOff val="2415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50000"/>
                <a:hueOff val="-248283"/>
                <a:satOff val="0"/>
                <a:lumOff val="2415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50000"/>
                <a:hueOff val="-248283"/>
                <a:satOff val="0"/>
                <a:lumOff val="2415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Future Work</a:t>
          </a:r>
        </a:p>
      </dsp:txBody>
      <dsp:txXfrm>
        <a:off x="7743448" y="537660"/>
        <a:ext cx="1770507" cy="103650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F77051E-B811-D949-830F-55D35BA79CE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2EC375-152E-3F4A-8C1A-308E3DFABC4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830E4C-56B7-2443-B370-610F8D1BCD9C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AD90D4-C48B-C647-BA8A-B43CFA99A43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40E78B-91EF-F148-8F7B-2AEC532510C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7D0152-5968-C24B-9EC0-2DFF74304A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024884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CD2FD1-B169-9B41-A890-0ECD81C3476C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69943EA-69D9-7E49-97CD-A49926F617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1276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are utilizing neural networks more than ever and the very thing that makes them great is what is causing issues – at the end of the day everything is a resource constrained device,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9943EA-69D9-7E49-97CD-A49926F617C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84457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SUP: model vs NN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9943EA-69D9-7E49-97CD-A49926F617C9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9198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7DC15F-02C0-2229-D5E3-9C58A9CCD2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CC63DF-6338-45E5-2783-909D6D5F06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E90ECA-CF4F-6736-981C-C4915DDB88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SUP: explain sparse ; new question: 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750AEB-7C7D-38E8-6294-0112F9C460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9943EA-69D9-7E49-97CD-A49926F617C9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98651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D8CEC-D181-8C4D-B084-231477BF0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6742B1-1279-27CA-73B1-24FE3EB841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3E7ADB-B2F6-56A4-501A-150901FC24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SUP: Sparse matrix representation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A30590-4035-F45D-3684-732D531D9A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9943EA-69D9-7E49-97CD-A49926F617C9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306396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Stages show similar groupings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9943EA-69D9-7E49-97CD-A49926F617C9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28117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Add annotation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9943EA-69D9-7E49-97CD-A49926F617C9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151690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6AD823-6DD1-2F0C-72C3-A47AF37F62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5509BD-8B9A-1448-0391-FF32D9F245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7909FA-B561-166C-A6DB-D7D94E2D38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Add annotation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696C8C-4A80-E4F2-815B-862F995634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9943EA-69D9-7E49-97CD-A49926F617C9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6846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9943EA-69D9-7E49-97CD-A49926F617C9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209836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5AA31C-7DC0-C900-1B74-1A8F53220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F0A57A-A582-B6B3-9080-7AB21AACEC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51EC34-C6F1-36AF-7109-F17989B31B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SUP: explain sparse ; new question: 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C5EBE0-5B36-753B-3816-14AF4E2149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9943EA-69D9-7E49-97CD-A49926F617C9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43179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– Solid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CBAE84-700B-054E-8730-2262E5327E6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74725" y="2677626"/>
            <a:ext cx="10354360" cy="1843238"/>
          </a:xfrm>
        </p:spPr>
        <p:txBody>
          <a:bodyPr lIns="0" tIns="0" rIns="0" bIns="0" anchor="t" anchorCtr="0">
            <a:normAutofit/>
          </a:bodyPr>
          <a:lstStyle>
            <a:lvl1pPr algn="l">
              <a:defRPr sz="6000" b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Goes </a:t>
            </a:r>
            <a:br>
              <a:rPr lang="en-US"/>
            </a:br>
            <a:r>
              <a:rPr lang="en-US"/>
              <a:t>Right Here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4E1A789-3A04-9240-BCEC-3DACF2B52870}"/>
              </a:ext>
            </a:extLst>
          </p:cNvPr>
          <p:cNvCxnSpPr>
            <a:cxnSpLocks/>
          </p:cNvCxnSpPr>
          <p:nvPr userDrawn="1"/>
        </p:nvCxnSpPr>
        <p:spPr>
          <a:xfrm>
            <a:off x="974126" y="2339665"/>
            <a:ext cx="768531" cy="0"/>
          </a:xfrm>
          <a:prstGeom prst="line">
            <a:avLst/>
          </a:prstGeom>
          <a:ln w="635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Subtitle 2">
            <a:extLst>
              <a:ext uri="{FF2B5EF4-FFF2-40B4-BE49-F238E27FC236}">
                <a16:creationId xmlns:a16="http://schemas.microsoft.com/office/drawing/2014/main" id="{7055E247-542B-D541-8F36-DBA97343BC9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74725" y="4709626"/>
            <a:ext cx="10354360" cy="407460"/>
          </a:xfrm>
        </p:spPr>
        <p:txBody>
          <a:bodyPr lIns="0" tIns="0" rIns="0" bIns="0"/>
          <a:lstStyle>
            <a:lvl1pPr marL="0" indent="0" algn="l">
              <a:buNone/>
              <a:defRPr sz="2400" b="1">
                <a:solidFill>
                  <a:schemeClr val="accent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PRESENTATION SUBTITLE</a:t>
            </a:r>
          </a:p>
        </p:txBody>
      </p:sp>
      <p:sp>
        <p:nvSpPr>
          <p:cNvPr id="6" name="Text Placeholder 15">
            <a:extLst>
              <a:ext uri="{FF2B5EF4-FFF2-40B4-BE49-F238E27FC236}">
                <a16:creationId xmlns:a16="http://schemas.microsoft.com/office/drawing/2014/main" id="{2BBC7A98-1B1E-8545-AABD-0F79723A230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74725" y="5148794"/>
            <a:ext cx="10354360" cy="463108"/>
          </a:xfrm>
        </p:spPr>
        <p:txBody>
          <a:bodyPr lIns="0" tIns="0" rIns="0" bIns="0">
            <a:normAutofit/>
          </a:bodyPr>
          <a:lstStyle>
            <a:lvl1pPr marL="0" indent="0">
              <a:buNone/>
              <a:defRPr sz="240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Month XX, 2020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AA810B86-CAB7-EA43-BC2F-6E66762DC8D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52500" y="1774216"/>
            <a:ext cx="10376585" cy="365125"/>
          </a:xfrm>
          <a:prstGeom prst="rect">
            <a:avLst/>
          </a:prstGeom>
          <a:noFill/>
        </p:spPr>
        <p:txBody>
          <a:bodyPr vert="horz" lIns="0" tIns="0" rIns="0" bIns="0" rtlCol="0" anchor="ctr"/>
          <a:lstStyle>
            <a:lvl1pPr algn="l">
              <a:defRPr sz="2200" b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Insert-&gt;Header and Footer-&gt;Type Customizable Name</a:t>
            </a:r>
          </a:p>
        </p:txBody>
      </p:sp>
      <p:pic>
        <p:nvPicPr>
          <p:cNvPr id="12" name="Picture 11" descr="The University of Iowa">
            <a:extLst>
              <a:ext uri="{FF2B5EF4-FFF2-40B4-BE49-F238E27FC236}">
                <a16:creationId xmlns:a16="http://schemas.microsoft.com/office/drawing/2014/main" id="{A096FDD2-3609-3C49-9ED5-616F9E36DB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625016" y="0"/>
            <a:ext cx="2693773" cy="1279542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BEEDFE2-0F2F-5B5E-EF0E-1C268052549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99010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60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– Solid Gol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CBAE84-700B-054E-8730-2262E5327E6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74725" y="2677626"/>
            <a:ext cx="9144000" cy="1843238"/>
          </a:xfrm>
        </p:spPr>
        <p:txBody>
          <a:bodyPr lIns="0" tIns="0" rIns="0" bIns="0" anchor="t" anchorCtr="0">
            <a:normAutofit/>
          </a:bodyPr>
          <a:lstStyle>
            <a:lvl1pPr algn="l">
              <a:defRPr sz="6000" b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Goes Right Here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4E1A789-3A04-9240-BCEC-3DACF2B52870}"/>
              </a:ext>
            </a:extLst>
          </p:cNvPr>
          <p:cNvCxnSpPr>
            <a:cxnSpLocks/>
          </p:cNvCxnSpPr>
          <p:nvPr userDrawn="1"/>
        </p:nvCxnSpPr>
        <p:spPr>
          <a:xfrm>
            <a:off x="974126" y="2339665"/>
            <a:ext cx="768531" cy="0"/>
          </a:xfrm>
          <a:prstGeom prst="line">
            <a:avLst/>
          </a:prstGeom>
          <a:ln w="635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Subtitle 2">
            <a:extLst>
              <a:ext uri="{FF2B5EF4-FFF2-40B4-BE49-F238E27FC236}">
                <a16:creationId xmlns:a16="http://schemas.microsoft.com/office/drawing/2014/main" id="{7055E247-542B-D541-8F36-DBA97343BC9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74725" y="4709626"/>
            <a:ext cx="9144000" cy="407460"/>
          </a:xfrm>
        </p:spPr>
        <p:txBody>
          <a:bodyPr lIns="0" tIns="0" rIns="0" bIns="0"/>
          <a:lstStyle>
            <a:lvl1pPr marL="0" indent="0" algn="l">
              <a:buNone/>
              <a:defRPr sz="2400" b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PRESENTATION SUBTITLE</a:t>
            </a:r>
          </a:p>
        </p:txBody>
      </p:sp>
      <p:sp>
        <p:nvSpPr>
          <p:cNvPr id="6" name="Text Placeholder 15">
            <a:extLst>
              <a:ext uri="{FF2B5EF4-FFF2-40B4-BE49-F238E27FC236}">
                <a16:creationId xmlns:a16="http://schemas.microsoft.com/office/drawing/2014/main" id="{2BBC7A98-1B1E-8545-AABD-0F79723A230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74725" y="5087150"/>
            <a:ext cx="9144000" cy="463108"/>
          </a:xfrm>
        </p:spPr>
        <p:txBody>
          <a:bodyPr lIns="0" tIns="0" rIns="0" bIns="0"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Month XX, 2020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AA810B86-CAB7-EA43-BC2F-6E66762DC8D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52500" y="1774216"/>
            <a:ext cx="9166225" cy="365125"/>
          </a:xfrm>
          <a:prstGeom prst="rect">
            <a:avLst/>
          </a:prstGeom>
          <a:noFill/>
        </p:spPr>
        <p:txBody>
          <a:bodyPr vert="horz" lIns="0" tIns="0" rIns="0" bIns="0" rtlCol="0" anchor="ctr"/>
          <a:lstStyle>
            <a:lvl1pPr algn="l">
              <a:defRPr sz="2200" b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Insert-&gt;Header and Footer-&gt;Type Customizable Name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A685527-7A8C-3647-9D96-6D076FA7A7C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8628383" y="0"/>
            <a:ext cx="2687038" cy="1279542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81548D1-6E27-E627-6E48-03CB3EE838E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78892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0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Image– Solid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CBAE84-700B-054E-8730-2262E5327E6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60097" y="2184901"/>
            <a:ext cx="6155725" cy="2431224"/>
          </a:xfrm>
        </p:spPr>
        <p:txBody>
          <a:bodyPr anchor="ctr" anchorCtr="0">
            <a:normAutofit/>
          </a:bodyPr>
          <a:lstStyle>
            <a:lvl1pPr algn="l">
              <a:defRPr sz="55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Example of the Presentation </a:t>
            </a:r>
            <a:br>
              <a:rPr lang="en-US"/>
            </a:br>
            <a:r>
              <a:rPr lang="en-US"/>
              <a:t>Title Slide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114C79AA-0B96-2A43-86A1-A71A1D4C8E7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60098" y="4676833"/>
            <a:ext cx="6155726" cy="494797"/>
          </a:xfrm>
        </p:spPr>
        <p:txBody>
          <a:bodyPr/>
          <a:lstStyle>
            <a:lvl1pPr marL="0" indent="0" algn="l">
              <a:buNone/>
              <a:defRPr sz="2400" b="1">
                <a:solidFill>
                  <a:schemeClr val="accent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PRESENTATION SUBTITLE</a:t>
            </a:r>
          </a:p>
        </p:txBody>
      </p:sp>
      <p:sp>
        <p:nvSpPr>
          <p:cNvPr id="14" name="Text Placeholder 15">
            <a:extLst>
              <a:ext uri="{FF2B5EF4-FFF2-40B4-BE49-F238E27FC236}">
                <a16:creationId xmlns:a16="http://schemas.microsoft.com/office/drawing/2014/main" id="{A7101AB8-54F7-4A4E-9611-F4F2ECFBD1D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60096" y="5139429"/>
            <a:ext cx="6155726" cy="495309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Month XX, 2020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3BDD4F96-5BFE-3049-B4E0-9CDD4F5C36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929599" y="152400"/>
            <a:ext cx="3385601" cy="919069"/>
          </a:xfrm>
          <a:prstGeom prst="rect">
            <a:avLst/>
          </a:prstGeom>
          <a:noFill/>
        </p:spPr>
        <p:txBody>
          <a:bodyPr vert="horz" lIns="0" tIns="0" rIns="0" bIns="0" rtlCol="0" anchor="b" anchorCtr="0"/>
          <a:lstStyle>
            <a:lvl1pPr algn="l">
              <a:defRPr sz="2000" b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Insert-&gt;Header and Footer-&gt;Type Customizable Name</a:t>
            </a:r>
            <a:endParaRPr lang="en-US">
              <a:solidFill>
                <a:schemeClr val="bg1"/>
              </a:solidFill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49CB936-90E7-D144-B9DC-7CF3F98E2FF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47738" y="1599"/>
            <a:ext cx="2687038" cy="1276343"/>
          </a:xfrm>
          <a:prstGeom prst="rect">
            <a:avLst/>
          </a:prstGeom>
        </p:spPr>
      </p:pic>
      <p:sp>
        <p:nvSpPr>
          <p:cNvPr id="18" name="Picture Placeholder 4">
            <a:extLst>
              <a:ext uri="{FF2B5EF4-FFF2-40B4-BE49-F238E27FC236}">
                <a16:creationId xmlns:a16="http://schemas.microsoft.com/office/drawing/2014/main" id="{2C35F063-23A9-F244-9022-8BBB7E277AC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24118" y="0"/>
            <a:ext cx="4567882" cy="6858000"/>
          </a:xfrm>
          <a:prstGeom prst="rect">
            <a:avLst/>
          </a:prstGeom>
        </p:spPr>
        <p:txBody>
          <a:bodyPr anchor="ctr" anchorCtr="0"/>
          <a:lstStyle>
            <a:lvl1pPr marL="0" indent="0" algn="ctr">
              <a:buNone/>
              <a:defRPr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DAB83F4-9689-9B2B-AC0B-A64F1ADA1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94137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597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Image– Solid Gol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CBAE84-700B-054E-8730-2262E5327E6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60097" y="2184901"/>
            <a:ext cx="6155725" cy="2561760"/>
          </a:xfrm>
        </p:spPr>
        <p:txBody>
          <a:bodyPr anchor="ctr" anchorCtr="0">
            <a:normAutofit/>
          </a:bodyPr>
          <a:lstStyle>
            <a:lvl1pPr algn="l">
              <a:defRPr sz="55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Example of the Presentation </a:t>
            </a:r>
            <a:br>
              <a:rPr lang="en-US"/>
            </a:br>
            <a:r>
              <a:rPr lang="en-US"/>
              <a:t>Title Slide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5B3A797-13D4-A243-B1AE-4498B36D475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60098" y="4676833"/>
            <a:ext cx="6155726" cy="494797"/>
          </a:xfrm>
        </p:spPr>
        <p:txBody>
          <a:bodyPr/>
          <a:lstStyle>
            <a:lvl1pPr marL="0" indent="0" algn="l">
              <a:buNone/>
              <a:defRPr sz="2400" b="1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PRESENTATION SUBTITLE</a:t>
            </a:r>
          </a:p>
        </p:txBody>
      </p:sp>
      <p:sp>
        <p:nvSpPr>
          <p:cNvPr id="17" name="Text Placeholder 15">
            <a:extLst>
              <a:ext uri="{FF2B5EF4-FFF2-40B4-BE49-F238E27FC236}">
                <a16:creationId xmlns:a16="http://schemas.microsoft.com/office/drawing/2014/main" id="{884DA5E7-4B71-0543-8E46-EC2A81EAE3C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60096" y="5139429"/>
            <a:ext cx="6155726" cy="495309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Month XX, 2020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6EBCADCB-4DBB-9C43-A696-780C0577573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929599" y="152400"/>
            <a:ext cx="3385601" cy="919069"/>
          </a:xfrm>
          <a:prstGeom prst="rect">
            <a:avLst/>
          </a:prstGeom>
          <a:noFill/>
        </p:spPr>
        <p:txBody>
          <a:bodyPr vert="horz" lIns="0" tIns="0" rIns="0" bIns="0" rtlCol="0" anchor="b" anchorCtr="0"/>
          <a:lstStyle>
            <a:lvl1pPr algn="l">
              <a:defRPr sz="2000" b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Insert-&gt;Header and Footer-&gt;Type Customizable Name</a:t>
            </a:r>
          </a:p>
        </p:txBody>
      </p:sp>
      <p:sp>
        <p:nvSpPr>
          <p:cNvPr id="18" name="Picture Placeholder 4">
            <a:extLst>
              <a:ext uri="{FF2B5EF4-FFF2-40B4-BE49-F238E27FC236}">
                <a16:creationId xmlns:a16="http://schemas.microsoft.com/office/drawing/2014/main" id="{2C35F063-23A9-F244-9022-8BBB7E277AC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24118" y="0"/>
            <a:ext cx="4567882" cy="6858000"/>
          </a:xfrm>
          <a:prstGeom prst="rect">
            <a:avLst/>
          </a:prstGeom>
        </p:spPr>
        <p:txBody>
          <a:bodyPr anchor="ctr" anchorCtr="0"/>
          <a:lstStyle>
            <a:lvl1pPr marL="0" indent="0" algn="ctr">
              <a:buNone/>
              <a:defRPr b="0" i="0">
                <a:solidFill>
                  <a:schemeClr val="accent3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73F5E00-2329-6246-A2BB-7BCD46F839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47738" y="0"/>
            <a:ext cx="2687038" cy="1279542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7DE2A5-3721-D434-DA10-719B0240A2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92098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597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Slide – Solid Gol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CBAE84-700B-054E-8730-2262E5327E6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52500" y="2805221"/>
            <a:ext cx="10286999" cy="759906"/>
          </a:xfrm>
        </p:spPr>
        <p:txBody>
          <a:bodyPr lIns="0" tIns="0" rIns="0" bIns="0" anchor="t" anchorCtr="0">
            <a:normAutofit/>
          </a:bodyPr>
          <a:lstStyle>
            <a:lvl1pPr algn="l">
              <a:defRPr sz="6000" b="1">
                <a:solidFill>
                  <a:schemeClr val="tx1"/>
                </a:solidFill>
                <a:latin typeface="+mj-lt"/>
                <a:ea typeface="Roboto Black" panose="02000000000000000000" pitchFamily="2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Section Header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4E1A789-3A04-9240-BCEC-3DACF2B52870}"/>
              </a:ext>
            </a:extLst>
          </p:cNvPr>
          <p:cNvCxnSpPr>
            <a:cxnSpLocks/>
          </p:cNvCxnSpPr>
          <p:nvPr userDrawn="1"/>
        </p:nvCxnSpPr>
        <p:spPr>
          <a:xfrm>
            <a:off x="974126" y="2578471"/>
            <a:ext cx="768531" cy="0"/>
          </a:xfrm>
          <a:prstGeom prst="line">
            <a:avLst/>
          </a:prstGeom>
          <a:ln w="635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Subtitle 2">
            <a:extLst>
              <a:ext uri="{FF2B5EF4-FFF2-40B4-BE49-F238E27FC236}">
                <a16:creationId xmlns:a16="http://schemas.microsoft.com/office/drawing/2014/main" id="{7055E247-542B-D541-8F36-DBA97343BC9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52500" y="3791876"/>
            <a:ext cx="10286999" cy="407460"/>
          </a:xfrm>
        </p:spPr>
        <p:txBody>
          <a:bodyPr lIns="0" tIns="0" rIns="0" bIns="0"/>
          <a:lstStyle>
            <a:lvl1pPr marL="0" indent="0" algn="l">
              <a:buNone/>
              <a:defRPr sz="2400" b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Section Subtitle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88E68DF-CD6D-A951-12EF-C2EDB59174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12720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  <p15:guide id="3" pos="600" userDrawn="1">
          <p15:clr>
            <a:srgbClr val="FBAE40"/>
          </p15:clr>
        </p15:guide>
        <p15:guide id="4" pos="708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Slide – Solid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CBAE84-700B-054E-8730-2262E5327E6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52500" y="2805221"/>
            <a:ext cx="10286999" cy="759907"/>
          </a:xfrm>
        </p:spPr>
        <p:txBody>
          <a:bodyPr lIns="0" tIns="0" rIns="0" bIns="0" anchor="t" anchorCtr="0">
            <a:normAutofit/>
          </a:bodyPr>
          <a:lstStyle>
            <a:lvl1pPr algn="l">
              <a:defRPr sz="6000" b="1">
                <a:solidFill>
                  <a:schemeClr val="bg1"/>
                </a:solidFill>
                <a:latin typeface="+mj-lt"/>
                <a:ea typeface="Roboto Black" panose="02000000000000000000" pitchFamily="2" charset="0"/>
                <a:cs typeface="Arial" panose="020B0604020202020204" pitchFamily="34" charset="0"/>
              </a:defRPr>
            </a:lvl1pPr>
          </a:lstStyle>
          <a:p>
            <a:r>
              <a:rPr lang="en-US" noProof="0"/>
              <a:t>Section Header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4E1A789-3A04-9240-BCEC-3DACF2B52870}"/>
              </a:ext>
            </a:extLst>
          </p:cNvPr>
          <p:cNvCxnSpPr>
            <a:cxnSpLocks/>
          </p:cNvCxnSpPr>
          <p:nvPr userDrawn="1"/>
        </p:nvCxnSpPr>
        <p:spPr>
          <a:xfrm>
            <a:off x="974126" y="2578471"/>
            <a:ext cx="768531" cy="0"/>
          </a:xfrm>
          <a:prstGeom prst="line">
            <a:avLst/>
          </a:prstGeom>
          <a:ln w="635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Subtitle 2">
            <a:extLst>
              <a:ext uri="{FF2B5EF4-FFF2-40B4-BE49-F238E27FC236}">
                <a16:creationId xmlns:a16="http://schemas.microsoft.com/office/drawing/2014/main" id="{8FB54BE8-0526-614C-A06E-8C6258999B2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52500" y="3791876"/>
            <a:ext cx="10286999" cy="407460"/>
          </a:xfrm>
        </p:spPr>
        <p:txBody>
          <a:bodyPr lIns="0" tIns="0" rIns="0" bIns="0"/>
          <a:lstStyle>
            <a:lvl1pPr marL="0" indent="0" algn="l">
              <a:buNone/>
              <a:defRPr sz="2400" b="0">
                <a:solidFill>
                  <a:schemeClr val="accent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Section Subtitle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B3DB1A8-F3AB-2B22-9BF2-99C42B89CE7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92828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600">
          <p15:clr>
            <a:srgbClr val="FBAE40"/>
          </p15:clr>
        </p15:guide>
        <p15:guide id="4" pos="708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Slide –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2C17923A-4119-CF48-9F2D-05B0A69EBAD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6858000"/>
          </a:xfrm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accent3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8224488-0ADE-1843-91C1-1CA371373F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7661" y="2215171"/>
            <a:ext cx="4368798" cy="646331"/>
          </a:xfrm>
          <a:solidFill>
            <a:schemeClr val="accent1"/>
          </a:solidFill>
        </p:spPr>
        <p:txBody>
          <a:bodyPr wrap="square" lIns="91440" tIns="91440" bIns="0">
            <a:spAutoFit/>
          </a:bodyPr>
          <a:lstStyle/>
          <a:p>
            <a:r>
              <a:rPr lang="en-US"/>
              <a:t>SECTION HEADER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6F3B462-4517-FB3A-2DBB-733BF997B5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80736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1">
            <a:extLst>
              <a:ext uri="{FF2B5EF4-FFF2-40B4-BE49-F238E27FC236}">
                <a16:creationId xmlns:a16="http://schemas.microsoft.com/office/drawing/2014/main" id="{C070F21D-F194-034E-812B-69D1C6CDD0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BA13FBC-A4AA-9B4F-8E9B-12CD6600150E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722C1D3A-9762-7F4D-AB5C-A3F0114B67B2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16" name="Picture 15" descr="The University of Iowa">
            <a:extLst>
              <a:ext uri="{FF2B5EF4-FFF2-40B4-BE49-F238E27FC236}">
                <a16:creationId xmlns:a16="http://schemas.microsoft.com/office/drawing/2014/main" id="{7148CCDA-64E4-6A4E-A6A7-D2AB55159A1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FAE079D-23CF-2543-B543-90A5EB0D2C2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  <a:endParaRPr lang="en-US" b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C1AE5E7-F95C-862E-7E40-048B067529C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8338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96">
          <p15:clr>
            <a:srgbClr val="FBAE40"/>
          </p15:clr>
        </p15:guide>
        <p15:guide id="2" pos="600">
          <p15:clr>
            <a:srgbClr val="FBAE40"/>
          </p15:clr>
        </p15:guide>
        <p15:guide id="3" pos="7080">
          <p15:clr>
            <a:srgbClr val="FBAE40"/>
          </p15:clr>
        </p15:guide>
        <p15:guide id="4" pos="3840">
          <p15:clr>
            <a:srgbClr val="FBAE40"/>
          </p15:clr>
        </p15:guide>
        <p15:guide id="5" orient="horz" pos="1056">
          <p15:clr>
            <a:srgbClr val="FBAE40"/>
          </p15:clr>
        </p15:guide>
        <p15:guide id="7" orient="horz" pos="2400" userDrawn="1">
          <p15:clr>
            <a:srgbClr val="FBAE40"/>
          </p15:clr>
        </p15:guide>
        <p15:guide id="8" orient="horz" pos="3744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1">
            <a:extLst>
              <a:ext uri="{FF2B5EF4-FFF2-40B4-BE49-F238E27FC236}">
                <a16:creationId xmlns:a16="http://schemas.microsoft.com/office/drawing/2014/main" id="{BE68DE55-0579-EC46-BD52-181870AFB6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88200BB2-D6D1-6642-8F66-9B4F37EC8187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F35C2BC9-7AF3-6D49-8036-36D81872E84B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952498" y="1686757"/>
            <a:ext cx="10251527" cy="4256843"/>
          </a:xfrm>
        </p:spPr>
        <p:txBody>
          <a:bodyPr lIns="0" tIns="0" rIns="0" bIns="0"/>
          <a:lstStyle>
            <a:lvl1pPr marL="228600" indent="-228600"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685800" indent="-228600"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1143000" indent="-228600">
              <a:buClr>
                <a:schemeClr val="tx2"/>
              </a:buClr>
              <a:buSzPct val="100000"/>
              <a:buFont typeface="Roboto" panose="02000000000000000000" pitchFamily="2" charset="0"/>
              <a:buChar char="•"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600200" indent="-228600">
              <a:buClr>
                <a:schemeClr val="tx2"/>
              </a:buClr>
              <a:buSzPct val="100000"/>
              <a:buFont typeface="Roboto" panose="02000000000000000000" pitchFamily="2" charset="0"/>
              <a:buChar char="―"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2057400" indent="-228600"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0937044-371D-C149-9F72-3D8FBA4605CF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14" name="Picture 13" descr="The University of Iowa">
            <a:extLst>
              <a:ext uri="{FF2B5EF4-FFF2-40B4-BE49-F238E27FC236}">
                <a16:creationId xmlns:a16="http://schemas.microsoft.com/office/drawing/2014/main" id="{DC5F3A3D-928C-F445-ACB3-2C38F21F6DA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52F140A7-DF6E-3245-BC22-1F0E9CFEE8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  <a:endParaRPr lang="en-US" b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EDDAD99-4BCE-9D39-BA82-E284BE9177A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11653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96" userDrawn="1">
          <p15:clr>
            <a:srgbClr val="FBAE40"/>
          </p15:clr>
        </p15:guide>
        <p15:guide id="2" pos="600" userDrawn="1">
          <p15:clr>
            <a:srgbClr val="FBAE40"/>
          </p15:clr>
        </p15:guide>
        <p15:guide id="3" pos="7080" userDrawn="1">
          <p15:clr>
            <a:srgbClr val="FBAE40"/>
          </p15:clr>
        </p15:guide>
        <p15:guide id="4" pos="3840" userDrawn="1">
          <p15:clr>
            <a:srgbClr val="FBAE40"/>
          </p15:clr>
        </p15:guide>
        <p15:guide id="5" orient="horz" pos="1056" userDrawn="1">
          <p15:clr>
            <a:srgbClr val="FBAE40"/>
          </p15:clr>
        </p15:guide>
        <p15:guide id="7" orient="horz" pos="3744" userDrawn="1">
          <p15:clr>
            <a:srgbClr val="FBAE40"/>
          </p15:clr>
        </p15:guide>
        <p15:guide id="8" orient="horz" pos="240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ullet Slide - 2 Line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5AAEF4-B950-814D-A811-CD17BDDF04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52500" y="389509"/>
            <a:ext cx="10287000" cy="1331865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 </a:t>
            </a:r>
            <a:br>
              <a:rPr lang="en-US"/>
            </a:br>
            <a:r>
              <a:rPr lang="en-US"/>
              <a:t>that runs to two lines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BB5BDD8-8221-F040-8AE0-3F33C4E24CA0}"/>
              </a:ext>
            </a:extLst>
          </p:cNvPr>
          <p:cNvCxnSpPr>
            <a:cxnSpLocks/>
          </p:cNvCxnSpPr>
          <p:nvPr userDrawn="1"/>
        </p:nvCxnSpPr>
        <p:spPr>
          <a:xfrm>
            <a:off x="952500" y="17340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CD2525-98F9-924C-B8E5-083B38E282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2500" y="2050741"/>
            <a:ext cx="10287000" cy="3892859"/>
          </a:xfrm>
        </p:spPr>
        <p:txBody>
          <a:bodyPr lIns="0" tIns="0" rIns="0" bIns="0"/>
          <a:lstStyle>
            <a:lvl1pPr marL="228600" indent="-228600"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685800" indent="-228600">
              <a:buClr>
                <a:schemeClr val="tx2"/>
              </a:buClr>
              <a:buSzPct val="100000"/>
              <a:buFont typeface="Roboto" panose="02000000000000000000" pitchFamily="2" charset="0"/>
              <a:buChar char="–"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1143000" indent="-228600"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600200" indent="-228600"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2057400" indent="-228600"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995AAAF-3BA6-4445-BF32-091644479611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14" name="Picture 13" descr="The University of Iowa">
            <a:extLst>
              <a:ext uri="{FF2B5EF4-FFF2-40B4-BE49-F238E27FC236}">
                <a16:creationId xmlns:a16="http://schemas.microsoft.com/office/drawing/2014/main" id="{0AA5F87C-9826-7441-9CF2-6F364BF7D9C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8678EF36-A6E8-DB4E-8C3A-B3624ECEE4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  <a:endParaRPr lang="en-US" b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984168-1890-42B7-2F95-65F2396EFB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79633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00" userDrawn="1">
          <p15:clr>
            <a:srgbClr val="FBAE40"/>
          </p15:clr>
        </p15:guide>
        <p15:guide id="2" pos="3840" userDrawn="1">
          <p15:clr>
            <a:srgbClr val="FBAE40"/>
          </p15:clr>
        </p15:guide>
        <p15:guide id="3" pos="600" userDrawn="1">
          <p15:clr>
            <a:srgbClr val="FBAE40"/>
          </p15:clr>
        </p15:guide>
        <p15:guide id="4" pos="7080" userDrawn="1">
          <p15:clr>
            <a:srgbClr val="FBAE40"/>
          </p15:clr>
        </p15:guide>
        <p15:guide id="8" orient="horz" pos="3744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Tex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62D2F673-8F81-4982-AA66-35312BF385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D57D41-E534-4387-8837-F27E5C2408BD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4F85108-BDC9-43A2-BEF1-240E666F4E0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52500" y="1686758"/>
            <a:ext cx="4800224" cy="754602"/>
          </a:xfrm>
        </p:spPr>
        <p:txBody>
          <a:bodyPr lIns="0" tIns="0" rIns="0" bIns="0" anchor="b" anchorCtr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68A6427-DC92-4AE6-82DE-34A0B3A972EE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952501" y="2674398"/>
            <a:ext cx="4800219" cy="3279254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A07502CC-5B90-4BCF-B63B-36D026C9AE96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6433724" y="1676706"/>
            <a:ext cx="4800224" cy="754602"/>
          </a:xfrm>
        </p:spPr>
        <p:txBody>
          <a:bodyPr lIns="0" tIns="0" rIns="0" bIns="0" anchor="b" anchorCtr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F169EF16-BA54-4279-A087-A65E4F26675F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6433725" y="2664346"/>
            <a:ext cx="4800224" cy="3279254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EF932C4-F1C3-47F2-84B8-FEC885C1843C}"/>
              </a:ext>
            </a:extLst>
          </p:cNvPr>
          <p:cNvCxnSpPr>
            <a:cxnSpLocks/>
          </p:cNvCxnSpPr>
          <p:nvPr userDrawn="1"/>
        </p:nvCxnSpPr>
        <p:spPr>
          <a:xfrm>
            <a:off x="6096000" y="1686758"/>
            <a:ext cx="0" cy="4256842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C8B99253-B000-1442-A7D2-EB536C15CBCB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18" name="Picture 17" descr="The University of Iowa">
            <a:extLst>
              <a:ext uri="{FF2B5EF4-FFF2-40B4-BE49-F238E27FC236}">
                <a16:creationId xmlns:a16="http://schemas.microsoft.com/office/drawing/2014/main" id="{A96F9427-B9C2-6F44-ADD6-28635EDF4B2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45D918E3-A228-4F47-B892-288E22CD6CB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  <a:endParaRPr lang="en-US" b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953AA63-24A7-BA03-FD7C-51EFC52A9F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94227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4" userDrawn="1">
          <p15:clr>
            <a:srgbClr val="FBAE40"/>
          </p15:clr>
        </p15:guide>
        <p15:guide id="2" pos="598">
          <p15:clr>
            <a:srgbClr val="FBAE40"/>
          </p15:clr>
        </p15:guide>
        <p15:guide id="3" pos="7080">
          <p15:clr>
            <a:srgbClr val="FBAE40"/>
          </p15:clr>
        </p15:guide>
        <p15:guide id="4" pos="3840">
          <p15:clr>
            <a:srgbClr val="FBAE40"/>
          </p15:clr>
        </p15:guide>
        <p15:guide id="5" orient="horz" pos="1054" userDrawn="1">
          <p15:clr>
            <a:srgbClr val="FBAE40"/>
          </p15:clr>
        </p15:guide>
        <p15:guide id="6" orient="horz" pos="697" userDrawn="1">
          <p15:clr>
            <a:srgbClr val="FBAE40"/>
          </p15:clr>
        </p15:guide>
        <p15:guide id="7" orient="horz" pos="240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 Tex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B103BAF8-AE0C-4C2A-AFFE-5EFC74007B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D57D41-E534-4387-8837-F27E5C2408BD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4F85108-BDC9-43A2-BEF1-240E666F4E0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52500" y="1686758"/>
            <a:ext cx="3166740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68A6427-DC92-4AE6-82DE-34A0B3A972EE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952501" y="2674398"/>
            <a:ext cx="3166740" cy="3269204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700A296A-0A06-4FFB-B935-517187294F6B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616385" y="1686756"/>
            <a:ext cx="2973372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4DA600F9-1950-41BD-ACB3-21F2B5AE9494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4616386" y="2674396"/>
            <a:ext cx="2973372" cy="3269204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D4DB30FF-E82C-424F-A06C-EFC3CFC45E36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8063514" y="1686756"/>
            <a:ext cx="3166740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6DC4408-89C4-4D74-957E-B2A4D59F76AE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8063515" y="2674396"/>
            <a:ext cx="3166740" cy="3269204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CA77083-F133-420F-93AD-77761878E852}"/>
              </a:ext>
            </a:extLst>
          </p:cNvPr>
          <p:cNvCxnSpPr/>
          <p:nvPr userDrawn="1"/>
        </p:nvCxnSpPr>
        <p:spPr>
          <a:xfrm>
            <a:off x="7806430" y="1679383"/>
            <a:ext cx="0" cy="4264218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336E4CD-9037-4D69-A3E3-6380D9131A19}"/>
              </a:ext>
            </a:extLst>
          </p:cNvPr>
          <p:cNvCxnSpPr/>
          <p:nvPr userDrawn="1"/>
        </p:nvCxnSpPr>
        <p:spPr>
          <a:xfrm>
            <a:off x="4376691" y="1679383"/>
            <a:ext cx="0" cy="4264218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2944143A-0CC6-6041-BD38-4C994DA8E0B2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23" name="Picture 22" descr="The University of Iowa">
            <a:extLst>
              <a:ext uri="{FF2B5EF4-FFF2-40B4-BE49-F238E27FC236}">
                <a16:creationId xmlns:a16="http://schemas.microsoft.com/office/drawing/2014/main" id="{529638AC-0ED3-DE46-BC83-28B1D845EE0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642FB62D-41EB-7A41-B0D2-60C8BB6A316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  <a:endParaRPr lang="en-US" b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410CF93-D03B-C8A5-E03C-C72C92252ED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17747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598" userDrawn="1">
          <p15:clr>
            <a:srgbClr val="FBAE40"/>
          </p15:clr>
        </p15:guide>
        <p15:guide id="3" pos="7080" userDrawn="1">
          <p15:clr>
            <a:srgbClr val="FBAE40"/>
          </p15:clr>
        </p15:guide>
        <p15:guide id="4" pos="3840" userDrawn="1">
          <p15:clr>
            <a:srgbClr val="FBAE40"/>
          </p15:clr>
        </p15:guide>
        <p15:guide id="5" orient="horz" pos="1054" userDrawn="1">
          <p15:clr>
            <a:srgbClr val="FBAE40"/>
          </p15:clr>
        </p15:guide>
        <p15:guide id="7" orient="horz" pos="3744" userDrawn="1">
          <p15:clr>
            <a:srgbClr val="FBAE40"/>
          </p15:clr>
        </p15:guide>
        <p15:guide id="8" orient="horz" pos="697" userDrawn="1">
          <p15:clr>
            <a:srgbClr val="FBAE40"/>
          </p15:clr>
        </p15:guide>
        <p15:guide id="9" orient="horz" pos="240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 Tex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itle 1">
            <a:extLst>
              <a:ext uri="{FF2B5EF4-FFF2-40B4-BE49-F238E27FC236}">
                <a16:creationId xmlns:a16="http://schemas.microsoft.com/office/drawing/2014/main" id="{D42FEC1B-FCF8-4508-B227-27323879AC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D57D41-E534-4387-8837-F27E5C2408BD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4F85108-BDC9-43A2-BEF1-240E666F4E0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52500" y="1686758"/>
            <a:ext cx="2358867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68A6427-DC92-4AE6-82DE-34A0B3A972EE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952501" y="2674398"/>
            <a:ext cx="2358867" cy="3269204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336E4CD-9037-4D69-A3E3-6380D9131A19}"/>
              </a:ext>
            </a:extLst>
          </p:cNvPr>
          <p:cNvCxnSpPr/>
          <p:nvPr userDrawn="1"/>
        </p:nvCxnSpPr>
        <p:spPr>
          <a:xfrm>
            <a:off x="3524250" y="1686757"/>
            <a:ext cx="0" cy="4256844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700A296A-0A06-4FFB-B935-517187294F6B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3737133" y="1686756"/>
            <a:ext cx="2148760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4DA600F9-1950-41BD-ACB3-21F2B5AE9494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3737134" y="2674396"/>
            <a:ext cx="2148760" cy="3269204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EF932C4-F1C3-47F2-84B8-FEC885C1843C}"/>
              </a:ext>
            </a:extLst>
          </p:cNvPr>
          <p:cNvCxnSpPr/>
          <p:nvPr userDrawn="1"/>
        </p:nvCxnSpPr>
        <p:spPr>
          <a:xfrm>
            <a:off x="6096000" y="1686758"/>
            <a:ext cx="0" cy="4293629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D4DB30FF-E82C-424F-A06C-EFC3CFC45E36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6306107" y="1686756"/>
            <a:ext cx="2148760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6DC4408-89C4-4D74-957E-B2A4D59F76AE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6306108" y="2674396"/>
            <a:ext cx="2148760" cy="3269204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CA77083-F133-420F-93AD-77761878E852}"/>
              </a:ext>
            </a:extLst>
          </p:cNvPr>
          <p:cNvCxnSpPr/>
          <p:nvPr userDrawn="1"/>
        </p:nvCxnSpPr>
        <p:spPr>
          <a:xfrm>
            <a:off x="8674100" y="1686757"/>
            <a:ext cx="0" cy="4256844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A07502CC-5B90-4BCF-B63B-36D026C9AE96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8875080" y="1676706"/>
            <a:ext cx="2358867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F169EF16-BA54-4279-A087-A65E4F26675F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8875081" y="2664346"/>
            <a:ext cx="2358867" cy="3269204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5DF11BA-BD6E-E14D-A115-587308DBF4A7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26" name="Picture 25" descr="The University of Iowa">
            <a:extLst>
              <a:ext uri="{FF2B5EF4-FFF2-40B4-BE49-F238E27FC236}">
                <a16:creationId xmlns:a16="http://schemas.microsoft.com/office/drawing/2014/main" id="{178B6A3E-B578-0F40-9695-2E975D126F8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23" name="Footer Placeholder 4">
            <a:extLst>
              <a:ext uri="{FF2B5EF4-FFF2-40B4-BE49-F238E27FC236}">
                <a16:creationId xmlns:a16="http://schemas.microsoft.com/office/drawing/2014/main" id="{9253C989-F49D-8D4D-BFD5-ECCB6E59B7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  <a:endParaRPr lang="en-US" b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8EC01FB-4DA9-0B14-9E50-CF05E633BCA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26147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00" userDrawn="1">
          <p15:clr>
            <a:srgbClr val="FBAE40"/>
          </p15:clr>
        </p15:guide>
        <p15:guide id="2" pos="598">
          <p15:clr>
            <a:srgbClr val="FBAE40"/>
          </p15:clr>
        </p15:guide>
        <p15:guide id="3" pos="7080">
          <p15:clr>
            <a:srgbClr val="FBAE40"/>
          </p15:clr>
        </p15:guide>
        <p15:guide id="4" pos="3840">
          <p15:clr>
            <a:srgbClr val="FBAE40"/>
          </p15:clr>
        </p15:guide>
        <p15:guide id="5" orient="horz" pos="1054" userDrawn="1">
          <p15:clr>
            <a:srgbClr val="FBAE40"/>
          </p15:clr>
        </p15:guide>
        <p15:guide id="6" orient="horz" pos="3744" userDrawn="1">
          <p15:clr>
            <a:srgbClr val="FBAE40"/>
          </p15:clr>
        </p15:guide>
        <p15:guide id="7" orient="horz" pos="697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ve Column Tex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itle 1">
            <a:extLst>
              <a:ext uri="{FF2B5EF4-FFF2-40B4-BE49-F238E27FC236}">
                <a16:creationId xmlns:a16="http://schemas.microsoft.com/office/drawing/2014/main" id="{8F3E476F-E407-4406-BB4F-38E5453315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D57D41-E534-4387-8837-F27E5C2408BD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4F85108-BDC9-43A2-BEF1-240E666F4E0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52501" y="1686758"/>
            <a:ext cx="1835088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0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68A6427-DC92-4AE6-82DE-34A0B3A972EE}"/>
              </a:ext>
            </a:extLst>
          </p:cNvPr>
          <p:cNvSpPr>
            <a:spLocks noGrp="1"/>
          </p:cNvSpPr>
          <p:nvPr userDrawn="1">
            <p:ph idx="10" hasCustomPrompt="1"/>
          </p:nvPr>
        </p:nvSpPr>
        <p:spPr>
          <a:xfrm>
            <a:off x="952502" y="2850484"/>
            <a:ext cx="1835088" cy="3093116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336E4CD-9037-4D69-A3E3-6380D9131A19}"/>
              </a:ext>
            </a:extLst>
          </p:cNvPr>
          <p:cNvCxnSpPr>
            <a:cxnSpLocks/>
          </p:cNvCxnSpPr>
          <p:nvPr userDrawn="1"/>
        </p:nvCxnSpPr>
        <p:spPr>
          <a:xfrm>
            <a:off x="3011869" y="1686759"/>
            <a:ext cx="0" cy="4256841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ACA73044-ABA5-4A68-81D4-75723F104CFB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3229003" y="1686758"/>
            <a:ext cx="1624302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0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D69FEDBA-37CD-4D7E-A729-6821E598E67D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3229004" y="2850484"/>
            <a:ext cx="1617953" cy="3093116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EF932C4-F1C3-47F2-84B8-FEC885C1843C}"/>
              </a:ext>
            </a:extLst>
          </p:cNvPr>
          <p:cNvCxnSpPr>
            <a:cxnSpLocks/>
          </p:cNvCxnSpPr>
          <p:nvPr userDrawn="1"/>
        </p:nvCxnSpPr>
        <p:spPr>
          <a:xfrm>
            <a:off x="5066192" y="1686759"/>
            <a:ext cx="0" cy="4256842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B96DFA0C-E450-4893-8C79-6243F5697984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5281223" y="1686758"/>
            <a:ext cx="1617953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0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E9D9C274-DDDD-4725-8A7B-113147DD7832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5281224" y="2850484"/>
            <a:ext cx="1617953" cy="3093116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CA77083-F133-420F-93AD-77761878E852}"/>
              </a:ext>
            </a:extLst>
          </p:cNvPr>
          <p:cNvCxnSpPr>
            <a:cxnSpLocks/>
          </p:cNvCxnSpPr>
          <p:nvPr userDrawn="1"/>
        </p:nvCxnSpPr>
        <p:spPr>
          <a:xfrm>
            <a:off x="7131909" y="1686759"/>
            <a:ext cx="0" cy="4256841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F93742B6-D009-4AB4-BBDC-24522E901BB5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7349043" y="1686758"/>
            <a:ext cx="1617953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0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29" name="Content Placeholder 2">
            <a:extLst>
              <a:ext uri="{FF2B5EF4-FFF2-40B4-BE49-F238E27FC236}">
                <a16:creationId xmlns:a16="http://schemas.microsoft.com/office/drawing/2014/main" id="{90357619-5F6A-4C63-90C3-32B37CE73C91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7349044" y="2850484"/>
            <a:ext cx="1617953" cy="3093116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55F5ADDF-F780-4384-87F4-30070C81BB29}"/>
              </a:ext>
            </a:extLst>
          </p:cNvPr>
          <p:cNvCxnSpPr>
            <a:cxnSpLocks/>
          </p:cNvCxnSpPr>
          <p:nvPr userDrawn="1"/>
        </p:nvCxnSpPr>
        <p:spPr>
          <a:xfrm>
            <a:off x="9184131" y="1686759"/>
            <a:ext cx="0" cy="4256841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Content Placeholder 2">
            <a:extLst>
              <a:ext uri="{FF2B5EF4-FFF2-40B4-BE49-F238E27FC236}">
                <a16:creationId xmlns:a16="http://schemas.microsoft.com/office/drawing/2014/main" id="{035F8812-D495-478D-828C-D8CF0753EEB5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9401266" y="1686758"/>
            <a:ext cx="1835087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0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338FA747-D085-4909-A6FE-575A5C652420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9401267" y="2850484"/>
            <a:ext cx="1838233" cy="3093116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A4AB6F8-D05F-8E40-A637-083D1274FB35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38" name="Picture 37" descr="The University of Iowa">
            <a:extLst>
              <a:ext uri="{FF2B5EF4-FFF2-40B4-BE49-F238E27FC236}">
                <a16:creationId xmlns:a16="http://schemas.microsoft.com/office/drawing/2014/main" id="{03F28A08-B979-7F4D-A857-AE155CAB0EE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36" name="Footer Placeholder 4">
            <a:extLst>
              <a:ext uri="{FF2B5EF4-FFF2-40B4-BE49-F238E27FC236}">
                <a16:creationId xmlns:a16="http://schemas.microsoft.com/office/drawing/2014/main" id="{48092FCE-E544-874D-A440-7B68904C34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  <a:endParaRPr lang="en-US" b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439FE5E-4A90-5813-1573-1DA16021FE74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93713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00" userDrawn="1">
          <p15:clr>
            <a:srgbClr val="FBAE40"/>
          </p15:clr>
        </p15:guide>
        <p15:guide id="2" pos="598">
          <p15:clr>
            <a:srgbClr val="FBAE40"/>
          </p15:clr>
        </p15:guide>
        <p15:guide id="3" pos="7080">
          <p15:clr>
            <a:srgbClr val="FBAE40"/>
          </p15:clr>
        </p15:guide>
        <p15:guide id="4" pos="3840">
          <p15:clr>
            <a:srgbClr val="FBAE40"/>
          </p15:clr>
        </p15:guide>
        <p15:guide id="5" orient="horz" pos="1054" userDrawn="1">
          <p15:clr>
            <a:srgbClr val="FBAE40"/>
          </p15:clr>
        </p15:guide>
        <p15:guide id="6" orient="horz" pos="3744">
          <p15:clr>
            <a:srgbClr val="FBAE40"/>
          </p15:clr>
        </p15:guide>
        <p15:guide id="7" orient="horz" pos="697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x1 Grid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>
            <a:extLst>
              <a:ext uri="{FF2B5EF4-FFF2-40B4-BE49-F238E27FC236}">
                <a16:creationId xmlns:a16="http://schemas.microsoft.com/office/drawing/2014/main" id="{F83F529D-C880-45A0-81D8-FD2CC04E0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D57D41-E534-4387-8837-F27E5C2408BD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4F85108-BDC9-43A2-BEF1-240E666F4E0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52500" y="1686758"/>
            <a:ext cx="10288587" cy="319591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header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68A6427-DC92-4AE6-82DE-34A0B3A972EE}"/>
              </a:ext>
            </a:extLst>
          </p:cNvPr>
          <p:cNvSpPr>
            <a:spLocks noGrp="1"/>
          </p:cNvSpPr>
          <p:nvPr userDrawn="1">
            <p:ph idx="10" hasCustomPrompt="1"/>
          </p:nvPr>
        </p:nvSpPr>
        <p:spPr>
          <a:xfrm>
            <a:off x="952502" y="2120010"/>
            <a:ext cx="10288586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text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FCD7C05-8E7C-4679-B83F-CDDB1BDA2031}"/>
              </a:ext>
            </a:extLst>
          </p:cNvPr>
          <p:cNvCxnSpPr/>
          <p:nvPr userDrawn="1"/>
        </p:nvCxnSpPr>
        <p:spPr>
          <a:xfrm>
            <a:off x="949325" y="3098307"/>
            <a:ext cx="10290176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6BC08D86-557A-4EB7-B2A4-0782689B99D1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952502" y="3291760"/>
            <a:ext cx="10288587" cy="328016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header</a:t>
            </a:r>
          </a:p>
        </p:txBody>
      </p:sp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123E50C5-092D-4191-9A0B-F3C51561D562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952504" y="3725012"/>
            <a:ext cx="10288586" cy="644563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text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3C85CAC7-8545-4ED7-8312-FBC92F7F9DA5}"/>
              </a:ext>
            </a:extLst>
          </p:cNvPr>
          <p:cNvCxnSpPr/>
          <p:nvPr userDrawn="1"/>
        </p:nvCxnSpPr>
        <p:spPr>
          <a:xfrm>
            <a:off x="950912" y="4520213"/>
            <a:ext cx="10290176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3E524A13-F71C-45F7-92E6-985C4CB9E331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952504" y="4753992"/>
            <a:ext cx="10288587" cy="319591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header</a:t>
            </a:r>
          </a:p>
        </p:txBody>
      </p:sp>
      <p:sp>
        <p:nvSpPr>
          <p:cNvPr id="37" name="Content Placeholder 2">
            <a:extLst>
              <a:ext uri="{FF2B5EF4-FFF2-40B4-BE49-F238E27FC236}">
                <a16:creationId xmlns:a16="http://schemas.microsoft.com/office/drawing/2014/main" id="{7CA7FF6D-951D-4682-9C40-A6BB36ABEA8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952506" y="5187244"/>
            <a:ext cx="10288586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text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5E76717-4761-EC4B-BDB1-C130638E59C3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20" name="Picture 19" descr="The University of Iowa">
            <a:extLst>
              <a:ext uri="{FF2B5EF4-FFF2-40B4-BE49-F238E27FC236}">
                <a16:creationId xmlns:a16="http://schemas.microsoft.com/office/drawing/2014/main" id="{40242CE7-09BD-8143-AE27-4BF193790A8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AF415A2A-5C4A-BE45-8CAF-820EC97BED1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  <a:endParaRPr lang="en-US" b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1CA7339-7939-E23B-1AB4-605809F53063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08788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598">
          <p15:clr>
            <a:srgbClr val="FBAE40"/>
          </p15:clr>
        </p15:guide>
        <p15:guide id="3" pos="7080">
          <p15:clr>
            <a:srgbClr val="FBAE40"/>
          </p15:clr>
        </p15:guide>
        <p15:guide id="4" pos="3840">
          <p15:clr>
            <a:srgbClr val="FBAE40"/>
          </p15:clr>
        </p15:guide>
        <p15:guide id="5" orient="horz" pos="1054" userDrawn="1">
          <p15:clr>
            <a:srgbClr val="FBAE40"/>
          </p15:clr>
        </p15:guide>
        <p15:guide id="6" orient="horz" pos="3744">
          <p15:clr>
            <a:srgbClr val="FBAE40"/>
          </p15:clr>
        </p15:guide>
        <p15:guide id="7" orient="horz" pos="697" userDrawn="1">
          <p15:clr>
            <a:srgbClr val="FBAE40"/>
          </p15:clr>
        </p15:guide>
        <p15:guide id="8" orient="horz" pos="2400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x2 Grid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 1">
            <a:extLst>
              <a:ext uri="{FF2B5EF4-FFF2-40B4-BE49-F238E27FC236}">
                <a16:creationId xmlns:a16="http://schemas.microsoft.com/office/drawing/2014/main" id="{3A9A771B-4FFF-4EBF-A07A-0D6292AC2F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D57D41-E534-4387-8837-F27E5C2408BD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4F85108-BDC9-43A2-BEF1-240E666F4E0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52501" y="1686758"/>
            <a:ext cx="4755838" cy="319591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header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68A6427-DC92-4AE6-82DE-34A0B3A972EE}"/>
              </a:ext>
            </a:extLst>
          </p:cNvPr>
          <p:cNvSpPr>
            <a:spLocks noGrp="1"/>
          </p:cNvSpPr>
          <p:nvPr userDrawn="1">
            <p:ph idx="10" hasCustomPrompt="1"/>
          </p:nvPr>
        </p:nvSpPr>
        <p:spPr>
          <a:xfrm>
            <a:off x="952502" y="2120010"/>
            <a:ext cx="4755838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text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FCD7C05-8E7C-4679-B83F-CDDB1BDA2031}"/>
              </a:ext>
            </a:extLst>
          </p:cNvPr>
          <p:cNvCxnSpPr/>
          <p:nvPr userDrawn="1"/>
        </p:nvCxnSpPr>
        <p:spPr>
          <a:xfrm>
            <a:off x="949325" y="3098307"/>
            <a:ext cx="10290176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6BC08D86-557A-4EB7-B2A4-0782689B99D1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952503" y="3291760"/>
            <a:ext cx="4755838" cy="328016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header</a:t>
            </a:r>
          </a:p>
        </p:txBody>
      </p:sp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123E50C5-092D-4191-9A0B-F3C51561D562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952504" y="3725012"/>
            <a:ext cx="4755838" cy="644563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text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3C85CAC7-8545-4ED7-8312-FBC92F7F9DA5}"/>
              </a:ext>
            </a:extLst>
          </p:cNvPr>
          <p:cNvCxnSpPr/>
          <p:nvPr userDrawn="1"/>
        </p:nvCxnSpPr>
        <p:spPr>
          <a:xfrm>
            <a:off x="950912" y="4520213"/>
            <a:ext cx="10290176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3E524A13-F71C-45F7-92E6-985C4CB9E331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952505" y="4753992"/>
            <a:ext cx="4755838" cy="319591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header</a:t>
            </a:r>
          </a:p>
        </p:txBody>
      </p:sp>
      <p:sp>
        <p:nvSpPr>
          <p:cNvPr id="37" name="Content Placeholder 2">
            <a:extLst>
              <a:ext uri="{FF2B5EF4-FFF2-40B4-BE49-F238E27FC236}">
                <a16:creationId xmlns:a16="http://schemas.microsoft.com/office/drawing/2014/main" id="{7CA7FF6D-951D-4682-9C40-A6BB36ABEA8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952506" y="5187244"/>
            <a:ext cx="4755838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text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AA23041F-D604-4688-B75A-90D37AFDDB0E}"/>
              </a:ext>
            </a:extLst>
          </p:cNvPr>
          <p:cNvCxnSpPr/>
          <p:nvPr userDrawn="1"/>
        </p:nvCxnSpPr>
        <p:spPr>
          <a:xfrm>
            <a:off x="6096000" y="1686758"/>
            <a:ext cx="0" cy="4293629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F7B91F83-8428-4E5A-9C88-17829B687B77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6483696" y="1688512"/>
            <a:ext cx="4755838" cy="319591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header</a:t>
            </a:r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ADB1D581-6D4C-4716-AE96-DBB4F953B95C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6483697" y="2121764"/>
            <a:ext cx="4755838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text</a:t>
            </a:r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279BA4B0-A083-4A1F-9D3B-A041B59E7C22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6483698" y="3293514"/>
            <a:ext cx="4755838" cy="328016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header</a:t>
            </a: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8FDD4A4D-E1FC-4E83-A8AA-A324B6B0E441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6483699" y="3726766"/>
            <a:ext cx="4755838" cy="644563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text</a:t>
            </a:r>
          </a:p>
        </p:txBody>
      </p: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DE8E7D5C-ACCB-47E6-A3F5-6F3F51A0F37F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6483700" y="4755746"/>
            <a:ext cx="4755838" cy="319591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header</a:t>
            </a: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659D9DC4-BB53-4441-9B74-84922B369948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6483701" y="5188998"/>
            <a:ext cx="4755838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text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774845D-2BF0-2740-9880-8D2B0EBB22B7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39" name="Picture 38" descr="The University of Iowa">
            <a:extLst>
              <a:ext uri="{FF2B5EF4-FFF2-40B4-BE49-F238E27FC236}">
                <a16:creationId xmlns:a16="http://schemas.microsoft.com/office/drawing/2014/main" id="{0BB6734F-670C-234F-9B83-4953BF83CF1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34" name="Footer Placeholder 4">
            <a:extLst>
              <a:ext uri="{FF2B5EF4-FFF2-40B4-BE49-F238E27FC236}">
                <a16:creationId xmlns:a16="http://schemas.microsoft.com/office/drawing/2014/main" id="{7695749F-B8A1-694A-8E96-E3DE4B0E92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  <a:endParaRPr lang="en-US" b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994544A-570C-586E-7EDE-44CFCEF04942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58299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598">
          <p15:clr>
            <a:srgbClr val="FBAE40"/>
          </p15:clr>
        </p15:guide>
        <p15:guide id="3" pos="7080">
          <p15:clr>
            <a:srgbClr val="FBAE40"/>
          </p15:clr>
        </p15:guide>
        <p15:guide id="4" pos="3840">
          <p15:clr>
            <a:srgbClr val="FBAE40"/>
          </p15:clr>
        </p15:guide>
        <p15:guide id="5" orient="horz" pos="1054" userDrawn="1">
          <p15:clr>
            <a:srgbClr val="FBAE40"/>
          </p15:clr>
        </p15:guide>
        <p15:guide id="6" orient="horz" pos="3744">
          <p15:clr>
            <a:srgbClr val="FBAE40"/>
          </p15:clr>
        </p15:guide>
        <p15:guide id="7" orient="horz" pos="697" userDrawn="1">
          <p15:clr>
            <a:srgbClr val="FBAE40"/>
          </p15:clr>
        </p15:guide>
        <p15:guide id="8" orient="horz" pos="2400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x2 Grid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 1">
            <a:extLst>
              <a:ext uri="{FF2B5EF4-FFF2-40B4-BE49-F238E27FC236}">
                <a16:creationId xmlns:a16="http://schemas.microsoft.com/office/drawing/2014/main" id="{31EE2C71-E6FD-4A5F-BC00-7290049C44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D57D41-E534-4387-8837-F27E5C2408BD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4F85108-BDC9-43A2-BEF1-240E666F4E0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52500" y="1686758"/>
            <a:ext cx="4772003" cy="319591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header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68A6427-DC92-4AE6-82DE-34A0B3A972EE}"/>
              </a:ext>
            </a:extLst>
          </p:cNvPr>
          <p:cNvSpPr>
            <a:spLocks noGrp="1"/>
          </p:cNvSpPr>
          <p:nvPr userDrawn="1">
            <p:ph idx="10" hasCustomPrompt="1"/>
          </p:nvPr>
        </p:nvSpPr>
        <p:spPr>
          <a:xfrm>
            <a:off x="952502" y="2120010"/>
            <a:ext cx="4772003" cy="417141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text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FCD7C05-8E7C-4679-B83F-CDDB1BDA2031}"/>
              </a:ext>
            </a:extLst>
          </p:cNvPr>
          <p:cNvCxnSpPr/>
          <p:nvPr userDrawn="1"/>
        </p:nvCxnSpPr>
        <p:spPr>
          <a:xfrm>
            <a:off x="949325" y="2760956"/>
            <a:ext cx="10290176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5FC9698A-599E-4227-BA19-18EFBBF3E0DD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954094" y="2904080"/>
            <a:ext cx="4772003" cy="319591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header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C4B470A9-B821-4D01-8FB4-31DF303421A9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954096" y="3337333"/>
            <a:ext cx="4772003" cy="304911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text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3C85CAC7-8545-4ED7-8312-FBC92F7F9DA5}"/>
              </a:ext>
            </a:extLst>
          </p:cNvPr>
          <p:cNvCxnSpPr/>
          <p:nvPr userDrawn="1"/>
        </p:nvCxnSpPr>
        <p:spPr>
          <a:xfrm>
            <a:off x="950912" y="3792244"/>
            <a:ext cx="10290176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0C507C81-6817-4069-BC84-0CE4705AE16C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954098" y="3970621"/>
            <a:ext cx="4772003" cy="319591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header</a:t>
            </a:r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94103820-8C7A-497C-BCBA-2CFEB4549C83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954100" y="4403874"/>
            <a:ext cx="4772003" cy="31097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text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F1CE437-6AD8-4170-8DC8-66894266CE06}"/>
              </a:ext>
            </a:extLst>
          </p:cNvPr>
          <p:cNvCxnSpPr/>
          <p:nvPr userDrawn="1"/>
        </p:nvCxnSpPr>
        <p:spPr>
          <a:xfrm>
            <a:off x="952506" y="4885677"/>
            <a:ext cx="10290176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0C02F409-DCF5-4241-BB5E-6E37CC8D3518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954096" y="5089029"/>
            <a:ext cx="4772003" cy="319591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header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2AC426E8-7005-475F-BC32-B5F0BA7A8A4C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954098" y="5522281"/>
            <a:ext cx="4772003" cy="417141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text</a:t>
            </a: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8222804C-AFDD-4E8C-BFDC-31326A2127FA}"/>
              </a:ext>
            </a:extLst>
          </p:cNvPr>
          <p:cNvCxnSpPr/>
          <p:nvPr userDrawn="1"/>
        </p:nvCxnSpPr>
        <p:spPr>
          <a:xfrm>
            <a:off x="6096000" y="1686758"/>
            <a:ext cx="0" cy="4293629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66342B0E-1F8B-4D4C-ABA7-E43BC2B3F4AE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6467495" y="1688232"/>
            <a:ext cx="4772003" cy="319591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header</a:t>
            </a: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FCF3285B-83DB-4917-9F24-EC0C964DE403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6467497" y="2121484"/>
            <a:ext cx="4772003" cy="417141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text</a:t>
            </a:r>
          </a:p>
        </p:txBody>
      </p: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8C88D8B1-0044-4EC5-B4CD-DB1095F378A4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6469089" y="2905554"/>
            <a:ext cx="4772003" cy="319591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header</a:t>
            </a: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9F6100E2-DAE8-4111-AF37-8909AA389FC1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6469091" y="3338807"/>
            <a:ext cx="4772003" cy="304911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text</a:t>
            </a:r>
          </a:p>
        </p:txBody>
      </p:sp>
      <p:sp>
        <p:nvSpPr>
          <p:cNvPr id="30" name="Content Placeholder 2">
            <a:extLst>
              <a:ext uri="{FF2B5EF4-FFF2-40B4-BE49-F238E27FC236}">
                <a16:creationId xmlns:a16="http://schemas.microsoft.com/office/drawing/2014/main" id="{C0B1E9EC-56B4-4514-B189-24BD47F549F3}"/>
              </a:ext>
            </a:extLst>
          </p:cNvPr>
          <p:cNvSpPr>
            <a:spLocks noGrp="1"/>
          </p:cNvSpPr>
          <p:nvPr>
            <p:ph idx="23" hasCustomPrompt="1"/>
          </p:nvPr>
        </p:nvSpPr>
        <p:spPr>
          <a:xfrm>
            <a:off x="6469093" y="3972095"/>
            <a:ext cx="4772003" cy="319591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header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F685484E-408B-4771-9259-BAAC2A6E6017}"/>
              </a:ext>
            </a:extLst>
          </p:cNvPr>
          <p:cNvSpPr>
            <a:spLocks noGrp="1"/>
          </p:cNvSpPr>
          <p:nvPr>
            <p:ph idx="24" hasCustomPrompt="1"/>
          </p:nvPr>
        </p:nvSpPr>
        <p:spPr>
          <a:xfrm>
            <a:off x="6469095" y="4405348"/>
            <a:ext cx="4772003" cy="31097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text</a:t>
            </a: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0EE05AF1-1486-45F2-B87D-2AE555B8D1CB}"/>
              </a:ext>
            </a:extLst>
          </p:cNvPr>
          <p:cNvSpPr>
            <a:spLocks noGrp="1"/>
          </p:cNvSpPr>
          <p:nvPr>
            <p:ph idx="21" hasCustomPrompt="1"/>
          </p:nvPr>
        </p:nvSpPr>
        <p:spPr>
          <a:xfrm>
            <a:off x="6469091" y="5090503"/>
            <a:ext cx="4772003" cy="319591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header</a:t>
            </a:r>
          </a:p>
        </p:txBody>
      </p:sp>
      <p:sp>
        <p:nvSpPr>
          <p:cNvPr id="29" name="Content Placeholder 2">
            <a:extLst>
              <a:ext uri="{FF2B5EF4-FFF2-40B4-BE49-F238E27FC236}">
                <a16:creationId xmlns:a16="http://schemas.microsoft.com/office/drawing/2014/main" id="{52C4B0E5-3C7E-4BC2-AA92-4156C26C91FF}"/>
              </a:ext>
            </a:extLst>
          </p:cNvPr>
          <p:cNvSpPr>
            <a:spLocks noGrp="1"/>
          </p:cNvSpPr>
          <p:nvPr>
            <p:ph idx="22" hasCustomPrompt="1"/>
          </p:nvPr>
        </p:nvSpPr>
        <p:spPr>
          <a:xfrm>
            <a:off x="6469093" y="5523755"/>
            <a:ext cx="4772003" cy="417141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text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5480C56-313A-5C4D-A02B-5C10621A5061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39" name="Picture 38" descr="The University of Iowa">
            <a:extLst>
              <a:ext uri="{FF2B5EF4-FFF2-40B4-BE49-F238E27FC236}">
                <a16:creationId xmlns:a16="http://schemas.microsoft.com/office/drawing/2014/main" id="{58CA1799-4AEA-D247-8458-F8440E40306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37" name="Footer Placeholder 4">
            <a:extLst>
              <a:ext uri="{FF2B5EF4-FFF2-40B4-BE49-F238E27FC236}">
                <a16:creationId xmlns:a16="http://schemas.microsoft.com/office/drawing/2014/main" id="{FFD2AE71-6126-9A49-BF5D-60267741655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  <a:endParaRPr lang="en-US" b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8FBCDAA-5C9D-8BFB-2A94-1926B13A23D5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85362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598">
          <p15:clr>
            <a:srgbClr val="FBAE40"/>
          </p15:clr>
        </p15:guide>
        <p15:guide id="3" pos="7080">
          <p15:clr>
            <a:srgbClr val="FBAE40"/>
          </p15:clr>
        </p15:guide>
        <p15:guide id="4" pos="3840">
          <p15:clr>
            <a:srgbClr val="FBAE40"/>
          </p15:clr>
        </p15:guide>
        <p15:guide id="5" orient="horz" pos="1054" userDrawn="1">
          <p15:clr>
            <a:srgbClr val="FBAE40"/>
          </p15:clr>
        </p15:guide>
        <p15:guide id="6" orient="horz" pos="3744">
          <p15:clr>
            <a:srgbClr val="FBAE40"/>
          </p15:clr>
        </p15:guide>
        <p15:guide id="7" orient="horz" pos="697" userDrawn="1">
          <p15:clr>
            <a:srgbClr val="FBAE40"/>
          </p15:clr>
        </p15:guide>
        <p15:guide id="8" orient="horz" pos="2400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x2 Grid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 1">
            <a:extLst>
              <a:ext uri="{FF2B5EF4-FFF2-40B4-BE49-F238E27FC236}">
                <a16:creationId xmlns:a16="http://schemas.microsoft.com/office/drawing/2014/main" id="{F947D672-DDE7-4F36-B79C-4245C5D1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D57D41-E534-4387-8837-F27E5C2408BD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4F85108-BDC9-43A2-BEF1-240E666F4E0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52500" y="1686758"/>
            <a:ext cx="4800224" cy="374036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68A6427-DC92-4AE6-82DE-34A0B3A972EE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952501" y="2238480"/>
            <a:ext cx="4800219" cy="120057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9FB9F7B-CC85-4936-BE2A-DF6B8BF46018}"/>
              </a:ext>
            </a:extLst>
          </p:cNvPr>
          <p:cNvCxnSpPr/>
          <p:nvPr userDrawn="1"/>
        </p:nvCxnSpPr>
        <p:spPr>
          <a:xfrm>
            <a:off x="949325" y="3790765"/>
            <a:ext cx="10290176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FDFA8ABE-0B6C-4930-94A9-A2BB4166E51F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958052" y="4209907"/>
            <a:ext cx="4800224" cy="374036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47E91DB8-4856-4AED-8362-60627F681EE8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958053" y="4761629"/>
            <a:ext cx="4800219" cy="1181971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EF932C4-F1C3-47F2-84B8-FEC885C1843C}"/>
              </a:ext>
            </a:extLst>
          </p:cNvPr>
          <p:cNvCxnSpPr>
            <a:cxnSpLocks/>
          </p:cNvCxnSpPr>
          <p:nvPr userDrawn="1"/>
        </p:nvCxnSpPr>
        <p:spPr>
          <a:xfrm>
            <a:off x="6096000" y="1679384"/>
            <a:ext cx="0" cy="4272765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A07502CC-5B90-4BCF-B63B-36D026C9AE96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6433724" y="1676706"/>
            <a:ext cx="4800224" cy="374036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F169EF16-BA54-4279-A087-A65E4F26675F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6433725" y="2228428"/>
            <a:ext cx="4800224" cy="120057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76BD4A33-C7CC-4380-A2BB-ECC6C2FB7225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6439276" y="4199855"/>
            <a:ext cx="4800224" cy="374036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4CD0BB64-6643-42CE-AFE7-372305F21233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6439277" y="4751577"/>
            <a:ext cx="4800224" cy="120057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8D606F0-071A-A842-B316-9BEBD143AC36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28" name="Picture 27" descr="The University of Iowa">
            <a:extLst>
              <a:ext uri="{FF2B5EF4-FFF2-40B4-BE49-F238E27FC236}">
                <a16:creationId xmlns:a16="http://schemas.microsoft.com/office/drawing/2014/main" id="{9AAD4B2F-0082-B749-BE09-2EC20A6C430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27" name="Footer Placeholder 4">
            <a:extLst>
              <a:ext uri="{FF2B5EF4-FFF2-40B4-BE49-F238E27FC236}">
                <a16:creationId xmlns:a16="http://schemas.microsoft.com/office/drawing/2014/main" id="{BD920E71-4E45-E74F-B01A-DC16C3B807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  <a:endParaRPr lang="en-US" b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F8759E5-A182-A437-FFD7-EED0D4133D38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84183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598">
          <p15:clr>
            <a:srgbClr val="FBAE40"/>
          </p15:clr>
        </p15:guide>
        <p15:guide id="3" pos="7080">
          <p15:clr>
            <a:srgbClr val="FBAE40"/>
          </p15:clr>
        </p15:guide>
        <p15:guide id="4" pos="3840">
          <p15:clr>
            <a:srgbClr val="FBAE40"/>
          </p15:clr>
        </p15:guide>
        <p15:guide id="5" orient="horz" pos="1054" userDrawn="1">
          <p15:clr>
            <a:srgbClr val="FBAE40"/>
          </p15:clr>
        </p15:guide>
        <p15:guide id="6" orient="horz" pos="2400" userDrawn="1">
          <p15:clr>
            <a:srgbClr val="FBAE40"/>
          </p15:clr>
        </p15:guide>
        <p15:guide id="7" orient="horz" pos="697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 Stat Layou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1">
            <a:extLst>
              <a:ext uri="{FF2B5EF4-FFF2-40B4-BE49-F238E27FC236}">
                <a16:creationId xmlns:a16="http://schemas.microsoft.com/office/drawing/2014/main" id="{7C3D46F0-0006-469D-9C96-A2B5BF7087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D57D41-E534-4387-8837-F27E5C2408BD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4F85108-BDC9-43A2-BEF1-240E666F4E0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9080" y="2597398"/>
            <a:ext cx="1742242" cy="787298"/>
          </a:xfrm>
        </p:spPr>
        <p:txBody>
          <a:bodyPr lIns="0" tIns="0" rIns="0" bIns="0">
            <a:noAutofit/>
          </a:bodyPr>
          <a:lstStyle>
            <a:lvl1pPr marL="0" indent="0" algn="l">
              <a:buSzPct val="95000"/>
              <a:buFont typeface="Arial" panose="020B0604020202020204" pitchFamily="34" charset="0"/>
              <a:buNone/>
              <a:defRPr sz="55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Stat</a:t>
            </a:r>
          </a:p>
        </p:txBody>
      </p:sp>
      <p:sp>
        <p:nvSpPr>
          <p:cNvPr id="52" name="Picture Placeholder 50">
            <a:extLst>
              <a:ext uri="{FF2B5EF4-FFF2-40B4-BE49-F238E27FC236}">
                <a16:creationId xmlns:a16="http://schemas.microsoft.com/office/drawing/2014/main" id="{8D984633-F962-1848-A009-619CB8211633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037173" y="2243035"/>
            <a:ext cx="1071841" cy="1095375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4DE3AB4-3020-8D45-86B7-592F12CB716B}"/>
              </a:ext>
            </a:extLst>
          </p:cNvPr>
          <p:cNvCxnSpPr>
            <a:cxnSpLocks/>
          </p:cNvCxnSpPr>
          <p:nvPr userDrawn="1"/>
        </p:nvCxnSpPr>
        <p:spPr>
          <a:xfrm>
            <a:off x="896513" y="3573316"/>
            <a:ext cx="321250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DC4E94AD-16D9-BE4C-8C57-CFA6654E1BD9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939080" y="3819675"/>
            <a:ext cx="3169934" cy="1061801"/>
          </a:xfrm>
        </p:spPr>
        <p:txBody>
          <a:bodyPr lIns="0" tIns="0" rIns="0" bIns="0">
            <a:normAutofit/>
          </a:bodyPr>
          <a:lstStyle>
            <a:lvl1pPr marL="0" indent="0" algn="l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</a:t>
            </a:r>
            <a:br>
              <a:rPr lang="en-US"/>
            </a:br>
            <a:r>
              <a:rPr lang="en-US"/>
              <a:t>item or step 1</a:t>
            </a: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E64293C0-60B2-3341-9C38-86DF7ACA51DC}"/>
              </a:ext>
            </a:extLst>
          </p:cNvPr>
          <p:cNvSpPr>
            <a:spLocks noGrp="1"/>
          </p:cNvSpPr>
          <p:nvPr>
            <p:ph idx="21" hasCustomPrompt="1"/>
          </p:nvPr>
        </p:nvSpPr>
        <p:spPr>
          <a:xfrm>
            <a:off x="4582471" y="2597398"/>
            <a:ext cx="1742242" cy="787298"/>
          </a:xfrm>
        </p:spPr>
        <p:txBody>
          <a:bodyPr lIns="0" tIns="0" rIns="0" bIns="0">
            <a:noAutofit/>
          </a:bodyPr>
          <a:lstStyle>
            <a:lvl1pPr marL="0" indent="0" algn="l">
              <a:buSzPct val="95000"/>
              <a:buFont typeface="Arial" panose="020B0604020202020204" pitchFamily="34" charset="0"/>
              <a:buNone/>
              <a:defRPr sz="55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Stat</a:t>
            </a:r>
          </a:p>
        </p:txBody>
      </p:sp>
      <p:sp>
        <p:nvSpPr>
          <p:cNvPr id="25" name="Picture Placeholder 50">
            <a:extLst>
              <a:ext uri="{FF2B5EF4-FFF2-40B4-BE49-F238E27FC236}">
                <a16:creationId xmlns:a16="http://schemas.microsoft.com/office/drawing/2014/main" id="{3ED87A8B-0573-474F-94C0-2F7E344853F2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6680564" y="2243035"/>
            <a:ext cx="1071841" cy="1095375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1799B91B-7CDD-284B-99CF-8408146B2C0D}"/>
              </a:ext>
            </a:extLst>
          </p:cNvPr>
          <p:cNvCxnSpPr>
            <a:cxnSpLocks/>
          </p:cNvCxnSpPr>
          <p:nvPr userDrawn="1"/>
        </p:nvCxnSpPr>
        <p:spPr>
          <a:xfrm>
            <a:off x="4539904" y="3573316"/>
            <a:ext cx="321250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8BB67D17-F456-FC43-9C41-9344D6EEB07B}"/>
              </a:ext>
            </a:extLst>
          </p:cNvPr>
          <p:cNvSpPr>
            <a:spLocks noGrp="1"/>
          </p:cNvSpPr>
          <p:nvPr>
            <p:ph idx="22" hasCustomPrompt="1"/>
          </p:nvPr>
        </p:nvSpPr>
        <p:spPr>
          <a:xfrm>
            <a:off x="4582471" y="3819675"/>
            <a:ext cx="3169934" cy="1061801"/>
          </a:xfrm>
        </p:spPr>
        <p:txBody>
          <a:bodyPr lIns="0" tIns="0" rIns="0" bIns="0">
            <a:normAutofit/>
          </a:bodyPr>
          <a:lstStyle>
            <a:lvl1pPr marL="0" indent="0" algn="l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</a:t>
            </a:r>
            <a:br>
              <a:rPr lang="en-US"/>
            </a:br>
            <a:r>
              <a:rPr lang="en-US"/>
              <a:t>item or step 1</a:t>
            </a:r>
          </a:p>
        </p:txBody>
      </p: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60F6E28A-AB38-A64F-9481-C9F0437BFEA5}"/>
              </a:ext>
            </a:extLst>
          </p:cNvPr>
          <p:cNvSpPr>
            <a:spLocks noGrp="1"/>
          </p:cNvSpPr>
          <p:nvPr>
            <p:ph idx="24" hasCustomPrompt="1"/>
          </p:nvPr>
        </p:nvSpPr>
        <p:spPr>
          <a:xfrm>
            <a:off x="8225863" y="2597398"/>
            <a:ext cx="1742242" cy="787298"/>
          </a:xfrm>
        </p:spPr>
        <p:txBody>
          <a:bodyPr lIns="0" tIns="0" rIns="0" bIns="0">
            <a:noAutofit/>
          </a:bodyPr>
          <a:lstStyle>
            <a:lvl1pPr marL="0" indent="0" algn="l">
              <a:buSzPct val="95000"/>
              <a:buFont typeface="Arial" panose="020B0604020202020204" pitchFamily="34" charset="0"/>
              <a:buNone/>
              <a:defRPr sz="55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Stat</a:t>
            </a:r>
          </a:p>
        </p:txBody>
      </p:sp>
      <p:sp>
        <p:nvSpPr>
          <p:cNvPr id="29" name="Picture Placeholder 50">
            <a:extLst>
              <a:ext uri="{FF2B5EF4-FFF2-40B4-BE49-F238E27FC236}">
                <a16:creationId xmlns:a16="http://schemas.microsoft.com/office/drawing/2014/main" id="{106DB928-4AE1-4E4B-9A4C-6062FC247709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0323956" y="2243035"/>
            <a:ext cx="1071841" cy="1095375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9F7D2B0-E449-FD45-9789-FC204088E97C}"/>
              </a:ext>
            </a:extLst>
          </p:cNvPr>
          <p:cNvCxnSpPr>
            <a:cxnSpLocks/>
          </p:cNvCxnSpPr>
          <p:nvPr userDrawn="1"/>
        </p:nvCxnSpPr>
        <p:spPr>
          <a:xfrm>
            <a:off x="8183296" y="3573316"/>
            <a:ext cx="321250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86FE37F4-1DCF-2D40-845F-6C10AC016C29}"/>
              </a:ext>
            </a:extLst>
          </p:cNvPr>
          <p:cNvSpPr>
            <a:spLocks noGrp="1"/>
          </p:cNvSpPr>
          <p:nvPr>
            <p:ph idx="25" hasCustomPrompt="1"/>
          </p:nvPr>
        </p:nvSpPr>
        <p:spPr>
          <a:xfrm>
            <a:off x="8225863" y="3819675"/>
            <a:ext cx="3169934" cy="1061801"/>
          </a:xfrm>
        </p:spPr>
        <p:txBody>
          <a:bodyPr lIns="0" tIns="0" rIns="0" bIns="0">
            <a:normAutofit/>
          </a:bodyPr>
          <a:lstStyle>
            <a:lvl1pPr marL="0" indent="0" algn="l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</a:t>
            </a:r>
            <a:br>
              <a:rPr lang="en-US"/>
            </a:br>
            <a:r>
              <a:rPr lang="en-US"/>
              <a:t>item or step 1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6F1B24E-B6B2-2D4F-8CE9-C10E33FBF4C2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22" name="Picture 21" descr="The University of Iowa">
            <a:extLst>
              <a:ext uri="{FF2B5EF4-FFF2-40B4-BE49-F238E27FC236}">
                <a16:creationId xmlns:a16="http://schemas.microsoft.com/office/drawing/2014/main" id="{9C14D290-718E-D94D-BEC3-A2B3F3F54CA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5387E550-EB5F-3F4A-9BFA-44D25611C9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1">
                <a:solidFill>
                  <a:schemeClr val="bg1"/>
                </a:solidFill>
              </a:defRPr>
            </a:lvl1pPr>
          </a:lstStyle>
          <a:p>
            <a:r>
              <a:rPr lang="en-US" b="0"/>
              <a:t>Insert-&gt;Header and Footer-&gt;Type Customizable Name</a:t>
            </a:r>
            <a:endParaRPr 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9FF7EDA-87CD-8DAB-9C47-D5E1D6F648B2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07126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00" userDrawn="1">
          <p15:clr>
            <a:srgbClr val="FBAE40"/>
          </p15:clr>
        </p15:guide>
        <p15:guide id="2" pos="598">
          <p15:clr>
            <a:srgbClr val="FBAE40"/>
          </p15:clr>
        </p15:guide>
        <p15:guide id="3" pos="7080">
          <p15:clr>
            <a:srgbClr val="FBAE40"/>
          </p15:clr>
        </p15:guide>
        <p15:guide id="4" pos="3840">
          <p15:clr>
            <a:srgbClr val="FBAE40"/>
          </p15:clr>
        </p15:guide>
        <p15:guide id="5" orient="horz" pos="1054" userDrawn="1">
          <p15:clr>
            <a:srgbClr val="FBAE40"/>
          </p15:clr>
        </p15:guide>
        <p15:guide id="6" orient="horz" pos="3744" userDrawn="1">
          <p15:clr>
            <a:srgbClr val="FBAE40"/>
          </p15:clr>
        </p15:guide>
        <p15:guide id="7" orient="horz" pos="697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 Icon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1">
            <a:extLst>
              <a:ext uri="{FF2B5EF4-FFF2-40B4-BE49-F238E27FC236}">
                <a16:creationId xmlns:a16="http://schemas.microsoft.com/office/drawing/2014/main" id="{7C3D46F0-0006-469D-9C96-A2B5BF7087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D57D41-E534-4387-8837-F27E5C2408BD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E7A2738-1D29-40DE-AACF-F60CD708E892}"/>
              </a:ext>
            </a:extLst>
          </p:cNvPr>
          <p:cNvCxnSpPr/>
          <p:nvPr userDrawn="1"/>
        </p:nvCxnSpPr>
        <p:spPr>
          <a:xfrm>
            <a:off x="2535870" y="2921860"/>
            <a:ext cx="7111014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Oval 1">
            <a:extLst>
              <a:ext uri="{FF2B5EF4-FFF2-40B4-BE49-F238E27FC236}">
                <a16:creationId xmlns:a16="http://schemas.microsoft.com/office/drawing/2014/main" id="{D1ADFA24-184F-46B9-B1D0-3FBB044F3673}"/>
              </a:ext>
            </a:extLst>
          </p:cNvPr>
          <p:cNvSpPr/>
          <p:nvPr userDrawn="1"/>
        </p:nvSpPr>
        <p:spPr>
          <a:xfrm>
            <a:off x="1664749" y="2050739"/>
            <a:ext cx="1742242" cy="1742242"/>
          </a:xfrm>
          <a:prstGeom prst="ellips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Picture Placeholder 3">
            <a:extLst>
              <a:ext uri="{FF2B5EF4-FFF2-40B4-BE49-F238E27FC236}">
                <a16:creationId xmlns:a16="http://schemas.microsoft.com/office/drawing/2014/main" id="{DC306F30-B3C1-E74C-B18C-7075DB0761DE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1953910" y="2337468"/>
            <a:ext cx="1182412" cy="1222625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4F85108-BDC9-43A2-BEF1-240E666F4E0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52500" y="4078664"/>
            <a:ext cx="3166740" cy="754602"/>
          </a:xfrm>
        </p:spPr>
        <p:txBody>
          <a:bodyPr lIns="0" tIns="0" rIns="0" bIns="0">
            <a:normAutofit/>
          </a:bodyPr>
          <a:lstStyle>
            <a:lvl1pPr marL="0" indent="0" algn="ctr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</a:t>
            </a:r>
            <a:br>
              <a:rPr lang="en-US"/>
            </a:br>
            <a:r>
              <a:rPr lang="en-US"/>
              <a:t>item or step 1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3FF9D861-0550-4AC8-BB96-094DAF60B7F4}"/>
              </a:ext>
            </a:extLst>
          </p:cNvPr>
          <p:cNvSpPr/>
          <p:nvPr userDrawn="1"/>
        </p:nvSpPr>
        <p:spPr>
          <a:xfrm>
            <a:off x="5231950" y="2050741"/>
            <a:ext cx="1742242" cy="1742242"/>
          </a:xfrm>
          <a:prstGeom prst="ellips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Picture Placeholder 3">
            <a:extLst>
              <a:ext uri="{FF2B5EF4-FFF2-40B4-BE49-F238E27FC236}">
                <a16:creationId xmlns:a16="http://schemas.microsoft.com/office/drawing/2014/main" id="{4382C3D7-6E45-864C-A5B5-39762336A484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500171" y="2310547"/>
            <a:ext cx="1182412" cy="1222625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700A296A-0A06-4FFB-B935-517187294F6B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616385" y="4078664"/>
            <a:ext cx="2973372" cy="754602"/>
          </a:xfrm>
        </p:spPr>
        <p:txBody>
          <a:bodyPr lIns="0" tIns="0" rIns="0" bIns="0">
            <a:normAutofit/>
          </a:bodyPr>
          <a:lstStyle>
            <a:lvl1pPr marL="0" indent="0" algn="ctr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</a:t>
            </a:r>
            <a:br>
              <a:rPr lang="en-US"/>
            </a:br>
            <a:r>
              <a:rPr lang="en-US"/>
              <a:t>item or step 2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D101DA23-83F7-4662-BC02-2666717C53B4}"/>
              </a:ext>
            </a:extLst>
          </p:cNvPr>
          <p:cNvSpPr/>
          <p:nvPr userDrawn="1"/>
        </p:nvSpPr>
        <p:spPr>
          <a:xfrm>
            <a:off x="8775763" y="2050741"/>
            <a:ext cx="1742242" cy="1742242"/>
          </a:xfrm>
          <a:prstGeom prst="ellips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Picture Placeholder 3">
            <a:extLst>
              <a:ext uri="{FF2B5EF4-FFF2-40B4-BE49-F238E27FC236}">
                <a16:creationId xmlns:a16="http://schemas.microsoft.com/office/drawing/2014/main" id="{6E1CEA20-24A4-8C45-B5A6-CE111F714FEF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046432" y="2299135"/>
            <a:ext cx="1182412" cy="1222625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D4DB30FF-E82C-424F-A06C-EFC3CFC45E36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8063514" y="4078663"/>
            <a:ext cx="3166740" cy="754602"/>
          </a:xfrm>
        </p:spPr>
        <p:txBody>
          <a:bodyPr lIns="0" tIns="0" rIns="0" bIns="0">
            <a:normAutofit/>
          </a:bodyPr>
          <a:lstStyle>
            <a:lvl1pPr marL="0" indent="0" algn="ctr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</a:t>
            </a:r>
            <a:br>
              <a:rPr lang="en-US"/>
            </a:br>
            <a:r>
              <a:rPr lang="en-US"/>
              <a:t>item or step 1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6F1B24E-B6B2-2D4F-8CE9-C10E33FBF4C2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22" name="Picture 21" descr="The University of Iowa">
            <a:extLst>
              <a:ext uri="{FF2B5EF4-FFF2-40B4-BE49-F238E27FC236}">
                <a16:creationId xmlns:a16="http://schemas.microsoft.com/office/drawing/2014/main" id="{9C14D290-718E-D94D-BEC3-A2B3F3F54CA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5387E550-EB5F-3F4A-9BFA-44D25611C9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1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093C3B-BCBF-D900-9D0D-7DF1CBBD8A63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39519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00" userDrawn="1">
          <p15:clr>
            <a:srgbClr val="FBAE40"/>
          </p15:clr>
        </p15:guide>
        <p15:guide id="2" pos="598">
          <p15:clr>
            <a:srgbClr val="FBAE40"/>
          </p15:clr>
        </p15:guide>
        <p15:guide id="3" pos="7080">
          <p15:clr>
            <a:srgbClr val="FBAE40"/>
          </p15:clr>
        </p15:guide>
        <p15:guide id="4" pos="3840">
          <p15:clr>
            <a:srgbClr val="FBAE40"/>
          </p15:clr>
        </p15:guide>
        <p15:guide id="5" orient="horz" pos="1054" userDrawn="1">
          <p15:clr>
            <a:srgbClr val="FBAE40"/>
          </p15:clr>
        </p15:guide>
        <p15:guide id="6" orient="horz" pos="3744" userDrawn="1">
          <p15:clr>
            <a:srgbClr val="FBAE40"/>
          </p15:clr>
        </p15:guide>
        <p15:guide id="7" orient="horz" pos="697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 Icon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1">
            <a:extLst>
              <a:ext uri="{FF2B5EF4-FFF2-40B4-BE49-F238E27FC236}">
                <a16:creationId xmlns:a16="http://schemas.microsoft.com/office/drawing/2014/main" id="{1B9DD2E6-4011-470E-85A1-9331B2E25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D57D41-E534-4387-8837-F27E5C2408BD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2D6361F7-376B-4B6B-90CB-982F8C88D3AB}"/>
              </a:ext>
            </a:extLst>
          </p:cNvPr>
          <p:cNvCxnSpPr/>
          <p:nvPr userDrawn="1"/>
        </p:nvCxnSpPr>
        <p:spPr>
          <a:xfrm>
            <a:off x="2535870" y="2921860"/>
            <a:ext cx="7111014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Oval 24">
            <a:extLst>
              <a:ext uri="{FF2B5EF4-FFF2-40B4-BE49-F238E27FC236}">
                <a16:creationId xmlns:a16="http://schemas.microsoft.com/office/drawing/2014/main" id="{A7215D4C-D1BA-4B83-8034-F6173B4B3FE7}"/>
              </a:ext>
            </a:extLst>
          </p:cNvPr>
          <p:cNvSpPr/>
          <p:nvPr userDrawn="1"/>
        </p:nvSpPr>
        <p:spPr>
          <a:xfrm>
            <a:off x="1260812" y="2050739"/>
            <a:ext cx="1742242" cy="1742242"/>
          </a:xfrm>
          <a:prstGeom prst="ellips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Picture Placeholder 3">
            <a:extLst>
              <a:ext uri="{FF2B5EF4-FFF2-40B4-BE49-F238E27FC236}">
                <a16:creationId xmlns:a16="http://schemas.microsoft.com/office/drawing/2014/main" id="{0A1A4191-73C5-A24C-B85A-D6F8FC572523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1540727" y="2311683"/>
            <a:ext cx="1182412" cy="1222625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5C06C296-F787-402D-AC65-1E55B4D25C69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952500" y="4078664"/>
            <a:ext cx="2358866" cy="754602"/>
          </a:xfrm>
        </p:spPr>
        <p:txBody>
          <a:bodyPr lIns="0" tIns="0" rIns="0" bIns="0">
            <a:normAutofit/>
          </a:bodyPr>
          <a:lstStyle>
            <a:lvl1pPr marL="0" indent="0" algn="ctr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</a:t>
            </a:r>
            <a:br>
              <a:rPr lang="en-US"/>
            </a:br>
            <a:r>
              <a:rPr lang="en-US"/>
              <a:t>item or step 1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AE1934B1-C1CC-42D5-A8D8-639ED39E9A45}"/>
              </a:ext>
            </a:extLst>
          </p:cNvPr>
          <p:cNvSpPr/>
          <p:nvPr userDrawn="1"/>
        </p:nvSpPr>
        <p:spPr>
          <a:xfrm>
            <a:off x="3935830" y="2050739"/>
            <a:ext cx="1742242" cy="1742242"/>
          </a:xfrm>
          <a:prstGeom prst="ellips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Picture Placeholder 3">
            <a:extLst>
              <a:ext uri="{FF2B5EF4-FFF2-40B4-BE49-F238E27FC236}">
                <a16:creationId xmlns:a16="http://schemas.microsoft.com/office/drawing/2014/main" id="{D7A0C8CB-AE00-AE4E-8B06-C3CDA2E8A6B0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221796" y="2280863"/>
            <a:ext cx="1182412" cy="1222625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8C7F2CE8-9E91-4C86-99AB-686A9C810419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3627518" y="4078664"/>
            <a:ext cx="2358866" cy="754602"/>
          </a:xfrm>
        </p:spPr>
        <p:txBody>
          <a:bodyPr lIns="0" tIns="0" rIns="0" bIns="0">
            <a:normAutofit/>
          </a:bodyPr>
          <a:lstStyle>
            <a:lvl1pPr marL="0" indent="0" algn="ctr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</a:t>
            </a:r>
            <a:br>
              <a:rPr lang="en-US"/>
            </a:br>
            <a:r>
              <a:rPr lang="en-US"/>
              <a:t>item or step 1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07542B3E-45A5-4E88-A2C5-758AC86BE4D0}"/>
              </a:ext>
            </a:extLst>
          </p:cNvPr>
          <p:cNvSpPr/>
          <p:nvPr userDrawn="1"/>
        </p:nvSpPr>
        <p:spPr>
          <a:xfrm>
            <a:off x="6513929" y="2050739"/>
            <a:ext cx="1742242" cy="1742242"/>
          </a:xfrm>
          <a:prstGeom prst="ellips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Picture Placeholder 3">
            <a:extLst>
              <a:ext uri="{FF2B5EF4-FFF2-40B4-BE49-F238E27FC236}">
                <a16:creationId xmlns:a16="http://schemas.microsoft.com/office/drawing/2014/main" id="{EED777B6-C788-B840-ACC3-FD8949E42AC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793844" y="2309972"/>
            <a:ext cx="1182412" cy="1222625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BC06D7C8-7D2D-4A80-B5B8-174F5056AA0B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6205617" y="4078664"/>
            <a:ext cx="2358866" cy="754602"/>
          </a:xfrm>
        </p:spPr>
        <p:txBody>
          <a:bodyPr lIns="0" tIns="0" rIns="0" bIns="0">
            <a:normAutofit/>
          </a:bodyPr>
          <a:lstStyle>
            <a:lvl1pPr marL="0" indent="0" algn="ctr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</a:t>
            </a:r>
            <a:br>
              <a:rPr lang="en-US"/>
            </a:br>
            <a:r>
              <a:rPr lang="en-US"/>
              <a:t>item or step 1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924B0597-6276-471F-96FD-FDE08D64C524}"/>
              </a:ext>
            </a:extLst>
          </p:cNvPr>
          <p:cNvSpPr/>
          <p:nvPr userDrawn="1"/>
        </p:nvSpPr>
        <p:spPr>
          <a:xfrm>
            <a:off x="9188946" y="2045132"/>
            <a:ext cx="1742242" cy="1742242"/>
          </a:xfrm>
          <a:prstGeom prst="ellips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Picture Placeholder 3">
            <a:extLst>
              <a:ext uri="{FF2B5EF4-FFF2-40B4-BE49-F238E27FC236}">
                <a16:creationId xmlns:a16="http://schemas.microsoft.com/office/drawing/2014/main" id="{04C4E3A7-AB8A-6243-BBFD-8A433C78470B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473607" y="2311684"/>
            <a:ext cx="1182412" cy="1222625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30" name="Content Placeholder 2">
            <a:extLst>
              <a:ext uri="{FF2B5EF4-FFF2-40B4-BE49-F238E27FC236}">
                <a16:creationId xmlns:a16="http://schemas.microsoft.com/office/drawing/2014/main" id="{8FC2F9F8-450A-4433-BAFC-DCD0001FAF1D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8880634" y="4073057"/>
            <a:ext cx="2358866" cy="754602"/>
          </a:xfrm>
        </p:spPr>
        <p:txBody>
          <a:bodyPr lIns="0" tIns="0" rIns="0" bIns="0">
            <a:normAutofit/>
          </a:bodyPr>
          <a:lstStyle>
            <a:lvl1pPr marL="0" indent="0" algn="ctr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</a:t>
            </a:r>
            <a:br>
              <a:rPr lang="en-US"/>
            </a:br>
            <a:r>
              <a:rPr lang="en-US"/>
              <a:t>item or step 1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4578BB7-B3A6-0D4A-A743-C8950F9817AE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20" name="Picture 19" descr="The University of Iowa">
            <a:extLst>
              <a:ext uri="{FF2B5EF4-FFF2-40B4-BE49-F238E27FC236}">
                <a16:creationId xmlns:a16="http://schemas.microsoft.com/office/drawing/2014/main" id="{6D319038-0896-5540-A405-0F93F52CC9D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19" name="Footer Placeholder 4">
            <a:extLst>
              <a:ext uri="{FF2B5EF4-FFF2-40B4-BE49-F238E27FC236}">
                <a16:creationId xmlns:a16="http://schemas.microsoft.com/office/drawing/2014/main" id="{CF5779A1-5C1A-D949-93A6-EFB401BFC6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1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6C8F4D8-7D6D-84F2-4CB4-E6AA2719984B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83895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00" userDrawn="1">
          <p15:clr>
            <a:srgbClr val="FBAE40"/>
          </p15:clr>
        </p15:guide>
        <p15:guide id="2" pos="598">
          <p15:clr>
            <a:srgbClr val="FBAE40"/>
          </p15:clr>
        </p15:guide>
        <p15:guide id="3" pos="7080">
          <p15:clr>
            <a:srgbClr val="FBAE40"/>
          </p15:clr>
        </p15:guide>
        <p15:guide id="4" pos="3840">
          <p15:clr>
            <a:srgbClr val="FBAE40"/>
          </p15:clr>
        </p15:guide>
        <p15:guide id="5" orient="horz" pos="1054" userDrawn="1">
          <p15:clr>
            <a:srgbClr val="FBAE40"/>
          </p15:clr>
        </p15:guide>
        <p15:guide id="6" orient="horz" pos="3744" userDrawn="1">
          <p15:clr>
            <a:srgbClr val="FBAE40"/>
          </p15:clr>
        </p15:guide>
        <p15:guide id="7" orient="horz" pos="697" userDrawn="1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ve Column Icon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1">
            <a:extLst>
              <a:ext uri="{FF2B5EF4-FFF2-40B4-BE49-F238E27FC236}">
                <a16:creationId xmlns:a16="http://schemas.microsoft.com/office/drawing/2014/main" id="{C7E2EA4D-EFA8-4B7C-9585-ADB07DA2D9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D57D41-E534-4387-8837-F27E5C2408BD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2D6361F7-376B-4B6B-90CB-982F8C88D3AB}"/>
              </a:ext>
            </a:extLst>
          </p:cNvPr>
          <p:cNvCxnSpPr/>
          <p:nvPr userDrawn="1"/>
        </p:nvCxnSpPr>
        <p:spPr>
          <a:xfrm>
            <a:off x="2535870" y="2921860"/>
            <a:ext cx="7111014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Oval 24">
            <a:extLst>
              <a:ext uri="{FF2B5EF4-FFF2-40B4-BE49-F238E27FC236}">
                <a16:creationId xmlns:a16="http://schemas.microsoft.com/office/drawing/2014/main" id="{A7215D4C-D1BA-4B83-8034-F6173B4B3FE7}"/>
              </a:ext>
            </a:extLst>
          </p:cNvPr>
          <p:cNvSpPr/>
          <p:nvPr userDrawn="1"/>
        </p:nvSpPr>
        <p:spPr>
          <a:xfrm>
            <a:off x="1175438" y="2125657"/>
            <a:ext cx="1594590" cy="1594590"/>
          </a:xfrm>
          <a:prstGeom prst="ellips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Picture Placeholder 3">
            <a:extLst>
              <a:ext uri="{FF2B5EF4-FFF2-40B4-BE49-F238E27FC236}">
                <a16:creationId xmlns:a16="http://schemas.microsoft.com/office/drawing/2014/main" id="{0E2F4087-739F-1B43-B022-92BCEDD29A2D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448972" y="2403497"/>
            <a:ext cx="1030100" cy="1086492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5C06C296-F787-402D-AC65-1E55B4D25C69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1175438" y="4078664"/>
            <a:ext cx="1601504" cy="754602"/>
          </a:xfrm>
        </p:spPr>
        <p:txBody>
          <a:bodyPr lIns="0" tIns="0" rIns="0" bIns="0">
            <a:normAutofit/>
          </a:bodyPr>
          <a:lstStyle>
            <a:lvl1pPr marL="0" indent="0" algn="ctr">
              <a:buSzPct val="95000"/>
              <a:buFont typeface="Arial" panose="020B0604020202020204" pitchFamily="34" charset="0"/>
              <a:buNone/>
              <a:defRPr sz="20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</a:t>
            </a:r>
            <a:br>
              <a:rPr lang="en-US"/>
            </a:br>
            <a:r>
              <a:rPr lang="en-US"/>
              <a:t>item or step 1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AE1934B1-C1CC-42D5-A8D8-639ED39E9A45}"/>
              </a:ext>
            </a:extLst>
          </p:cNvPr>
          <p:cNvSpPr/>
          <p:nvPr userDrawn="1"/>
        </p:nvSpPr>
        <p:spPr>
          <a:xfrm>
            <a:off x="3222122" y="2125657"/>
            <a:ext cx="1594590" cy="1594590"/>
          </a:xfrm>
          <a:prstGeom prst="ellips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Picture Placeholder 3">
            <a:extLst>
              <a:ext uri="{FF2B5EF4-FFF2-40B4-BE49-F238E27FC236}">
                <a16:creationId xmlns:a16="http://schemas.microsoft.com/office/drawing/2014/main" id="{090A73C4-9F43-6142-BBC5-1C887BE310ED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3502864" y="2384080"/>
            <a:ext cx="1030100" cy="1086492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9B9DF875-9EAF-4928-8E91-6599CCEAADEE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3225991" y="4080927"/>
            <a:ext cx="1601504" cy="754602"/>
          </a:xfrm>
        </p:spPr>
        <p:txBody>
          <a:bodyPr lIns="0" tIns="0" rIns="0" bIns="0">
            <a:normAutofit/>
          </a:bodyPr>
          <a:lstStyle>
            <a:lvl1pPr marL="0" indent="0" algn="ctr">
              <a:buSzPct val="95000"/>
              <a:buFont typeface="Arial" panose="020B0604020202020204" pitchFamily="34" charset="0"/>
              <a:buNone/>
              <a:defRPr sz="20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</a:t>
            </a:r>
            <a:br>
              <a:rPr lang="en-US"/>
            </a:br>
            <a:r>
              <a:rPr lang="en-US"/>
              <a:t>item or step 2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07542B3E-45A5-4E88-A2C5-758AC86BE4D0}"/>
              </a:ext>
            </a:extLst>
          </p:cNvPr>
          <p:cNvSpPr/>
          <p:nvPr userDrawn="1"/>
        </p:nvSpPr>
        <p:spPr>
          <a:xfrm>
            <a:off x="5305996" y="2125657"/>
            <a:ext cx="1594590" cy="1594590"/>
          </a:xfrm>
          <a:prstGeom prst="ellips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Picture Placeholder 3">
            <a:extLst>
              <a:ext uri="{FF2B5EF4-FFF2-40B4-BE49-F238E27FC236}">
                <a16:creationId xmlns:a16="http://schemas.microsoft.com/office/drawing/2014/main" id="{121B32AC-29FE-5347-BC89-E1D12CFE9173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588241" y="2367425"/>
            <a:ext cx="1030100" cy="1086492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FCAF8AD6-3AD0-422C-B775-D4163897266E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5285614" y="4095574"/>
            <a:ext cx="1601504" cy="754602"/>
          </a:xfrm>
        </p:spPr>
        <p:txBody>
          <a:bodyPr lIns="0" tIns="0" rIns="0" bIns="0">
            <a:normAutofit/>
          </a:bodyPr>
          <a:lstStyle>
            <a:lvl1pPr marL="0" indent="0" algn="ctr">
              <a:buSzPct val="95000"/>
              <a:buFont typeface="Arial" panose="020B0604020202020204" pitchFamily="34" charset="0"/>
              <a:buNone/>
              <a:defRPr sz="20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</a:t>
            </a:r>
            <a:br>
              <a:rPr lang="en-US"/>
            </a:br>
            <a:r>
              <a:rPr lang="en-US"/>
              <a:t>item or step 3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924B0597-6276-471F-96FD-FDE08D64C524}"/>
              </a:ext>
            </a:extLst>
          </p:cNvPr>
          <p:cNvSpPr/>
          <p:nvPr userDrawn="1"/>
        </p:nvSpPr>
        <p:spPr>
          <a:xfrm>
            <a:off x="7346820" y="2120050"/>
            <a:ext cx="1594590" cy="1594590"/>
          </a:xfrm>
          <a:prstGeom prst="ellips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Picture Placeholder 3">
            <a:extLst>
              <a:ext uri="{FF2B5EF4-FFF2-40B4-BE49-F238E27FC236}">
                <a16:creationId xmlns:a16="http://schemas.microsoft.com/office/drawing/2014/main" id="{035F86CE-4040-2C49-984A-EDA41DCC41DE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583252" y="2382067"/>
            <a:ext cx="1121725" cy="1086492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38" name="Content Placeholder 2">
            <a:extLst>
              <a:ext uri="{FF2B5EF4-FFF2-40B4-BE49-F238E27FC236}">
                <a16:creationId xmlns:a16="http://schemas.microsoft.com/office/drawing/2014/main" id="{7322EF39-6BE8-4D2B-B814-5743037B71F3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7325607" y="4098102"/>
            <a:ext cx="1601504" cy="754602"/>
          </a:xfrm>
        </p:spPr>
        <p:txBody>
          <a:bodyPr lIns="0" tIns="0" rIns="0" bIns="0">
            <a:normAutofit/>
          </a:bodyPr>
          <a:lstStyle>
            <a:lvl1pPr marL="0" indent="0" algn="ctr">
              <a:buSzPct val="95000"/>
              <a:buFont typeface="Arial" panose="020B0604020202020204" pitchFamily="34" charset="0"/>
              <a:buNone/>
              <a:defRPr sz="20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</a:t>
            </a:r>
            <a:br>
              <a:rPr lang="en-US"/>
            </a:br>
            <a:r>
              <a:rPr lang="en-US"/>
              <a:t>item or step 4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D3182B05-A7F1-450F-AE61-51425BEF3AA6}"/>
              </a:ext>
            </a:extLst>
          </p:cNvPr>
          <p:cNvSpPr/>
          <p:nvPr userDrawn="1"/>
        </p:nvSpPr>
        <p:spPr>
          <a:xfrm>
            <a:off x="9434872" y="2133924"/>
            <a:ext cx="1594590" cy="1594590"/>
          </a:xfrm>
          <a:prstGeom prst="ellips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Picture Placeholder 3">
            <a:extLst>
              <a:ext uri="{FF2B5EF4-FFF2-40B4-BE49-F238E27FC236}">
                <a16:creationId xmlns:a16="http://schemas.microsoft.com/office/drawing/2014/main" id="{F0B4205C-10C8-FE4A-8B1C-0B1A629E22B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682000" y="2389427"/>
            <a:ext cx="1100333" cy="1086492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40" name="Content Placeholder 2">
            <a:extLst>
              <a:ext uri="{FF2B5EF4-FFF2-40B4-BE49-F238E27FC236}">
                <a16:creationId xmlns:a16="http://schemas.microsoft.com/office/drawing/2014/main" id="{0D14923E-7CAE-49B7-9668-7B538ECFDC5F}"/>
              </a:ext>
            </a:extLst>
          </p:cNvPr>
          <p:cNvSpPr>
            <a:spLocks noGrp="1"/>
          </p:cNvSpPr>
          <p:nvPr>
            <p:ph idx="21" hasCustomPrompt="1"/>
          </p:nvPr>
        </p:nvSpPr>
        <p:spPr>
          <a:xfrm>
            <a:off x="9419080" y="4107460"/>
            <a:ext cx="1601504" cy="754602"/>
          </a:xfrm>
        </p:spPr>
        <p:txBody>
          <a:bodyPr lIns="0" tIns="0" rIns="0" bIns="0">
            <a:normAutofit/>
          </a:bodyPr>
          <a:lstStyle>
            <a:lvl1pPr marL="0" indent="0" algn="ctr">
              <a:buSzPct val="95000"/>
              <a:buFont typeface="Arial" panose="020B0604020202020204" pitchFamily="34" charset="0"/>
              <a:buNone/>
              <a:defRPr sz="20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</a:t>
            </a:r>
            <a:br>
              <a:rPr lang="en-US"/>
            </a:br>
            <a:r>
              <a:rPr lang="en-US"/>
              <a:t>item or step 5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6866093-3200-6440-8AB2-9242D398F84E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22" name="Picture 21" descr="The University of Iowa">
            <a:extLst>
              <a:ext uri="{FF2B5EF4-FFF2-40B4-BE49-F238E27FC236}">
                <a16:creationId xmlns:a16="http://schemas.microsoft.com/office/drawing/2014/main" id="{D664CA64-A0A9-F34D-BDC5-9ABCDE7A547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EB50283A-D398-E048-BDA3-92DD544A49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1">
                <a:solidFill>
                  <a:schemeClr val="bg1"/>
                </a:solidFill>
              </a:defRPr>
            </a:lvl1pPr>
          </a:lstStyle>
          <a:p>
            <a:r>
              <a:rPr lang="en-US" b="0"/>
              <a:t>Insert-&gt;Header and Footer-&gt;Type Customizable Name</a:t>
            </a:r>
            <a:endParaRPr 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E6E4C3C-033E-0849-C3C1-66D85BACFA29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075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00" userDrawn="1">
          <p15:clr>
            <a:srgbClr val="FBAE40"/>
          </p15:clr>
        </p15:guide>
        <p15:guide id="2" pos="598">
          <p15:clr>
            <a:srgbClr val="FBAE40"/>
          </p15:clr>
        </p15:guide>
        <p15:guide id="3" pos="7080">
          <p15:clr>
            <a:srgbClr val="FBAE40"/>
          </p15:clr>
        </p15:guide>
        <p15:guide id="4" pos="3840">
          <p15:clr>
            <a:srgbClr val="FBAE40"/>
          </p15:clr>
        </p15:guide>
        <p15:guide id="5" orient="horz" pos="1054" userDrawn="1">
          <p15:clr>
            <a:srgbClr val="FBAE40"/>
          </p15:clr>
        </p15:guide>
        <p15:guide id="6" orient="horz" pos="3744" userDrawn="1">
          <p15:clr>
            <a:srgbClr val="FBAE40"/>
          </p15:clr>
        </p15:guide>
        <p15:guide id="7" orient="horz" pos="697" userDrawn="1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 Photo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B103BAF8-AE0C-4C2A-AFFE-5EFC74007B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D57D41-E534-4387-8837-F27E5C2408BD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4C29AABA-668F-408C-81ED-9A30ED0A4BE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949325" y="1684461"/>
            <a:ext cx="3170238" cy="1621608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4F85108-BDC9-43A2-BEF1-240E666F4E0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52500" y="3548916"/>
            <a:ext cx="3166740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68A6427-DC92-4AE6-82DE-34A0B3A972EE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952501" y="4383805"/>
            <a:ext cx="3166740" cy="1408471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336E4CD-9037-4D69-A3E3-6380D9131A19}"/>
              </a:ext>
            </a:extLst>
          </p:cNvPr>
          <p:cNvCxnSpPr/>
          <p:nvPr userDrawn="1"/>
        </p:nvCxnSpPr>
        <p:spPr>
          <a:xfrm>
            <a:off x="4376691" y="1679383"/>
            <a:ext cx="0" cy="4264218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Picture Placeholder 3">
            <a:extLst>
              <a:ext uri="{FF2B5EF4-FFF2-40B4-BE49-F238E27FC236}">
                <a16:creationId xmlns:a16="http://schemas.microsoft.com/office/drawing/2014/main" id="{3C3EF38F-8A6A-4B49-A1A2-467E7797A51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602447" y="1677611"/>
            <a:ext cx="2987311" cy="1621608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700A296A-0A06-4FFB-B935-517187294F6B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616385" y="3537679"/>
            <a:ext cx="2973372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4DA600F9-1950-41BD-ACB3-21F2B5AE9494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4616386" y="4372568"/>
            <a:ext cx="2973372" cy="1408471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CA77083-F133-420F-93AD-77761878E852}"/>
              </a:ext>
            </a:extLst>
          </p:cNvPr>
          <p:cNvCxnSpPr/>
          <p:nvPr userDrawn="1"/>
        </p:nvCxnSpPr>
        <p:spPr>
          <a:xfrm>
            <a:off x="7806430" y="1679383"/>
            <a:ext cx="0" cy="4264218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Picture Placeholder 3">
            <a:extLst>
              <a:ext uri="{FF2B5EF4-FFF2-40B4-BE49-F238E27FC236}">
                <a16:creationId xmlns:a16="http://schemas.microsoft.com/office/drawing/2014/main" id="{DDD8951C-5A36-4D07-AB7C-0F597B3D797D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072642" y="1684461"/>
            <a:ext cx="3166858" cy="1621608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D4DB30FF-E82C-424F-A06C-EFC3CFC45E36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8063514" y="3537679"/>
            <a:ext cx="3166740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6DC4408-89C4-4D74-957E-B2A4D59F76AE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8063515" y="4372568"/>
            <a:ext cx="3166740" cy="1408471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2DAB539-1500-4641-B587-77CADD883496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26" name="Picture 25" descr="The University of Iowa">
            <a:extLst>
              <a:ext uri="{FF2B5EF4-FFF2-40B4-BE49-F238E27FC236}">
                <a16:creationId xmlns:a16="http://schemas.microsoft.com/office/drawing/2014/main" id="{425DB221-2568-9A44-ABC3-1ED0E0B41E1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25" name="Footer Placeholder 4">
            <a:extLst>
              <a:ext uri="{FF2B5EF4-FFF2-40B4-BE49-F238E27FC236}">
                <a16:creationId xmlns:a16="http://schemas.microsoft.com/office/drawing/2014/main" id="{6E30D721-4805-D344-A3E0-90A8F1D568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  <a:endParaRPr lang="en-US" b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07FD898-F87A-8D2E-DCCB-72352316B37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46820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598">
          <p15:clr>
            <a:srgbClr val="FBAE40"/>
          </p15:clr>
        </p15:guide>
        <p15:guide id="3" pos="7080">
          <p15:clr>
            <a:srgbClr val="FBAE40"/>
          </p15:clr>
        </p15:guide>
        <p15:guide id="4" pos="3840">
          <p15:clr>
            <a:srgbClr val="FBAE40"/>
          </p15:clr>
        </p15:guide>
        <p15:guide id="5" orient="horz" pos="1054">
          <p15:clr>
            <a:srgbClr val="FBAE40"/>
          </p15:clr>
        </p15:guide>
        <p15:guide id="7" orient="horz" pos="3744">
          <p15:clr>
            <a:srgbClr val="FBAE40"/>
          </p15:clr>
        </p15:guide>
        <p15:guide id="8" orient="horz" pos="697">
          <p15:clr>
            <a:srgbClr val="FBAE40"/>
          </p15:clr>
        </p15:guide>
        <p15:guide id="9" orient="horz" pos="2400" userDrawn="1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 Photo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itle 1">
            <a:extLst>
              <a:ext uri="{FF2B5EF4-FFF2-40B4-BE49-F238E27FC236}">
                <a16:creationId xmlns:a16="http://schemas.microsoft.com/office/drawing/2014/main" id="{D42FEC1B-FCF8-4508-B227-27323879AC52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D57D41-E534-4387-8837-F27E5C2408BD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Picture Placeholder 3">
            <a:extLst>
              <a:ext uri="{FF2B5EF4-FFF2-40B4-BE49-F238E27FC236}">
                <a16:creationId xmlns:a16="http://schemas.microsoft.com/office/drawing/2014/main" id="{E21D4365-BAA8-4F76-87AD-1A328301E298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949325" y="1684461"/>
            <a:ext cx="2373939" cy="1621608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4F85108-BDC9-43A2-BEF1-240E666F4E0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52500" y="3545060"/>
            <a:ext cx="2358867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68A6427-DC92-4AE6-82DE-34A0B3A972EE}"/>
              </a:ext>
            </a:extLst>
          </p:cNvPr>
          <p:cNvSpPr>
            <a:spLocks noGrp="1"/>
          </p:cNvSpPr>
          <p:nvPr userDrawn="1">
            <p:ph idx="10" hasCustomPrompt="1"/>
          </p:nvPr>
        </p:nvSpPr>
        <p:spPr>
          <a:xfrm>
            <a:off x="952501" y="4372570"/>
            <a:ext cx="2358867" cy="140847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336E4CD-9037-4D69-A3E3-6380D9131A19}"/>
              </a:ext>
            </a:extLst>
          </p:cNvPr>
          <p:cNvCxnSpPr/>
          <p:nvPr userDrawn="1"/>
        </p:nvCxnSpPr>
        <p:spPr>
          <a:xfrm>
            <a:off x="3441180" y="1686757"/>
            <a:ext cx="0" cy="4256844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Picture Placeholder 3">
            <a:extLst>
              <a:ext uri="{FF2B5EF4-FFF2-40B4-BE49-F238E27FC236}">
                <a16:creationId xmlns:a16="http://schemas.microsoft.com/office/drawing/2014/main" id="{EB10E167-B94B-AD40-958C-D9E0F8F9DF4A}"/>
              </a:ext>
            </a:extLst>
          </p:cNvPr>
          <p:cNvSpPr>
            <a:spLocks noGrp="1"/>
          </p:cNvSpPr>
          <p:nvPr userDrawn="1">
            <p:ph type="pic" sz="quarter" idx="23"/>
          </p:nvPr>
        </p:nvSpPr>
        <p:spPr>
          <a:xfrm>
            <a:off x="3593362" y="1684461"/>
            <a:ext cx="2373939" cy="1621608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C03DF098-BB37-5848-9388-750D29EFC657}"/>
              </a:ext>
            </a:extLst>
          </p:cNvPr>
          <p:cNvSpPr>
            <a:spLocks noGrp="1"/>
          </p:cNvSpPr>
          <p:nvPr userDrawn="1">
            <p:ph idx="24" hasCustomPrompt="1"/>
          </p:nvPr>
        </p:nvSpPr>
        <p:spPr>
          <a:xfrm>
            <a:off x="3630386" y="3545060"/>
            <a:ext cx="2358867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6FE4DEF0-41BC-4548-B7BA-1E5B0231AFFD}"/>
              </a:ext>
            </a:extLst>
          </p:cNvPr>
          <p:cNvSpPr>
            <a:spLocks noGrp="1"/>
          </p:cNvSpPr>
          <p:nvPr userDrawn="1">
            <p:ph idx="25" hasCustomPrompt="1"/>
          </p:nvPr>
        </p:nvSpPr>
        <p:spPr>
          <a:xfrm>
            <a:off x="3630387" y="4372570"/>
            <a:ext cx="2358867" cy="140847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EF932C4-F1C3-47F2-84B8-FEC885C1843C}"/>
              </a:ext>
            </a:extLst>
          </p:cNvPr>
          <p:cNvCxnSpPr/>
          <p:nvPr userDrawn="1"/>
        </p:nvCxnSpPr>
        <p:spPr>
          <a:xfrm>
            <a:off x="6095740" y="1686758"/>
            <a:ext cx="0" cy="4293629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Picture Placeholder 3">
            <a:extLst>
              <a:ext uri="{FF2B5EF4-FFF2-40B4-BE49-F238E27FC236}">
                <a16:creationId xmlns:a16="http://schemas.microsoft.com/office/drawing/2014/main" id="{864CDDAA-23B4-C842-845C-7640D95F2B65}"/>
              </a:ext>
            </a:extLst>
          </p:cNvPr>
          <p:cNvSpPr>
            <a:spLocks noGrp="1"/>
          </p:cNvSpPr>
          <p:nvPr userDrawn="1">
            <p:ph type="pic" sz="quarter" idx="26"/>
          </p:nvPr>
        </p:nvSpPr>
        <p:spPr>
          <a:xfrm>
            <a:off x="6237399" y="1684461"/>
            <a:ext cx="2373939" cy="1621608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DEB8CCE3-3756-5947-84B2-DFCA00A013F6}"/>
              </a:ext>
            </a:extLst>
          </p:cNvPr>
          <p:cNvSpPr>
            <a:spLocks noGrp="1"/>
          </p:cNvSpPr>
          <p:nvPr userDrawn="1">
            <p:ph idx="27" hasCustomPrompt="1"/>
          </p:nvPr>
        </p:nvSpPr>
        <p:spPr>
          <a:xfrm>
            <a:off x="6242957" y="3545060"/>
            <a:ext cx="2358867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09C56F7D-4836-1E4F-BD4C-CB150E12E098}"/>
              </a:ext>
            </a:extLst>
          </p:cNvPr>
          <p:cNvSpPr>
            <a:spLocks noGrp="1"/>
          </p:cNvSpPr>
          <p:nvPr userDrawn="1">
            <p:ph idx="28" hasCustomPrompt="1"/>
          </p:nvPr>
        </p:nvSpPr>
        <p:spPr>
          <a:xfrm>
            <a:off x="6242958" y="4372570"/>
            <a:ext cx="2358867" cy="140847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CA77083-F133-420F-93AD-77761878E852}"/>
              </a:ext>
            </a:extLst>
          </p:cNvPr>
          <p:cNvCxnSpPr/>
          <p:nvPr userDrawn="1"/>
        </p:nvCxnSpPr>
        <p:spPr>
          <a:xfrm>
            <a:off x="8750300" y="1686757"/>
            <a:ext cx="0" cy="4256844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Picture Placeholder 3">
            <a:extLst>
              <a:ext uri="{FF2B5EF4-FFF2-40B4-BE49-F238E27FC236}">
                <a16:creationId xmlns:a16="http://schemas.microsoft.com/office/drawing/2014/main" id="{06A5C640-1D0E-4428-AC28-148AE98A7B34}"/>
              </a:ext>
            </a:extLst>
          </p:cNvPr>
          <p:cNvSpPr>
            <a:spLocks noGrp="1"/>
          </p:cNvSpPr>
          <p:nvPr userDrawn="1">
            <p:ph type="pic" sz="quarter" idx="22"/>
          </p:nvPr>
        </p:nvSpPr>
        <p:spPr>
          <a:xfrm>
            <a:off x="8881435" y="1680693"/>
            <a:ext cx="2349365" cy="1621608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A07502CC-5B90-4BCF-B63B-36D026C9AE96}"/>
              </a:ext>
            </a:extLst>
          </p:cNvPr>
          <p:cNvSpPr>
            <a:spLocks noGrp="1"/>
          </p:cNvSpPr>
          <p:nvPr userDrawn="1">
            <p:ph idx="15" hasCustomPrompt="1"/>
          </p:nvPr>
        </p:nvSpPr>
        <p:spPr>
          <a:xfrm>
            <a:off x="8875080" y="3548916"/>
            <a:ext cx="2358867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F169EF16-BA54-4279-A087-A65E4F26675F}"/>
              </a:ext>
            </a:extLst>
          </p:cNvPr>
          <p:cNvSpPr>
            <a:spLocks noGrp="1"/>
          </p:cNvSpPr>
          <p:nvPr userDrawn="1">
            <p:ph idx="16" hasCustomPrompt="1"/>
          </p:nvPr>
        </p:nvSpPr>
        <p:spPr>
          <a:xfrm>
            <a:off x="8875081" y="4362520"/>
            <a:ext cx="2358867" cy="1408470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A720753-9BFD-2840-9C93-FF72942ED6E3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32" name="Picture 31" descr="The University of Iowa">
            <a:extLst>
              <a:ext uri="{FF2B5EF4-FFF2-40B4-BE49-F238E27FC236}">
                <a16:creationId xmlns:a16="http://schemas.microsoft.com/office/drawing/2014/main" id="{710BB67D-293B-374F-89FC-5F2EBF9F292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31" name="Footer Placeholder 4">
            <a:extLst>
              <a:ext uri="{FF2B5EF4-FFF2-40B4-BE49-F238E27FC236}">
                <a16:creationId xmlns:a16="http://schemas.microsoft.com/office/drawing/2014/main" id="{9EE9B966-22C9-0D4A-8DF7-FFA7CF9C9DD8}"/>
              </a:ext>
            </a:extLst>
          </p:cNvPr>
          <p:cNvSpPr>
            <a:spLocks noGrp="1"/>
          </p:cNvSpPr>
          <p:nvPr userDrawn="1"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  <a:endParaRPr lang="en-US" b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65966A9-CD5A-4642-90C1-F11B0C05DEA7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00219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00" userDrawn="1">
          <p15:clr>
            <a:srgbClr val="FBAE40"/>
          </p15:clr>
        </p15:guide>
        <p15:guide id="2" pos="598">
          <p15:clr>
            <a:srgbClr val="FBAE40"/>
          </p15:clr>
        </p15:guide>
        <p15:guide id="3" pos="7080">
          <p15:clr>
            <a:srgbClr val="FBAE40"/>
          </p15:clr>
        </p15:guide>
        <p15:guide id="4" pos="3840">
          <p15:clr>
            <a:srgbClr val="FBAE40"/>
          </p15:clr>
        </p15:guide>
        <p15:guide id="5" orient="horz" pos="1054">
          <p15:clr>
            <a:srgbClr val="FBAE40"/>
          </p15:clr>
        </p15:guide>
        <p15:guide id="6" orient="horz" pos="3744">
          <p15:clr>
            <a:srgbClr val="FBAE40"/>
          </p15:clr>
        </p15:guide>
        <p15:guide id="7" orient="horz" pos="697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ve Column Photo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itle 1">
            <a:extLst>
              <a:ext uri="{FF2B5EF4-FFF2-40B4-BE49-F238E27FC236}">
                <a16:creationId xmlns:a16="http://schemas.microsoft.com/office/drawing/2014/main" id="{8F3E476F-E407-4406-BB4F-38E5453315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D57D41-E534-4387-8837-F27E5C2408BD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Picture Placeholder 3">
            <a:extLst>
              <a:ext uri="{FF2B5EF4-FFF2-40B4-BE49-F238E27FC236}">
                <a16:creationId xmlns:a16="http://schemas.microsoft.com/office/drawing/2014/main" id="{14F11A61-EE32-4596-8BBC-0626131F1E6F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952499" y="1684461"/>
            <a:ext cx="1832437" cy="1621608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4F85108-BDC9-43A2-BEF1-240E666F4E0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52501" y="3545060"/>
            <a:ext cx="1826629" cy="667670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0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68A6427-DC92-4AE6-82DE-34A0B3A972EE}"/>
              </a:ext>
            </a:extLst>
          </p:cNvPr>
          <p:cNvSpPr>
            <a:spLocks noGrp="1"/>
          </p:cNvSpPr>
          <p:nvPr userDrawn="1">
            <p:ph idx="10" hasCustomPrompt="1"/>
          </p:nvPr>
        </p:nvSpPr>
        <p:spPr>
          <a:xfrm>
            <a:off x="952502" y="4275590"/>
            <a:ext cx="1826629" cy="1408470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336E4CD-9037-4D69-A3E3-6380D9131A19}"/>
              </a:ext>
            </a:extLst>
          </p:cNvPr>
          <p:cNvCxnSpPr>
            <a:cxnSpLocks/>
          </p:cNvCxnSpPr>
          <p:nvPr userDrawn="1"/>
        </p:nvCxnSpPr>
        <p:spPr>
          <a:xfrm>
            <a:off x="2924781" y="1686759"/>
            <a:ext cx="0" cy="4256841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Picture Placeholder 3">
            <a:extLst>
              <a:ext uri="{FF2B5EF4-FFF2-40B4-BE49-F238E27FC236}">
                <a16:creationId xmlns:a16="http://schemas.microsoft.com/office/drawing/2014/main" id="{10B80E7E-3ECA-A84C-BBC2-DF9FD6DED4FD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3053442" y="1684461"/>
            <a:ext cx="1832437" cy="1621608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44" name="Content Placeholder 2">
            <a:extLst>
              <a:ext uri="{FF2B5EF4-FFF2-40B4-BE49-F238E27FC236}">
                <a16:creationId xmlns:a16="http://schemas.microsoft.com/office/drawing/2014/main" id="{AB9C78E2-4679-F844-BB37-D2E07B542CA3}"/>
              </a:ext>
            </a:extLst>
          </p:cNvPr>
          <p:cNvSpPr>
            <a:spLocks noGrp="1"/>
          </p:cNvSpPr>
          <p:nvPr>
            <p:ph idx="27" hasCustomPrompt="1"/>
          </p:nvPr>
        </p:nvSpPr>
        <p:spPr>
          <a:xfrm>
            <a:off x="3053444" y="3545060"/>
            <a:ext cx="1826629" cy="667670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0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0F3EA205-7109-BC44-BA2C-7704780449E8}"/>
              </a:ext>
            </a:extLst>
          </p:cNvPr>
          <p:cNvSpPr>
            <a:spLocks noGrp="1"/>
          </p:cNvSpPr>
          <p:nvPr>
            <p:ph idx="26" hasCustomPrompt="1"/>
          </p:nvPr>
        </p:nvSpPr>
        <p:spPr>
          <a:xfrm>
            <a:off x="3053445" y="4275590"/>
            <a:ext cx="1826629" cy="1408470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EF932C4-F1C3-47F2-84B8-FEC885C1843C}"/>
              </a:ext>
            </a:extLst>
          </p:cNvPr>
          <p:cNvCxnSpPr>
            <a:cxnSpLocks/>
          </p:cNvCxnSpPr>
          <p:nvPr userDrawn="1"/>
        </p:nvCxnSpPr>
        <p:spPr>
          <a:xfrm>
            <a:off x="5036631" y="1686759"/>
            <a:ext cx="0" cy="4256842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Picture Placeholder 3">
            <a:extLst>
              <a:ext uri="{FF2B5EF4-FFF2-40B4-BE49-F238E27FC236}">
                <a16:creationId xmlns:a16="http://schemas.microsoft.com/office/drawing/2014/main" id="{4EF24A51-2D82-AA40-8405-8CFEC6F5CB5D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5187042" y="1684461"/>
            <a:ext cx="1832437" cy="1621608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47" name="Content Placeholder 2">
            <a:extLst>
              <a:ext uri="{FF2B5EF4-FFF2-40B4-BE49-F238E27FC236}">
                <a16:creationId xmlns:a16="http://schemas.microsoft.com/office/drawing/2014/main" id="{90D707E7-5635-444F-BB41-10E2268CC099}"/>
              </a:ext>
            </a:extLst>
          </p:cNvPr>
          <p:cNvSpPr>
            <a:spLocks noGrp="1"/>
          </p:cNvSpPr>
          <p:nvPr>
            <p:ph idx="30" hasCustomPrompt="1"/>
          </p:nvPr>
        </p:nvSpPr>
        <p:spPr>
          <a:xfrm>
            <a:off x="5187044" y="3545060"/>
            <a:ext cx="1826629" cy="667670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0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46" name="Content Placeholder 2">
            <a:extLst>
              <a:ext uri="{FF2B5EF4-FFF2-40B4-BE49-F238E27FC236}">
                <a16:creationId xmlns:a16="http://schemas.microsoft.com/office/drawing/2014/main" id="{4340EF3F-9B6C-B54B-94AD-7275543213B0}"/>
              </a:ext>
            </a:extLst>
          </p:cNvPr>
          <p:cNvSpPr>
            <a:spLocks noGrp="1"/>
          </p:cNvSpPr>
          <p:nvPr>
            <p:ph idx="29" hasCustomPrompt="1"/>
          </p:nvPr>
        </p:nvSpPr>
        <p:spPr>
          <a:xfrm>
            <a:off x="5187045" y="4275590"/>
            <a:ext cx="1826629" cy="1408470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CA77083-F133-420F-93AD-77761878E852}"/>
              </a:ext>
            </a:extLst>
          </p:cNvPr>
          <p:cNvCxnSpPr>
            <a:cxnSpLocks/>
          </p:cNvCxnSpPr>
          <p:nvPr userDrawn="1"/>
        </p:nvCxnSpPr>
        <p:spPr>
          <a:xfrm>
            <a:off x="7148481" y="1686759"/>
            <a:ext cx="0" cy="4256841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Picture Placeholder 3">
            <a:extLst>
              <a:ext uri="{FF2B5EF4-FFF2-40B4-BE49-F238E27FC236}">
                <a16:creationId xmlns:a16="http://schemas.microsoft.com/office/drawing/2014/main" id="{4D703A3B-87F3-AE45-90D2-795F9DA88577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7266213" y="1684461"/>
            <a:ext cx="1832437" cy="1621608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50" name="Content Placeholder 2">
            <a:extLst>
              <a:ext uri="{FF2B5EF4-FFF2-40B4-BE49-F238E27FC236}">
                <a16:creationId xmlns:a16="http://schemas.microsoft.com/office/drawing/2014/main" id="{5C95157B-C7FC-864F-A9C2-08E02E26EE07}"/>
              </a:ext>
            </a:extLst>
          </p:cNvPr>
          <p:cNvSpPr>
            <a:spLocks noGrp="1"/>
          </p:cNvSpPr>
          <p:nvPr>
            <p:ph idx="33" hasCustomPrompt="1"/>
          </p:nvPr>
        </p:nvSpPr>
        <p:spPr>
          <a:xfrm>
            <a:off x="7266215" y="3545060"/>
            <a:ext cx="1826629" cy="667670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0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49" name="Content Placeholder 2">
            <a:extLst>
              <a:ext uri="{FF2B5EF4-FFF2-40B4-BE49-F238E27FC236}">
                <a16:creationId xmlns:a16="http://schemas.microsoft.com/office/drawing/2014/main" id="{71E05108-E0DC-6947-A186-EA5436079AAF}"/>
              </a:ext>
            </a:extLst>
          </p:cNvPr>
          <p:cNvSpPr>
            <a:spLocks noGrp="1"/>
          </p:cNvSpPr>
          <p:nvPr>
            <p:ph idx="32" hasCustomPrompt="1"/>
          </p:nvPr>
        </p:nvSpPr>
        <p:spPr>
          <a:xfrm>
            <a:off x="7266216" y="4275590"/>
            <a:ext cx="1826629" cy="1408470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55F5ADDF-F780-4384-87F4-30070C81BB29}"/>
              </a:ext>
            </a:extLst>
          </p:cNvPr>
          <p:cNvCxnSpPr>
            <a:cxnSpLocks/>
          </p:cNvCxnSpPr>
          <p:nvPr userDrawn="1"/>
        </p:nvCxnSpPr>
        <p:spPr>
          <a:xfrm>
            <a:off x="9260331" y="1686759"/>
            <a:ext cx="0" cy="4256841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Picture Placeholder 3">
            <a:extLst>
              <a:ext uri="{FF2B5EF4-FFF2-40B4-BE49-F238E27FC236}">
                <a16:creationId xmlns:a16="http://schemas.microsoft.com/office/drawing/2014/main" id="{E90B3032-DDF8-0446-8BB7-81565519E036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9410699" y="1684461"/>
            <a:ext cx="1832437" cy="1621608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53" name="Content Placeholder 2">
            <a:extLst>
              <a:ext uri="{FF2B5EF4-FFF2-40B4-BE49-F238E27FC236}">
                <a16:creationId xmlns:a16="http://schemas.microsoft.com/office/drawing/2014/main" id="{724287DA-FEAD-6E4A-83EC-B59516E2386C}"/>
              </a:ext>
            </a:extLst>
          </p:cNvPr>
          <p:cNvSpPr>
            <a:spLocks noGrp="1"/>
          </p:cNvSpPr>
          <p:nvPr>
            <p:ph idx="36" hasCustomPrompt="1"/>
          </p:nvPr>
        </p:nvSpPr>
        <p:spPr>
          <a:xfrm>
            <a:off x="9410701" y="3545060"/>
            <a:ext cx="1826629" cy="675110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0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52" name="Content Placeholder 2">
            <a:extLst>
              <a:ext uri="{FF2B5EF4-FFF2-40B4-BE49-F238E27FC236}">
                <a16:creationId xmlns:a16="http://schemas.microsoft.com/office/drawing/2014/main" id="{4FC143B3-231A-2B46-ABBF-7F6B6BBF4596}"/>
              </a:ext>
            </a:extLst>
          </p:cNvPr>
          <p:cNvSpPr>
            <a:spLocks noGrp="1"/>
          </p:cNvSpPr>
          <p:nvPr>
            <p:ph idx="35" hasCustomPrompt="1"/>
          </p:nvPr>
        </p:nvSpPr>
        <p:spPr>
          <a:xfrm>
            <a:off x="9410702" y="4275590"/>
            <a:ext cx="1826629" cy="1408470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A4E17D8-CAFF-0E47-97EF-4D4BC59FFC70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43" name="Picture 42" descr="The University of Iowa">
            <a:extLst>
              <a:ext uri="{FF2B5EF4-FFF2-40B4-BE49-F238E27FC236}">
                <a16:creationId xmlns:a16="http://schemas.microsoft.com/office/drawing/2014/main" id="{924E35CA-EA2E-084A-B4D2-736FEA8C0DD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38" name="Footer Placeholder 4">
            <a:extLst>
              <a:ext uri="{FF2B5EF4-FFF2-40B4-BE49-F238E27FC236}">
                <a16:creationId xmlns:a16="http://schemas.microsoft.com/office/drawing/2014/main" id="{D752B61A-80FF-1049-8A33-5614EE9DC80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  <a:endParaRPr lang="en-US" b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A6881A2-9CAF-9700-2E26-1544BBDCAFF8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54568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00" userDrawn="1">
          <p15:clr>
            <a:srgbClr val="FBAE40"/>
          </p15:clr>
        </p15:guide>
        <p15:guide id="2" pos="598">
          <p15:clr>
            <a:srgbClr val="FBAE40"/>
          </p15:clr>
        </p15:guide>
        <p15:guide id="3" pos="7080">
          <p15:clr>
            <a:srgbClr val="FBAE40"/>
          </p15:clr>
        </p15:guide>
        <p15:guide id="4" pos="3840">
          <p15:clr>
            <a:srgbClr val="FBAE40"/>
          </p15:clr>
        </p15:guide>
        <p15:guide id="5" orient="horz" pos="1054">
          <p15:clr>
            <a:srgbClr val="FBAE40"/>
          </p15:clr>
        </p15:guide>
        <p15:guide id="6" orient="horz" pos="3744">
          <p15:clr>
            <a:srgbClr val="FBAE40"/>
          </p15:clr>
        </p15:guide>
        <p15:guide id="7" orient="horz" pos="697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 Slide -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20">
            <a:extLst>
              <a:ext uri="{FF2B5EF4-FFF2-40B4-BE49-F238E27FC236}">
                <a16:creationId xmlns:a16="http://schemas.microsoft.com/office/drawing/2014/main" id="{2BA8F287-92C7-4FFD-A7E9-45864F8E91A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49325" y="498296"/>
            <a:ext cx="5260975" cy="896116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Title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0F31F03A-71CF-475D-8A3C-99FC106D73E8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47404DB8-B6AC-4389-8E6E-A115840D1D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2499" y="1686757"/>
            <a:ext cx="5257801" cy="4256843"/>
          </a:xfrm>
        </p:spPr>
        <p:txBody>
          <a:bodyPr lIns="0" tIns="0" rIns="0" bIns="0"/>
          <a:lstStyle>
            <a:lvl1pPr marL="228600" indent="-228600"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685800" indent="-228600"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1143000" indent="-228600">
              <a:buClr>
                <a:schemeClr val="tx2"/>
              </a:buClr>
              <a:buSzPct val="100000"/>
              <a:buFont typeface="Roboto" panose="02000000000000000000" pitchFamily="2" charset="0"/>
              <a:buChar char="•"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600200" indent="-228600">
              <a:buClr>
                <a:schemeClr val="tx2"/>
              </a:buClr>
              <a:buSzPct val="100000"/>
              <a:buFont typeface="Roboto" panose="02000000000000000000" pitchFamily="2" charset="0"/>
              <a:buChar char="―"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2057400" indent="-228600"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E42EEDE3-0B18-E049-BE23-974E50C7297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71534" y="0"/>
            <a:ext cx="5029200" cy="6389511"/>
          </a:xfrm>
          <a:prstGeom prst="rect">
            <a:avLst/>
          </a:prstGeom>
        </p:spPr>
        <p:txBody>
          <a:bodyPr anchor="ctr" anchorCtr="0"/>
          <a:lstStyle>
            <a:lvl1pPr marL="0" indent="0" algn="ctr">
              <a:buNone/>
              <a:defRPr b="0" i="0">
                <a:solidFill>
                  <a:schemeClr val="accent3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420F7CB-393D-BF45-B52D-542FDDEFCAFF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12" name="Picture 11" descr="The University of Iowa">
            <a:extLst>
              <a:ext uri="{FF2B5EF4-FFF2-40B4-BE49-F238E27FC236}">
                <a16:creationId xmlns:a16="http://schemas.microsoft.com/office/drawing/2014/main" id="{9CE5618D-3613-E04D-A815-ED9A2C5AA3C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C35C85E8-314E-3E45-BB26-1A95C606F0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  <a:endParaRPr lang="en-US" b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10B959E-42EE-0F21-434B-1679323AFA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5009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4" userDrawn="1">
          <p15:clr>
            <a:srgbClr val="FBAE40"/>
          </p15:clr>
        </p15:guide>
        <p15:guide id="2" pos="3912" userDrawn="1">
          <p15:clr>
            <a:srgbClr val="FBAE40"/>
          </p15:clr>
        </p15:guide>
        <p15:guide id="3" pos="600" userDrawn="1">
          <p15:clr>
            <a:srgbClr val="FBAE40"/>
          </p15:clr>
        </p15:guide>
        <p15:guide id="4" orient="horz" pos="1056" userDrawn="1">
          <p15:clr>
            <a:srgbClr val="FBAE40"/>
          </p15:clr>
        </p15:guide>
        <p15:guide id="6" orient="horz" pos="697" userDrawn="1">
          <p15:clr>
            <a:srgbClr val="FBAE40"/>
          </p15:clr>
        </p15:guide>
        <p15:guide id="7" orient="horz" pos="2400" userDrawn="1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 Slide - Photo Coll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7524483D-CFE3-E34D-BB74-CEDD541765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365125"/>
            <a:ext cx="5254505" cy="1331865"/>
          </a:xfrm>
        </p:spPr>
        <p:txBody>
          <a:bodyPr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B28F420-DDD1-5E4A-9513-EAE252D759FE}"/>
              </a:ext>
            </a:extLst>
          </p:cNvPr>
          <p:cNvCxnSpPr>
            <a:cxnSpLocks/>
          </p:cNvCxnSpPr>
          <p:nvPr userDrawn="1"/>
        </p:nvCxnSpPr>
        <p:spPr>
          <a:xfrm>
            <a:off x="952500" y="17340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65D1D7B4-E242-C142-8F5F-F3301CC024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2499" y="1962386"/>
            <a:ext cx="5266450" cy="3981214"/>
          </a:xfrm>
        </p:spPr>
        <p:txBody>
          <a:bodyPr/>
          <a:lstStyle>
            <a:lvl1pPr marL="228600" indent="-228600"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685800" indent="-228600">
              <a:buClr>
                <a:schemeClr val="tx2"/>
              </a:buClr>
              <a:buFont typeface="Roboto" panose="02000000000000000000" pitchFamily="2" charset="0"/>
              <a:buChar char="–"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buClr>
                <a:schemeClr val="tx2"/>
              </a:buClr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600200" indent="-228600">
              <a:buClr>
                <a:schemeClr val="tx2"/>
              </a:buClr>
              <a:buFont typeface="Arial" panose="020B0604020202020204" pitchFamily="34" charset="0"/>
              <a:buChar char="‒"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2057400" indent="-228600">
              <a:buClr>
                <a:schemeClr val="tx2"/>
              </a:buClr>
              <a:buFont typeface="Arial" panose="020B0604020202020204" pitchFamily="34" charset="0"/>
              <a:buChar char="•"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Picture Placeholder 4">
            <a:extLst>
              <a:ext uri="{FF2B5EF4-FFF2-40B4-BE49-F238E27FC236}">
                <a16:creationId xmlns:a16="http://schemas.microsoft.com/office/drawing/2014/main" id="{04FCC643-718F-7645-8F8D-0BFC94D0506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159502" y="0"/>
            <a:ext cx="2483404" cy="3191425"/>
          </a:xfrm>
          <a:prstGeom prst="rect">
            <a:avLst/>
          </a:prstGeom>
        </p:spPr>
        <p:txBody>
          <a:bodyPr anchor="ctr" anchorCtr="0"/>
          <a:lstStyle>
            <a:lvl1pPr marL="0" indent="0" algn="ctr">
              <a:buNone/>
              <a:defRPr b="0" i="0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9" name="Picture Placeholder 4">
            <a:extLst>
              <a:ext uri="{FF2B5EF4-FFF2-40B4-BE49-F238E27FC236}">
                <a16:creationId xmlns:a16="http://schemas.microsoft.com/office/drawing/2014/main" id="{41C31617-CC11-4C42-B6D0-164DF6AFBF4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9713630" y="0"/>
            <a:ext cx="2483404" cy="3191425"/>
          </a:xfrm>
          <a:prstGeom prst="rect">
            <a:avLst/>
          </a:prstGeom>
        </p:spPr>
        <p:txBody>
          <a:bodyPr anchor="ctr" anchorCtr="0"/>
          <a:lstStyle>
            <a:lvl1pPr marL="0" indent="0" algn="ctr">
              <a:buNone/>
              <a:defRPr b="0" i="0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6" name="Picture Placeholder 4">
            <a:extLst>
              <a:ext uri="{FF2B5EF4-FFF2-40B4-BE49-F238E27FC236}">
                <a16:creationId xmlns:a16="http://schemas.microsoft.com/office/drawing/2014/main" id="{3E5CE386-BEFE-FE49-A675-D93BEDF680BC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7159502" y="3260862"/>
            <a:ext cx="5032499" cy="3128649"/>
          </a:xfrm>
          <a:prstGeom prst="rect">
            <a:avLst/>
          </a:prstGeom>
        </p:spPr>
        <p:txBody>
          <a:bodyPr anchor="ctr" anchorCtr="0"/>
          <a:lstStyle>
            <a:lvl1pPr marL="0" indent="0" algn="ctr">
              <a:buNone/>
              <a:defRPr b="0" i="0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 Click icon to add picture 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C24DFA0-3257-B044-87EF-16154359E2FC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19" name="Picture 18" descr="The University of Iowa">
            <a:extLst>
              <a:ext uri="{FF2B5EF4-FFF2-40B4-BE49-F238E27FC236}">
                <a16:creationId xmlns:a16="http://schemas.microsoft.com/office/drawing/2014/main" id="{87382191-DF4D-7341-915C-9C104453527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21405B1-B61E-0943-909C-EFA16B5EE4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  <a:endParaRPr lang="en-US" b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E725FBB-5739-FC55-71CA-2D2B101AE0A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0726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4" userDrawn="1">
          <p15:clr>
            <a:srgbClr val="FBAE40"/>
          </p15:clr>
        </p15:guide>
        <p15:guide id="2" pos="3926" userDrawn="1">
          <p15:clr>
            <a:srgbClr val="FBAE40"/>
          </p15:clr>
        </p15:guide>
        <p15:guide id="3" pos="600" userDrawn="1">
          <p15:clr>
            <a:srgbClr val="FBAE40"/>
          </p15:clr>
        </p15:guide>
        <p15:guide id="4" orient="horz" pos="2400" userDrawn="1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5AAEF4-B950-814D-A811-CD17BDDF04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9325" y="494273"/>
            <a:ext cx="10290175" cy="869089"/>
          </a:xfrm>
        </p:spPr>
        <p:txBody>
          <a:bodyPr lIns="0" tIns="0" rIns="0" bIns="0"/>
          <a:lstStyle/>
          <a:p>
            <a:r>
              <a:rPr lang="en-US"/>
              <a:t>Click to edit Master title style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BB5BDD8-8221-F040-8AE0-3F33C4E24CA0}"/>
              </a:ext>
            </a:extLst>
          </p:cNvPr>
          <p:cNvCxnSpPr>
            <a:cxnSpLocks/>
          </p:cNvCxnSpPr>
          <p:nvPr userDrawn="1"/>
        </p:nvCxnSpPr>
        <p:spPr>
          <a:xfrm>
            <a:off x="949325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DF1F65E7-1CB7-3D42-91A9-88DA4E58EB0E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949325" y="1570038"/>
            <a:ext cx="10290175" cy="4114800"/>
          </a:xfrm>
        </p:spPr>
        <p:txBody>
          <a:bodyPr lIns="0" tIns="0" rIns="0" bIns="0"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F56D074-0631-F846-A2A3-4A39FEAEFDD7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14" name="Picture 13" descr="The University of Iowa">
            <a:extLst>
              <a:ext uri="{FF2B5EF4-FFF2-40B4-BE49-F238E27FC236}">
                <a16:creationId xmlns:a16="http://schemas.microsoft.com/office/drawing/2014/main" id="{F53BBB5F-6629-C742-91EE-40B5B8BC108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B3AC09A7-82B4-6B47-A4FB-CA6800EAFB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  <a:endParaRPr lang="en-US" b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DA415F6-3853-C197-5E91-5F3F7ECF649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27652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598" userDrawn="1">
          <p15:clr>
            <a:srgbClr val="FBAE40"/>
          </p15:clr>
        </p15:guide>
        <p15:guide id="3" pos="7080" userDrawn="1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>
            <a:extLst>
              <a:ext uri="{FF2B5EF4-FFF2-40B4-BE49-F238E27FC236}">
                <a16:creationId xmlns:a16="http://schemas.microsoft.com/office/drawing/2014/main" id="{AC533B8E-DBF3-664D-901D-8735DE77521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89081" y="3367173"/>
            <a:ext cx="7163317" cy="1160369"/>
          </a:xfrm>
        </p:spPr>
        <p:txBody>
          <a:bodyPr lIns="0" tIns="0" rIns="0" bIns="0" anchor="t" anchorCtr="0">
            <a:noAutofit/>
          </a:bodyPr>
          <a:lstStyle>
            <a:lvl1pPr algn="l">
              <a:defRPr sz="6000" b="1">
                <a:solidFill>
                  <a:schemeClr val="tx1"/>
                </a:solidFill>
                <a:latin typeface="+mj-lt"/>
                <a:ea typeface="Roboto Black" panose="02000000000000000000" pitchFamily="2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Thank you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F7216A4-2452-1B4B-AE0D-122E7F5A5965}"/>
              </a:ext>
            </a:extLst>
          </p:cNvPr>
          <p:cNvCxnSpPr>
            <a:cxnSpLocks/>
          </p:cNvCxnSpPr>
          <p:nvPr userDrawn="1"/>
        </p:nvCxnSpPr>
        <p:spPr>
          <a:xfrm>
            <a:off x="974126" y="3029213"/>
            <a:ext cx="768531" cy="0"/>
          </a:xfrm>
          <a:prstGeom prst="line">
            <a:avLst/>
          </a:prstGeom>
          <a:ln w="635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 Placeholder 13">
            <a:extLst>
              <a:ext uri="{FF2B5EF4-FFF2-40B4-BE49-F238E27FC236}">
                <a16:creationId xmlns:a16="http://schemas.microsoft.com/office/drawing/2014/main" id="{73873935-43A0-4C23-AC45-B3EF69B188E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628383" y="3029213"/>
            <a:ext cx="2687038" cy="1498329"/>
          </a:xfrm>
        </p:spPr>
        <p:txBody>
          <a:bodyPr vert="horz" anchor="ctr" anchorCtr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/>
              <a:t>Presenter Name</a:t>
            </a:r>
          </a:p>
          <a:p>
            <a:pPr lvl="0"/>
            <a:r>
              <a:rPr lang="en-US"/>
              <a:t>Contact Person Title </a:t>
            </a:r>
          </a:p>
          <a:p>
            <a:pPr lvl="0"/>
            <a:r>
              <a:rPr lang="en-US"/>
              <a:t>Contact Person Unit</a:t>
            </a:r>
          </a:p>
          <a:p>
            <a:pPr lvl="0"/>
            <a:endParaRPr lang="en-US"/>
          </a:p>
          <a:p>
            <a:pPr lvl="0"/>
            <a:r>
              <a:rPr lang="en-US"/>
              <a:t>Phone: </a:t>
            </a:r>
          </a:p>
          <a:p>
            <a:pPr lvl="0"/>
            <a:r>
              <a:rPr lang="en-US"/>
              <a:t>Fax: </a:t>
            </a:r>
          </a:p>
          <a:p>
            <a:pPr lvl="0"/>
            <a:r>
              <a:rPr lang="en-US"/>
              <a:t>Email: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C6ACD65-4DC5-40D8-89A9-EBA0997790E8}"/>
              </a:ext>
            </a:extLst>
          </p:cNvPr>
          <p:cNvSpPr/>
          <p:nvPr userDrawn="1"/>
        </p:nvSpPr>
        <p:spPr>
          <a:xfrm>
            <a:off x="949325" y="5019085"/>
            <a:ext cx="318908" cy="36933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438018-43AE-4329-BACA-C859C7CFF4A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68233" y="5019085"/>
            <a:ext cx="2231701" cy="369332"/>
          </a:xfrm>
          <a:solidFill>
            <a:schemeClr val="tx1"/>
          </a:solidFill>
          <a:ln>
            <a:noFill/>
          </a:ln>
        </p:spPr>
        <p:txBody>
          <a:bodyPr wrap="none" lIns="91440" tIns="45720" rIns="91440" bIns="45720">
            <a:spAutoFit/>
          </a:bodyPr>
          <a:lstStyle>
            <a:lvl1pPr marL="0" indent="0">
              <a:buNone/>
              <a:defRPr sz="1800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defRPr>
            </a:lvl1pPr>
          </a:lstStyle>
          <a:p>
            <a:pPr lvl="0"/>
            <a:r>
              <a:rPr lang="en-US"/>
              <a:t>Insert Web Address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EB262A30-5EEC-5549-B428-7E5B11A5D7A7}"/>
              </a:ext>
            </a:extLst>
          </p:cNvPr>
          <p:cNvGrpSpPr/>
          <p:nvPr userDrawn="1"/>
        </p:nvGrpSpPr>
        <p:grpSpPr>
          <a:xfrm>
            <a:off x="1071271" y="5122118"/>
            <a:ext cx="142379" cy="150373"/>
            <a:chOff x="3057746" y="812006"/>
            <a:chExt cx="173610" cy="183357"/>
          </a:xfrm>
          <a:noFill/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1699B573-1E8F-3547-9D64-50A2EC630F1F}"/>
                </a:ext>
              </a:extLst>
            </p:cNvPr>
            <p:cNvCxnSpPr/>
            <p:nvPr userDrawn="1"/>
          </p:nvCxnSpPr>
          <p:spPr>
            <a:xfrm>
              <a:off x="3057746" y="904875"/>
              <a:ext cx="173610" cy="0"/>
            </a:xfrm>
            <a:prstGeom prst="line">
              <a:avLst/>
            </a:prstGeom>
            <a:grpFill/>
            <a:ln w="3810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Freeform: Shape 12">
              <a:extLst>
                <a:ext uri="{FF2B5EF4-FFF2-40B4-BE49-F238E27FC236}">
                  <a16:creationId xmlns:a16="http://schemas.microsoft.com/office/drawing/2014/main" id="{68F32139-4BAE-F54C-8358-EF5839C5813E}"/>
                </a:ext>
              </a:extLst>
            </p:cNvPr>
            <p:cNvSpPr/>
            <p:nvPr userDrawn="1"/>
          </p:nvSpPr>
          <p:spPr>
            <a:xfrm>
              <a:off x="3143250" y="812006"/>
              <a:ext cx="85725" cy="183357"/>
            </a:xfrm>
            <a:custGeom>
              <a:avLst/>
              <a:gdLst>
                <a:gd name="connsiteX0" fmla="*/ 4763 w 85725"/>
                <a:gd name="connsiteY0" fmla="*/ 0 h 183357"/>
                <a:gd name="connsiteX1" fmla="*/ 85725 w 85725"/>
                <a:gd name="connsiteY1" fmla="*/ 92869 h 183357"/>
                <a:gd name="connsiteX2" fmla="*/ 0 w 85725"/>
                <a:gd name="connsiteY2" fmla="*/ 183357 h 1833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5725" h="183357">
                  <a:moveTo>
                    <a:pt x="4763" y="0"/>
                  </a:moveTo>
                  <a:lnTo>
                    <a:pt x="85725" y="92869"/>
                  </a:lnTo>
                  <a:lnTo>
                    <a:pt x="0" y="183357"/>
                  </a:lnTo>
                </a:path>
              </a:pathLst>
            </a:custGeom>
            <a:grpFill/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4B1807D8-E6B4-C743-A4EC-22D5E047984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8628383" y="0"/>
            <a:ext cx="2687038" cy="1279542"/>
          </a:xfrm>
          <a:prstGeom prst="rect">
            <a:avLst/>
          </a:prstGeom>
        </p:spPr>
      </p:pic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4D36833F-B2C7-1C49-9947-A60C1ACB02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56096" y="2463764"/>
            <a:ext cx="7157006" cy="365125"/>
          </a:xfrm>
          <a:prstGeom prst="rect">
            <a:avLst/>
          </a:prstGeom>
          <a:noFill/>
        </p:spPr>
        <p:txBody>
          <a:bodyPr vert="horz" lIns="0" tIns="0" rIns="0" bIns="0" rtlCol="0" anchor="ctr"/>
          <a:lstStyle>
            <a:lvl1pPr algn="l">
              <a:defRPr sz="1800" b="0">
                <a:solidFill>
                  <a:schemeClr val="tx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324E876-4916-29D1-FA73-B869297DC65F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36383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598" userDrawn="1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-Solid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A47420D0-6FF1-9C4A-B953-EA4EEABBA30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89081" y="3367173"/>
            <a:ext cx="7163317" cy="1160369"/>
          </a:xfrm>
        </p:spPr>
        <p:txBody>
          <a:bodyPr lIns="0" tIns="0" rIns="0" bIns="0" anchor="t" anchorCtr="0">
            <a:noAutofit/>
          </a:bodyPr>
          <a:lstStyle>
            <a:lvl1pPr algn="l">
              <a:defRPr sz="6000" b="1">
                <a:solidFill>
                  <a:schemeClr val="bg1"/>
                </a:solidFill>
                <a:latin typeface="+mj-lt"/>
                <a:ea typeface="Roboto Black" panose="02000000000000000000" pitchFamily="2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Thank you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F7216A4-2452-1B4B-AE0D-122E7F5A5965}"/>
              </a:ext>
            </a:extLst>
          </p:cNvPr>
          <p:cNvCxnSpPr>
            <a:cxnSpLocks/>
          </p:cNvCxnSpPr>
          <p:nvPr userDrawn="1"/>
        </p:nvCxnSpPr>
        <p:spPr>
          <a:xfrm>
            <a:off x="974126" y="3029213"/>
            <a:ext cx="768531" cy="0"/>
          </a:xfrm>
          <a:prstGeom prst="line">
            <a:avLst/>
          </a:prstGeom>
          <a:ln w="635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 Placeholder 13">
            <a:extLst>
              <a:ext uri="{FF2B5EF4-FFF2-40B4-BE49-F238E27FC236}">
                <a16:creationId xmlns:a16="http://schemas.microsoft.com/office/drawing/2014/main" id="{73873935-43A0-4C23-AC45-B3EF69B188E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625016" y="3029213"/>
            <a:ext cx="2693773" cy="1498329"/>
          </a:xfrm>
        </p:spPr>
        <p:txBody>
          <a:bodyPr vert="horz" anchor="ctr" anchorCtr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>
                <a:solidFill>
                  <a:schemeClr val="bg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/>
              <a:t>Presenter Name</a:t>
            </a:r>
          </a:p>
          <a:p>
            <a:pPr lvl="0"/>
            <a:r>
              <a:rPr lang="en-US"/>
              <a:t>Contact Person Title </a:t>
            </a:r>
          </a:p>
          <a:p>
            <a:pPr lvl="0"/>
            <a:r>
              <a:rPr lang="en-US"/>
              <a:t>Contact Person Unit</a:t>
            </a:r>
          </a:p>
          <a:p>
            <a:pPr lvl="0"/>
            <a:endParaRPr lang="en-US"/>
          </a:p>
          <a:p>
            <a:pPr lvl="0"/>
            <a:r>
              <a:rPr lang="en-US"/>
              <a:t>Phone: </a:t>
            </a:r>
          </a:p>
          <a:p>
            <a:pPr lvl="0"/>
            <a:r>
              <a:rPr lang="en-US"/>
              <a:t>Fax: </a:t>
            </a:r>
          </a:p>
          <a:p>
            <a:pPr lvl="0"/>
            <a:r>
              <a:rPr lang="en-US"/>
              <a:t>Email: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C6ACD65-4DC5-40D8-89A9-EBA0997790E8}"/>
              </a:ext>
            </a:extLst>
          </p:cNvPr>
          <p:cNvSpPr/>
          <p:nvPr userDrawn="1"/>
        </p:nvSpPr>
        <p:spPr>
          <a:xfrm>
            <a:off x="949325" y="5019085"/>
            <a:ext cx="318908" cy="369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438018-43AE-4329-BACA-C859C7CFF4A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68233" y="5019085"/>
            <a:ext cx="2231701" cy="369332"/>
          </a:xfrm>
          <a:solidFill>
            <a:schemeClr val="accent1"/>
          </a:solidFill>
          <a:ln>
            <a:noFill/>
          </a:ln>
        </p:spPr>
        <p:txBody>
          <a:bodyPr wrap="none" lIns="91440" tIns="45720" rIns="91440" bIns="45720">
            <a:spAutoFit/>
          </a:bodyPr>
          <a:lstStyle>
            <a:lvl1pPr marL="0" indent="0">
              <a:buNone/>
              <a:defRPr sz="1800">
                <a:solidFill>
                  <a:schemeClr val="tx1"/>
                </a:solidFill>
                <a:latin typeface="Roboto Black" panose="02000000000000000000" pitchFamily="2" charset="0"/>
                <a:ea typeface="Roboto Black" panose="02000000000000000000" pitchFamily="2" charset="0"/>
              </a:defRPr>
            </a:lvl1pPr>
          </a:lstStyle>
          <a:p>
            <a:pPr lvl="0"/>
            <a:r>
              <a:rPr lang="en-US"/>
              <a:t>Insert Web Address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625728D-FF50-4FF2-AC2E-B13A3D44D5B9}"/>
              </a:ext>
            </a:extLst>
          </p:cNvPr>
          <p:cNvGrpSpPr/>
          <p:nvPr/>
        </p:nvGrpSpPr>
        <p:grpSpPr>
          <a:xfrm>
            <a:off x="1071271" y="5122118"/>
            <a:ext cx="142379" cy="150373"/>
            <a:chOff x="3057746" y="812006"/>
            <a:chExt cx="173610" cy="183357"/>
          </a:xfrm>
          <a:noFill/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58A6E0DE-15E0-485B-8083-6D1BB965B9B6}"/>
                </a:ext>
              </a:extLst>
            </p:cNvPr>
            <p:cNvCxnSpPr/>
            <p:nvPr userDrawn="1"/>
          </p:nvCxnSpPr>
          <p:spPr>
            <a:xfrm>
              <a:off x="3057746" y="904875"/>
              <a:ext cx="173610" cy="0"/>
            </a:xfrm>
            <a:prstGeom prst="line">
              <a:avLst/>
            </a:prstGeom>
            <a:grpFill/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184EFEE4-DF1C-4FDF-ABC6-804BF8FA2941}"/>
                </a:ext>
              </a:extLst>
            </p:cNvPr>
            <p:cNvSpPr/>
            <p:nvPr userDrawn="1"/>
          </p:nvSpPr>
          <p:spPr>
            <a:xfrm>
              <a:off x="3143250" y="812006"/>
              <a:ext cx="85725" cy="183357"/>
            </a:xfrm>
            <a:custGeom>
              <a:avLst/>
              <a:gdLst>
                <a:gd name="connsiteX0" fmla="*/ 4763 w 85725"/>
                <a:gd name="connsiteY0" fmla="*/ 0 h 183357"/>
                <a:gd name="connsiteX1" fmla="*/ 85725 w 85725"/>
                <a:gd name="connsiteY1" fmla="*/ 92869 h 183357"/>
                <a:gd name="connsiteX2" fmla="*/ 0 w 85725"/>
                <a:gd name="connsiteY2" fmla="*/ 183357 h 1833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5725" h="183357">
                  <a:moveTo>
                    <a:pt x="4763" y="0"/>
                  </a:moveTo>
                  <a:lnTo>
                    <a:pt x="85725" y="92869"/>
                  </a:lnTo>
                  <a:lnTo>
                    <a:pt x="0" y="183357"/>
                  </a:lnTo>
                </a:path>
              </a:pathLst>
            </a:custGeom>
            <a:grp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5" name="Picture 14" descr="The University of Iowa">
            <a:extLst>
              <a:ext uri="{FF2B5EF4-FFF2-40B4-BE49-F238E27FC236}">
                <a16:creationId xmlns:a16="http://schemas.microsoft.com/office/drawing/2014/main" id="{6179B039-C5FC-F04C-AB21-BEF980B032D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625016" y="0"/>
            <a:ext cx="2693773" cy="1279542"/>
          </a:xfrm>
          <a:prstGeom prst="rect">
            <a:avLst/>
          </a:prstGeom>
        </p:spPr>
      </p:pic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0E4C36A-C453-EE4B-A1E5-D1232C36127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56096" y="2463764"/>
            <a:ext cx="7157006" cy="365125"/>
          </a:xfrm>
          <a:prstGeom prst="rect">
            <a:avLst/>
          </a:prstGeom>
          <a:noFill/>
        </p:spPr>
        <p:txBody>
          <a:bodyPr vert="horz" lIns="0" tIns="0" rIns="0" bIns="0" rtlCol="0" anchor="ctr"/>
          <a:lstStyle>
            <a:lvl1pPr algn="l">
              <a:defRPr sz="1800" b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6FCD2AD-E2B9-303E-DEC2-98D4F67ED36D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86445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598" userDrawn="1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OWA Logo with Tex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CB993FB4-4336-2048-A6A4-FA306EBBE71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4485842"/>
            <a:ext cx="10515600" cy="896116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Closing Slide Header</a:t>
            </a:r>
          </a:p>
        </p:txBody>
      </p:sp>
      <p:pic>
        <p:nvPicPr>
          <p:cNvPr id="4" name="Picture 3" descr="The University of Iowa">
            <a:extLst>
              <a:ext uri="{FF2B5EF4-FFF2-40B4-BE49-F238E27FC236}">
                <a16:creationId xmlns:a16="http://schemas.microsoft.com/office/drawing/2014/main" id="{D94B893B-3A5E-A84C-9A26-CCC1CC0A236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286000" y="675842"/>
            <a:ext cx="7620000" cy="38100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3FB0B10-D369-C564-0FFC-E531159E10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075325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OWA Logo only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University of Iowa">
            <a:extLst>
              <a:ext uri="{FF2B5EF4-FFF2-40B4-BE49-F238E27FC236}">
                <a16:creationId xmlns:a16="http://schemas.microsoft.com/office/drawing/2014/main" id="{D94B893B-3A5E-A84C-9A26-CCC1CC0A236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286000" y="1524000"/>
            <a:ext cx="7620000" cy="38100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A4035E5-E40A-8221-06E5-45B6939909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5306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5D47C82-65E8-6F4A-93F5-B60D5D90FA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96116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D0A12C-E82E-3F40-8F2F-F914F24F0B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B552D3-D688-9B0E-16FF-A4AB463BDF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00614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87" r:id="rId2"/>
    <p:sldLayoutId id="2147483688" r:id="rId3"/>
    <p:sldLayoutId id="2147483684" r:id="rId4"/>
    <p:sldLayoutId id="2147483663" r:id="rId5"/>
    <p:sldLayoutId id="2147483686" r:id="rId6"/>
    <p:sldLayoutId id="2147483690" r:id="rId7"/>
    <p:sldLayoutId id="2147483682" r:id="rId8"/>
    <p:sldLayoutId id="2147483650" r:id="rId9"/>
    <p:sldLayoutId id="2147483662" r:id="rId10"/>
    <p:sldLayoutId id="2147483670" r:id="rId11"/>
    <p:sldLayoutId id="2147483667" r:id="rId12"/>
    <p:sldLayoutId id="2147483668" r:id="rId13"/>
    <p:sldLayoutId id="2147483674" r:id="rId14"/>
    <p:sldLayoutId id="2147483675" r:id="rId15"/>
    <p:sldLayoutId id="2147483677" r:id="rId16"/>
    <p:sldLayoutId id="2147483676" r:id="rId17"/>
    <p:sldLayoutId id="2147483672" r:id="rId18"/>
    <p:sldLayoutId id="2147483692" r:id="rId19"/>
    <p:sldLayoutId id="2147483669" r:id="rId20"/>
    <p:sldLayoutId id="2147483671" r:id="rId21"/>
    <p:sldLayoutId id="2147483673" r:id="rId22"/>
    <p:sldLayoutId id="2147483679" r:id="rId23"/>
    <p:sldLayoutId id="2147483680" r:id="rId24"/>
    <p:sldLayoutId id="2147483681" r:id="rId25"/>
    <p:sldLayoutId id="2147483654" r:id="rId26"/>
    <p:sldLayoutId id="2147483655" r:id="rId27"/>
    <p:sldLayoutId id="2147483665" r:id="rId28"/>
    <p:sldLayoutId id="2147483664" r:id="rId29"/>
    <p:sldLayoutId id="2147483689" r:id="rId30"/>
    <p:sldLayoutId id="2147483693" r:id="rId31"/>
    <p:sldLayoutId id="2147483691" r:id="rId3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Roboto" panose="02000000000000000000" pitchFamily="2" charset="0"/>
        <a:buChar char="–"/>
        <a:defRPr sz="24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‒"/>
        <a:defRPr sz="18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9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13.sv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13.svg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svg"/><Relationship Id="rId3" Type="http://schemas.openxmlformats.org/officeDocument/2006/relationships/image" Target="../media/image15.svg"/><Relationship Id="rId7" Type="http://schemas.openxmlformats.org/officeDocument/2006/relationships/image" Target="../media/image17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13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15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15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15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24.png"/><Relationship Id="rId4" Type="http://schemas.openxmlformats.org/officeDocument/2006/relationships/image" Target="../media/image15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8.sv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9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9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2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5.sv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0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7.sv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9.sv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sv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9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sv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9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9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0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0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9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0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0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9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png"/><Relationship Id="rId3" Type="http://schemas.openxmlformats.org/officeDocument/2006/relationships/image" Target="../media/image51.png"/><Relationship Id="rId7" Type="http://schemas.openxmlformats.org/officeDocument/2006/relationships/image" Target="../media/image55.jpe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54.png"/><Relationship Id="rId5" Type="http://schemas.openxmlformats.org/officeDocument/2006/relationships/image" Target="../media/image53.png"/><Relationship Id="rId4" Type="http://schemas.openxmlformats.org/officeDocument/2006/relationships/image" Target="../media/image52.jpeg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480B23-7308-1745-A1A9-A5522BA49E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74725" y="2677626"/>
            <a:ext cx="11097410" cy="1843238"/>
          </a:xfrm>
        </p:spPr>
        <p:txBody>
          <a:bodyPr>
            <a:normAutofit fontScale="90000"/>
          </a:bodyPr>
          <a:lstStyle/>
          <a:p>
            <a:r>
              <a:rPr lang="en-US"/>
              <a:t>Building Safe &amp; Resource Efficient NN through architectural collapse</a:t>
            </a:r>
          </a:p>
        </p:txBody>
      </p:sp>
      <p:sp>
        <p:nvSpPr>
          <p:cNvPr id="12" name="Subtitle 11">
            <a:extLst>
              <a:ext uri="{FF2B5EF4-FFF2-40B4-BE49-F238E27FC236}">
                <a16:creationId xmlns:a16="http://schemas.microsoft.com/office/drawing/2014/main" id="{ADA0161C-D166-6E4C-8069-E1FBFE0BE5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74725" y="4709626"/>
            <a:ext cx="10354360" cy="407460"/>
          </a:xfrm>
        </p:spPr>
        <p:txBody>
          <a:bodyPr vert="horz" lIns="0" tIns="0" rIns="0" bIns="0" rtlCol="0" anchor="t">
            <a:normAutofit/>
          </a:bodyPr>
          <a:lstStyle/>
          <a:p>
            <a:r>
              <a:rPr lang="en-US">
                <a:latin typeface="Roboto"/>
                <a:ea typeface="Roboto"/>
                <a:cs typeface="Arial"/>
              </a:rPr>
              <a:t>J. Gafur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6C5EE2B8-026E-D04B-8925-60FA6F76C38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74725" y="5148794"/>
            <a:ext cx="10354360" cy="463108"/>
          </a:xfrm>
        </p:spPr>
        <p:txBody>
          <a:bodyPr/>
          <a:lstStyle/>
          <a:p>
            <a:r>
              <a:rPr lang="en-US"/>
              <a:t>Feb 2026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9A10A2-294F-D557-8F51-3DFE1492551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9442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A10368-800E-F06D-2F7B-79FF8FA34B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anchor="ctr">
            <a:normAutofit/>
          </a:bodyPr>
          <a:lstStyle/>
          <a:p>
            <a:r>
              <a:rPr lang="en-US"/>
              <a:t>The Big Picture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DF1A122-D4F2-3604-E091-67ED9AFA9999}"/>
              </a:ext>
            </a:extLst>
          </p:cNvPr>
          <p:cNvSpPr txBox="1"/>
          <p:nvPr/>
        </p:nvSpPr>
        <p:spPr>
          <a:xfrm>
            <a:off x="9535886" y="6596390"/>
            <a:ext cx="265611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/>
              <a:t>Logarithmic scale used for both axes.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859CC6F-E48E-22A5-3C65-6035DB44CE8E}"/>
              </a:ext>
            </a:extLst>
          </p:cNvPr>
          <p:cNvSpPr txBox="1"/>
          <p:nvPr/>
        </p:nvSpPr>
        <p:spPr>
          <a:xfrm>
            <a:off x="851336" y="1931651"/>
            <a:ext cx="5244663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Modern neural networks succeed, and fail, for the same reason</a:t>
            </a:r>
          </a:p>
          <a:p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Massively Overparameterized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Redundant Structures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High Resource Utilization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C85DC9D-A2F3-8259-F761-076842C16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A3190A-DE21-CECE-4BF7-18FE9B57BE77}"/>
              </a:ext>
            </a:extLst>
          </p:cNvPr>
          <p:cNvSpPr txBox="1"/>
          <p:nvPr/>
        </p:nvSpPr>
        <p:spPr>
          <a:xfrm>
            <a:off x="6251153" y="3728537"/>
            <a:ext cx="471889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/>
              <a:t>These are issue for deploying models on resource constrained devices.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F58E8ED-175A-0D25-7CAB-B71A0415402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316" b="1225"/>
          <a:stretch>
            <a:fillRect/>
          </a:stretch>
        </p:blipFill>
        <p:spPr>
          <a:xfrm>
            <a:off x="5957074" y="706656"/>
            <a:ext cx="5913489" cy="2419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8338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5DAE46-D993-7CB2-2C1F-F2B99E6257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One Problem, Four Parts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2E2BB2-4A72-FAF4-198C-26431426BEE3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125183" y="4646762"/>
            <a:ext cx="2803075" cy="1459669"/>
          </a:xfrm>
        </p:spPr>
        <p:txBody>
          <a:bodyPr>
            <a:normAutofit/>
          </a:bodyPr>
          <a:lstStyle/>
          <a:p>
            <a:pPr marL="457200" lvl="1" indent="0" algn="ctr">
              <a:buNone/>
            </a:pPr>
            <a:r>
              <a:rPr lang="en-US">
                <a:latin typeface="+mn-lt"/>
              </a:rPr>
              <a:t>Understanding deployed model vulnerability.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0EF6E0-8E08-C6F2-AFCD-50045B7B8B8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3</a:t>
            </a:fld>
            <a:endParaRPr lang="en-US"/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BDC1049C-A763-360A-B651-3C15D00AEA2A}"/>
              </a:ext>
            </a:extLst>
          </p:cNvPr>
          <p:cNvGraphicFramePr/>
          <p:nvPr/>
        </p:nvGraphicFramePr>
        <p:xfrm>
          <a:off x="952499" y="2667000"/>
          <a:ext cx="9550400" cy="211182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2C82605F-BE5F-FC34-5EA7-142963829DEB}"/>
              </a:ext>
            </a:extLst>
          </p:cNvPr>
          <p:cNvSpPr txBox="1"/>
          <p:nvPr/>
        </p:nvSpPr>
        <p:spPr>
          <a:xfrm>
            <a:off x="2362198" y="2238243"/>
            <a:ext cx="373380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/>
            <a:r>
              <a:rPr lang="en-US" sz="2400"/>
              <a:t>What happens to the network after pruning?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BED71ED-59B7-6817-3A8E-4319112721A6}"/>
              </a:ext>
            </a:extLst>
          </p:cNvPr>
          <p:cNvSpPr txBox="1"/>
          <p:nvPr/>
        </p:nvSpPr>
        <p:spPr>
          <a:xfrm>
            <a:off x="5010603" y="4536771"/>
            <a:ext cx="340995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/>
            <a:r>
              <a:rPr lang="en-US" sz="2400"/>
              <a:t>Can we change the structure of a network for better resource efficiency?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FE89382-1D71-DE5F-73EA-FAC899E1FDD3}"/>
              </a:ext>
            </a:extLst>
          </p:cNvPr>
          <p:cNvSpPr txBox="1"/>
          <p:nvPr/>
        </p:nvSpPr>
        <p:spPr>
          <a:xfrm>
            <a:off x="7312478" y="1721064"/>
            <a:ext cx="417875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/>
            <a:r>
              <a:rPr lang="en-US" sz="2400"/>
              <a:t>How safe and deployable are resource efficient neural networks?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5E7903A5-F9DC-596B-2F7A-496257C60A88}"/>
              </a:ext>
            </a:extLst>
          </p:cNvPr>
          <p:cNvSpPr/>
          <p:nvPr/>
        </p:nvSpPr>
        <p:spPr>
          <a:xfrm>
            <a:off x="7303859" y="1442989"/>
            <a:ext cx="4571999" cy="1569661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116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Graphic spid="6" grpId="0">
        <p:bldAsOne/>
      </p:bldGraphic>
      <p:bldP spid="9" grpId="0"/>
      <p:bldP spid="11" grpId="0"/>
      <p:bldP spid="13" grpId="0"/>
      <p:bldP spid="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5EFDE2-3DFD-ECBF-B250-B40D424587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Roboto"/>
                <a:ea typeface="Roboto"/>
                <a:cs typeface="Arial"/>
              </a:rPr>
              <a:t>Deployable Security</a:t>
            </a:r>
            <a:endParaRPr lang="en-US" dirty="0">
              <a:latin typeface="Roboto"/>
              <a:ea typeface="Roboto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131AAC-E882-043E-0E3D-FB969E8C71D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8919A8-99EF-AA61-FA3D-982405F3E604}"/>
              </a:ext>
            </a:extLst>
          </p:cNvPr>
          <p:cNvSpPr txBox="1"/>
          <p:nvPr/>
        </p:nvSpPr>
        <p:spPr>
          <a:xfrm>
            <a:off x="808074" y="1822183"/>
            <a:ext cx="10825654" cy="304698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en-US" sz="2400" dirty="0">
                <a:ea typeface="+mn-lt"/>
                <a:cs typeface="+mn-lt"/>
              </a:rPr>
              <a:t>Networks undergo resource optimization during deployment; deployed models are susceptible to attacks.</a:t>
            </a:r>
            <a:endParaRPr lang="en-US" dirty="0">
              <a:ea typeface="+mn-lt"/>
              <a:cs typeface="+mn-lt"/>
            </a:endParaRPr>
          </a:p>
          <a:p>
            <a:pPr marL="342900" indent="-342900">
              <a:buFont typeface="Arial"/>
              <a:buChar char="•"/>
            </a:pPr>
            <a:endParaRPr lang="en-US" sz="2400" dirty="0">
              <a:ea typeface="+mn-lt"/>
              <a:cs typeface="+mn-lt"/>
            </a:endParaRPr>
          </a:p>
          <a:p>
            <a:pPr marL="800100" lvl="1" indent="-342900">
              <a:buFont typeface="Arial"/>
              <a:buChar char="•"/>
            </a:pPr>
            <a:r>
              <a:rPr lang="en-US" sz="2400" dirty="0">
                <a:ea typeface="+mn-lt"/>
                <a:cs typeface="+mn-lt"/>
              </a:rPr>
              <a:t>These optimizations focus on reducing the resource utilization of the network.</a:t>
            </a:r>
          </a:p>
          <a:p>
            <a:pPr marL="342900" indent="-342900">
              <a:buFont typeface="Arial"/>
              <a:buChar char="•"/>
            </a:pPr>
            <a:endParaRPr lang="en-US" sz="2400" b="1" dirty="0">
              <a:ea typeface="+mn-lt"/>
              <a:cs typeface="+mn-lt"/>
            </a:endParaRPr>
          </a:p>
          <a:p>
            <a:pPr marL="342900" indent="-342900">
              <a:buFont typeface="Arial"/>
              <a:buChar char="•"/>
            </a:pPr>
            <a:r>
              <a:rPr lang="en-US" sz="2400" dirty="0">
                <a:ea typeface="+mn-lt"/>
                <a:cs typeface="+mn-lt"/>
              </a:rPr>
              <a:t>Understand how common protection techniques affect transfer attacks based on network size.</a:t>
            </a:r>
          </a:p>
        </p:txBody>
      </p:sp>
    </p:spTree>
    <p:extLst>
      <p:ext uri="{BB962C8B-B14F-4D97-AF65-F5344CB8AC3E}">
        <p14:creationId xmlns:p14="http://schemas.microsoft.com/office/powerpoint/2010/main" val="36729281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0651DD-18E7-E9E6-1068-1E114D2BF25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EA85CD0-2C1D-822E-A4BD-02D0FA4C1559}"/>
              </a:ext>
            </a:extLst>
          </p:cNvPr>
          <p:cNvSpPr txBox="1">
            <a:spLocks/>
          </p:cNvSpPr>
          <p:nvPr/>
        </p:nvSpPr>
        <p:spPr>
          <a:xfrm>
            <a:off x="954198" y="2017042"/>
            <a:ext cx="6222397" cy="389285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–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Roboto"/>
                <a:ea typeface="Roboto"/>
                <a:cs typeface="Arial"/>
              </a:rPr>
              <a:t>Manifold Hypothesis</a:t>
            </a:r>
            <a:endParaRPr lang="en-US" dirty="0"/>
          </a:p>
          <a:p>
            <a:pPr lvl="1"/>
            <a:r>
              <a:rPr lang="en-US" dirty="0">
                <a:latin typeface="Roboto"/>
                <a:ea typeface="Roboto"/>
                <a:cs typeface="Arial"/>
              </a:rPr>
              <a:t>Different models trained on similar data learn similar decision boundaries, even if their architectures differ.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A2CC14A-255F-0AFF-EC84-6C3DC3406D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>
            <a:normAutofit/>
          </a:bodyPr>
          <a:lstStyle/>
          <a:p>
            <a:r>
              <a:rPr lang="en-US" dirty="0">
                <a:latin typeface="Roboto"/>
                <a:ea typeface="Roboto"/>
                <a:cs typeface="Arial"/>
              </a:rPr>
              <a:t>Deployable Security</a:t>
            </a:r>
            <a:endParaRPr lang="en-US" dirty="0">
              <a:latin typeface="Roboto"/>
              <a:ea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2019995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3FEFBA-735B-AA12-6FB6-44F2F2F2D1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CB554E-5E99-440A-8FA5-7102F470ED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4198" y="2017042"/>
            <a:ext cx="6222397" cy="3892859"/>
          </a:xfrm>
        </p:spPr>
        <p:txBody>
          <a:bodyPr vert="horz" lIns="0" tIns="0" rIns="0" bIns="0" rtlCol="0" anchor="t">
            <a:normAutofit/>
          </a:bodyPr>
          <a:lstStyle/>
          <a:p>
            <a:r>
              <a:rPr lang="en-US" dirty="0">
                <a:latin typeface="Roboto"/>
                <a:ea typeface="Roboto"/>
                <a:cs typeface="Arial"/>
              </a:rPr>
              <a:t>Manifold Hypothesis</a:t>
            </a:r>
            <a:endParaRPr lang="en-US" dirty="0"/>
          </a:p>
          <a:p>
            <a:pPr lvl="1"/>
            <a:r>
              <a:rPr lang="en-US" dirty="0">
                <a:latin typeface="Roboto"/>
                <a:ea typeface="Roboto"/>
                <a:cs typeface="Arial"/>
              </a:rPr>
              <a:t>Different models trained on similar data learn similar decision boundaries, even if their architectures </a:t>
            </a:r>
            <a:r>
              <a:rPr lang="en-US">
                <a:latin typeface="Roboto"/>
                <a:ea typeface="Roboto"/>
                <a:cs typeface="Arial"/>
              </a:rPr>
              <a:t>differ.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B5FA3C-C55A-24CD-C9CC-FF9B72D54E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6</a:t>
            </a:fld>
            <a:endParaRPr lang="en-US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EE300E35-55A3-538D-98FA-C7C0708482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2912" t="4798" r="52766" b="62625"/>
          <a:stretch>
            <a:fillRect/>
          </a:stretch>
        </p:blipFill>
        <p:spPr>
          <a:xfrm>
            <a:off x="7591425" y="630054"/>
            <a:ext cx="4060003" cy="5450441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3B6F77F-AF05-6B10-6901-8A816E19AC0B}"/>
              </a:ext>
            </a:extLst>
          </p:cNvPr>
          <p:cNvSpPr/>
          <p:nvPr/>
        </p:nvSpPr>
        <p:spPr>
          <a:xfrm>
            <a:off x="9655629" y="3211286"/>
            <a:ext cx="1995799" cy="22424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1D4C256-2FFB-D2EB-FE7D-B8D3DC972455}"/>
              </a:ext>
            </a:extLst>
          </p:cNvPr>
          <p:cNvSpPr txBox="1">
            <a:spLocks/>
          </p:cNvSpPr>
          <p:nvPr/>
        </p:nvSpPr>
        <p:spPr>
          <a:xfrm>
            <a:off x="952499" y="526777"/>
            <a:ext cx="10287001" cy="869089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</a:lstStyle>
          <a:p>
            <a:r>
              <a:rPr lang="en-US">
                <a:latin typeface="Roboto"/>
                <a:ea typeface="Roboto"/>
                <a:cs typeface="Arial"/>
              </a:rPr>
              <a:t>Deployable Security</a:t>
            </a:r>
            <a:endParaRPr lang="en-US" dirty="0">
              <a:latin typeface="Roboto"/>
              <a:ea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22621161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94C586-B500-BBBE-65E8-FD9D728C07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72F11E-AA21-BC15-CE31-B13F856568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7</a:t>
            </a:fld>
            <a:endParaRPr lang="en-US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D49D76CE-3A72-B814-613E-B7A9A0DD01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2912" t="4798" r="52766" b="62625"/>
          <a:stretch>
            <a:fillRect/>
          </a:stretch>
        </p:blipFill>
        <p:spPr>
          <a:xfrm>
            <a:off x="7591425" y="630054"/>
            <a:ext cx="4060003" cy="545044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105349D-1639-F04D-D0A6-8A748A1FEC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9790" y="3605748"/>
            <a:ext cx="4556210" cy="219429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6FE0785-834E-5634-E4B4-2979426331C2}"/>
              </a:ext>
            </a:extLst>
          </p:cNvPr>
          <p:cNvSpPr txBox="1"/>
          <p:nvPr/>
        </p:nvSpPr>
        <p:spPr>
          <a:xfrm>
            <a:off x="433875" y="2030922"/>
            <a:ext cx="6761655" cy="1200329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800100" lvl="1" indent="-342900">
              <a:buFont typeface="Arial"/>
              <a:buChar char="•"/>
            </a:pPr>
            <a:r>
              <a:rPr lang="en-US" sz="2400" b="1" dirty="0"/>
              <a:t>Transfer attacks:</a:t>
            </a:r>
            <a:r>
              <a:rPr lang="en-US" sz="2400" dirty="0"/>
              <a:t> The process of generating adversarial attacks on a surrogate that attacks a target model.</a:t>
            </a:r>
            <a:endParaRPr lang="en-US" sz="2400" dirty="0">
              <a:ea typeface="Roboto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6460B25-E241-9380-D787-A522C265C4C0}"/>
              </a:ext>
            </a:extLst>
          </p:cNvPr>
          <p:cNvSpPr txBox="1">
            <a:spLocks/>
          </p:cNvSpPr>
          <p:nvPr/>
        </p:nvSpPr>
        <p:spPr>
          <a:xfrm>
            <a:off x="952499" y="526777"/>
            <a:ext cx="10287001" cy="869089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</a:lstStyle>
          <a:p>
            <a:r>
              <a:rPr lang="en-US">
                <a:latin typeface="Roboto"/>
                <a:ea typeface="Roboto"/>
                <a:cs typeface="Arial"/>
              </a:rPr>
              <a:t>Deployable Security</a:t>
            </a:r>
            <a:endParaRPr lang="en-US" dirty="0">
              <a:latin typeface="Roboto"/>
              <a:ea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10452192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AF2B3B-E74B-A5B0-B807-5C9E27C27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828EBE-A702-759D-B092-DB5119EF4BD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8</a:t>
            </a:fld>
            <a:endParaRPr lang="en-US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8D185EDA-07D4-93EA-199C-8C62C468A1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2912" t="4798" r="52766" b="62625"/>
          <a:stretch>
            <a:fillRect/>
          </a:stretch>
        </p:blipFill>
        <p:spPr>
          <a:xfrm>
            <a:off x="7591425" y="630054"/>
            <a:ext cx="4060003" cy="545044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38B25AC-3A3F-8CEB-ED2E-9BAF6440A3D9}"/>
              </a:ext>
            </a:extLst>
          </p:cNvPr>
          <p:cNvSpPr txBox="1"/>
          <p:nvPr/>
        </p:nvSpPr>
        <p:spPr>
          <a:xfrm>
            <a:off x="433875" y="2030922"/>
            <a:ext cx="6761655" cy="341632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800100" lvl="1" indent="-342900">
              <a:buFont typeface="Arial"/>
              <a:buChar char="•"/>
            </a:pPr>
            <a:r>
              <a:rPr lang="en-US" sz="2400" b="1" dirty="0"/>
              <a:t>Transfer attacks:</a:t>
            </a:r>
            <a:r>
              <a:rPr lang="en-US" sz="2400" dirty="0"/>
              <a:t> The process of generating adversarial attacks on a surrogate that attacks a target model.</a:t>
            </a:r>
            <a:endParaRPr lang="en-US" sz="2400" dirty="0">
              <a:ea typeface="Roboto"/>
            </a:endParaRPr>
          </a:p>
          <a:p>
            <a:pPr marL="1257300" lvl="2" indent="-342900">
              <a:buFont typeface="Arial"/>
              <a:buChar char="•"/>
            </a:pPr>
            <a:endParaRPr lang="en-US" sz="2400" dirty="0">
              <a:ea typeface="Roboto"/>
            </a:endParaRPr>
          </a:p>
          <a:p>
            <a:pPr marL="1257300" lvl="2" indent="-342900">
              <a:buFont typeface="Arial"/>
              <a:buChar char="•"/>
            </a:pPr>
            <a:r>
              <a:rPr lang="en-US" sz="2400" dirty="0">
                <a:ea typeface="Roboto"/>
              </a:rPr>
              <a:t>You can traverse the input space (black box approach)</a:t>
            </a:r>
          </a:p>
          <a:p>
            <a:pPr marL="1257300" lvl="2" indent="-342900">
              <a:buFont typeface="Arial"/>
              <a:buChar char="•"/>
            </a:pPr>
            <a:endParaRPr lang="en-US" sz="2400" dirty="0">
              <a:ea typeface="Roboto"/>
            </a:endParaRPr>
          </a:p>
          <a:p>
            <a:pPr marL="1257300" lvl="2" indent="-342900">
              <a:buFont typeface="Arial"/>
              <a:buChar char="•"/>
            </a:pPr>
            <a:r>
              <a:rPr lang="en-US" sz="2400" dirty="0">
                <a:ea typeface="Roboto"/>
              </a:rPr>
              <a:t>You can traverse the embedding space (white box approach)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F95A0B9-0B6C-0D1F-E431-BE420770C409}"/>
              </a:ext>
            </a:extLst>
          </p:cNvPr>
          <p:cNvSpPr/>
          <p:nvPr/>
        </p:nvSpPr>
        <p:spPr>
          <a:xfrm>
            <a:off x="1309036" y="3381651"/>
            <a:ext cx="5025831" cy="1042416"/>
          </a:xfrm>
          <a:prstGeom prst="rect">
            <a:avLst/>
          </a:prstGeom>
          <a:noFill/>
          <a:ln w="285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45D11182-48C7-CAA2-03D4-2E941AC38767}"/>
              </a:ext>
            </a:extLst>
          </p:cNvPr>
          <p:cNvSpPr txBox="1">
            <a:spLocks/>
          </p:cNvSpPr>
          <p:nvPr/>
        </p:nvSpPr>
        <p:spPr>
          <a:xfrm>
            <a:off x="952499" y="526777"/>
            <a:ext cx="10287001" cy="869089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</a:lstStyle>
          <a:p>
            <a:r>
              <a:rPr lang="en-US">
                <a:latin typeface="Roboto"/>
                <a:ea typeface="Roboto"/>
                <a:cs typeface="Arial"/>
              </a:rPr>
              <a:t>Deployable Security</a:t>
            </a:r>
            <a:endParaRPr lang="en-US" dirty="0">
              <a:latin typeface="Roboto"/>
              <a:ea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20038559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059F83-4094-4F31-E2E9-19AC33C8F3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2500" y="1860277"/>
            <a:ext cx="7943850" cy="559073"/>
          </a:xfrm>
        </p:spPr>
        <p:txBody>
          <a:bodyPr/>
          <a:lstStyle/>
          <a:p>
            <a:r>
              <a:rPr lang="en-US"/>
              <a:t>Adversarial Particle Swarm Optimization (APSO)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21B5C5-0EC4-B41C-9977-79F374085F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9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8E2A3BF-6870-9D09-B064-A21ECA4CFF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4270" y="2420459"/>
            <a:ext cx="4721730" cy="340011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148F777-81BC-746E-5301-2A9AF37736C7}"/>
              </a:ext>
            </a:extLst>
          </p:cNvPr>
          <p:cNvSpPr txBox="1"/>
          <p:nvPr/>
        </p:nvSpPr>
        <p:spPr>
          <a:xfrm>
            <a:off x="6553500" y="2301525"/>
            <a:ext cx="506700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/>
              <a:t>Derivative-Free:</a:t>
            </a:r>
            <a:r>
              <a:rPr lang="en-US" sz="2400"/>
              <a:t> Does not rely on gradients</a:t>
            </a:r>
          </a:p>
          <a:p>
            <a:endParaRPr lang="en-US" sz="2400"/>
          </a:p>
          <a:p>
            <a:r>
              <a:rPr lang="en-US" sz="2400" b="1"/>
              <a:t>Population-Based: </a:t>
            </a:r>
            <a:r>
              <a:rPr lang="en-US" sz="2400"/>
              <a:t>A swarm of particle explore the input space simultaneously</a:t>
            </a:r>
          </a:p>
          <a:p>
            <a:endParaRPr lang="en-US" sz="2400"/>
          </a:p>
          <a:p>
            <a:r>
              <a:rPr lang="en-US" sz="2400" b="1"/>
              <a:t>Social Intelligence: </a:t>
            </a:r>
            <a:r>
              <a:rPr lang="en-US" sz="2400"/>
              <a:t>Particles communicate to find global weakness, not just local artifacts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713F5A3-15F8-37E1-A0D0-302E1BD268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53800" y="98832"/>
            <a:ext cx="791876" cy="80552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2283C22-3E64-10F5-1CB3-B33F8858931A}"/>
              </a:ext>
            </a:extLst>
          </p:cNvPr>
          <p:cNvSpPr txBox="1"/>
          <p:nvPr/>
        </p:nvSpPr>
        <p:spPr>
          <a:xfrm>
            <a:off x="11110420" y="969660"/>
            <a:ext cx="1278636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/>
              <a:t>Gafur et al. </a:t>
            </a:r>
          </a:p>
          <a:p>
            <a:pPr algn="ctr"/>
            <a:r>
              <a:rPr lang="en-US" sz="1050"/>
              <a:t>2024</a:t>
            </a:r>
          </a:p>
        </p:txBody>
      </p:sp>
      <p:pic>
        <p:nvPicPr>
          <p:cNvPr id="10" name="Graphic 9" descr="Train Subway SVG Vector Icon">
            <a:extLst>
              <a:ext uri="{FF2B5EF4-FFF2-40B4-BE49-F238E27FC236}">
                <a16:creationId xmlns:a16="http://schemas.microsoft.com/office/drawing/2014/main" id="{559F141D-7207-317F-E2C6-ACA521FF6E8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606" y="5771054"/>
            <a:ext cx="614856" cy="632374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28F07841-DFE2-B4A4-A776-EC1A08663794}"/>
              </a:ext>
            </a:extLst>
          </p:cNvPr>
          <p:cNvSpPr txBox="1">
            <a:spLocks/>
          </p:cNvSpPr>
          <p:nvPr/>
        </p:nvSpPr>
        <p:spPr>
          <a:xfrm>
            <a:off x="952499" y="526777"/>
            <a:ext cx="10287001" cy="869089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</a:lstStyle>
          <a:p>
            <a:r>
              <a:rPr lang="en-US">
                <a:latin typeface="Roboto"/>
                <a:ea typeface="Roboto"/>
                <a:cs typeface="Arial"/>
              </a:rPr>
              <a:t>Deployable Security</a:t>
            </a:r>
            <a:endParaRPr lang="en-US" dirty="0">
              <a:latin typeface="Roboto"/>
              <a:ea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2798418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A912E-893C-3F40-357C-E515D159B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992E68-B6A1-E8EC-3F40-1D91258224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2500" y="1860277"/>
            <a:ext cx="7943850" cy="559073"/>
          </a:xfrm>
        </p:spPr>
        <p:txBody>
          <a:bodyPr/>
          <a:lstStyle/>
          <a:p>
            <a:r>
              <a:rPr lang="en-US"/>
              <a:t>Adversarial Particle Swarm Optimization (APSO)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21774C-9954-129C-7831-06A2D0B0F6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10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148E36A-7354-7DA5-BF23-FCE05F51C5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4270" y="2420459"/>
            <a:ext cx="4721730" cy="340011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A86B566-1F4F-344C-DF80-7C8F51405C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53800" y="98832"/>
            <a:ext cx="791876" cy="80552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9A72162-C324-F56E-CA34-893CF6DE736F}"/>
              </a:ext>
            </a:extLst>
          </p:cNvPr>
          <p:cNvSpPr txBox="1"/>
          <p:nvPr/>
        </p:nvSpPr>
        <p:spPr>
          <a:xfrm>
            <a:off x="11110420" y="969660"/>
            <a:ext cx="1278636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/>
              <a:t>Gafur et al. </a:t>
            </a:r>
          </a:p>
          <a:p>
            <a:pPr algn="ctr"/>
            <a:r>
              <a:rPr lang="en-US" sz="1050"/>
              <a:t>2024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A80DF15-130E-D301-6C54-7879F23095FD}"/>
              </a:ext>
            </a:extLst>
          </p:cNvPr>
          <p:cNvSpPr txBox="1"/>
          <p:nvPr/>
        </p:nvSpPr>
        <p:spPr>
          <a:xfrm>
            <a:off x="6958915" y="3432368"/>
            <a:ext cx="4600275" cy="138499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2800" b="1"/>
              <a:t>Infinitely generated adversarial inputs with high misclassification rate</a:t>
            </a:r>
            <a:endParaRPr lang="en-US" sz="2800">
              <a:ea typeface="Roboto"/>
            </a:endParaRPr>
          </a:p>
        </p:txBody>
      </p:sp>
      <p:pic>
        <p:nvPicPr>
          <p:cNvPr id="10" name="Graphic 9" descr="Train Subway SVG Vector Icon">
            <a:extLst>
              <a:ext uri="{FF2B5EF4-FFF2-40B4-BE49-F238E27FC236}">
                <a16:creationId xmlns:a16="http://schemas.microsoft.com/office/drawing/2014/main" id="{6F1F3F72-9DA0-1598-7B3C-5D53245C14C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5820" y="5726465"/>
            <a:ext cx="614856" cy="632374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0FF0D834-8A86-E657-A53D-0B1CD8F8F3AD}"/>
              </a:ext>
            </a:extLst>
          </p:cNvPr>
          <p:cNvSpPr txBox="1">
            <a:spLocks/>
          </p:cNvSpPr>
          <p:nvPr/>
        </p:nvSpPr>
        <p:spPr>
          <a:xfrm>
            <a:off x="952499" y="526777"/>
            <a:ext cx="10287001" cy="869089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</a:lstStyle>
          <a:p>
            <a:r>
              <a:rPr lang="en-US">
                <a:latin typeface="Roboto"/>
                <a:ea typeface="Roboto"/>
                <a:cs typeface="Arial"/>
              </a:rPr>
              <a:t>Deployable Security</a:t>
            </a:r>
            <a:endParaRPr lang="en-US" dirty="0">
              <a:latin typeface="Roboto"/>
              <a:ea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11652103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E7AA91-BCC7-91FC-2808-3932CACC9F7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662427C-CE3C-3AF2-BDBF-601B1A1DC947}"/>
              </a:ext>
            </a:extLst>
          </p:cNvPr>
          <p:cNvSpPr/>
          <p:nvPr/>
        </p:nvSpPr>
        <p:spPr>
          <a:xfrm>
            <a:off x="785091" y="3837869"/>
            <a:ext cx="10529454" cy="27709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C07BEC-A644-4CC5-6C26-EB9C9871BA2E}"/>
              </a:ext>
            </a:extLst>
          </p:cNvPr>
          <p:cNvSpPr txBox="1"/>
          <p:nvPr/>
        </p:nvSpPr>
        <p:spPr>
          <a:xfrm>
            <a:off x="220558" y="2216329"/>
            <a:ext cx="2743200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dirty="0">
                <a:ea typeface="Roboto"/>
              </a:rPr>
              <a:t>Train a set of surrogate </a:t>
            </a:r>
            <a:endParaRPr lang="en-US" dirty="0"/>
          </a:p>
          <a:p>
            <a:pPr algn="ctr"/>
            <a:r>
              <a:rPr lang="en-US" dirty="0">
                <a:ea typeface="Roboto"/>
              </a:rPr>
              <a:t>model with varying resource utilization and security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45BDFBE-53FD-6176-F845-D5F5812F95A5}"/>
              </a:ext>
            </a:extLst>
          </p:cNvPr>
          <p:cNvSpPr txBox="1"/>
          <p:nvPr/>
        </p:nvSpPr>
        <p:spPr>
          <a:xfrm>
            <a:off x="2462764" y="4265844"/>
            <a:ext cx="2743200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dirty="0">
                <a:ea typeface="Roboto"/>
              </a:rPr>
              <a:t>Analyzed how easy it was to attack these networks</a:t>
            </a:r>
            <a:endParaRPr lang="en-US" dirty="0"/>
          </a:p>
        </p:txBody>
      </p:sp>
      <p:pic>
        <p:nvPicPr>
          <p:cNvPr id="11" name="Graphic 10" descr="Nose SVG Vector Icon">
            <a:extLst>
              <a:ext uri="{FF2B5EF4-FFF2-40B4-BE49-F238E27FC236}">
                <a16:creationId xmlns:a16="http://schemas.microsoft.com/office/drawing/2014/main" id="{F8A4671B-0626-1721-2D0D-DC92034355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42676" y="4798849"/>
            <a:ext cx="868856" cy="78127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BB211F8B-67ED-8CB3-406D-5FDC73D9AEC6}"/>
              </a:ext>
            </a:extLst>
          </p:cNvPr>
          <p:cNvSpPr txBox="1"/>
          <p:nvPr/>
        </p:nvSpPr>
        <p:spPr>
          <a:xfrm>
            <a:off x="5869866" y="2496601"/>
            <a:ext cx="2743200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dirty="0">
                <a:ea typeface="Roboto"/>
              </a:rPr>
              <a:t>Generated attacks specific to a surrogate model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ECE9191-7E55-91A3-29EF-DD9631E8F73B}"/>
              </a:ext>
            </a:extLst>
          </p:cNvPr>
          <p:cNvSpPr txBox="1"/>
          <p:nvPr/>
        </p:nvSpPr>
        <p:spPr>
          <a:xfrm>
            <a:off x="8611314" y="4265841"/>
            <a:ext cx="2743200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dirty="0">
                <a:ea typeface="Roboto"/>
              </a:rPr>
              <a:t>Tested the transferability of these attacks to all other models in the set</a:t>
            </a:r>
          </a:p>
        </p:txBody>
      </p:sp>
      <p:pic>
        <p:nvPicPr>
          <p:cNvPr id="17" name="Picture 16" descr="A black silhouette of a fish&#10;&#10;AI-generated content may be incorrect.">
            <a:extLst>
              <a:ext uri="{FF2B5EF4-FFF2-40B4-BE49-F238E27FC236}">
                <a16:creationId xmlns:a16="http://schemas.microsoft.com/office/drawing/2014/main" id="{70944E65-2E1E-0335-93B2-03B1B25066E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546" t="13386" r="-366" b="6667"/>
          <a:stretch>
            <a:fillRect/>
          </a:stretch>
        </p:blipFill>
        <p:spPr>
          <a:xfrm>
            <a:off x="7667267" y="3051649"/>
            <a:ext cx="745389" cy="632041"/>
          </a:xfrm>
          <a:prstGeom prst="rect">
            <a:avLst/>
          </a:prstGeom>
        </p:spPr>
      </p:pic>
      <p:pic>
        <p:nvPicPr>
          <p:cNvPr id="18" name="Graphic 17" descr="Train Subway SVG Vector Icon">
            <a:extLst>
              <a:ext uri="{FF2B5EF4-FFF2-40B4-BE49-F238E27FC236}">
                <a16:creationId xmlns:a16="http://schemas.microsoft.com/office/drawing/2014/main" id="{89F855FA-885E-9FF1-8A3E-6BE293C0B7C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149365" y="3117192"/>
            <a:ext cx="614856" cy="632374"/>
          </a:xfrm>
          <a:prstGeom prst="rect">
            <a:avLst/>
          </a:prstGeom>
        </p:spPr>
      </p:pic>
      <p:pic>
        <p:nvPicPr>
          <p:cNvPr id="19" name="Graphic 18" descr="Transfer Horizontal SVG Vector Icon">
            <a:extLst>
              <a:ext uri="{FF2B5EF4-FFF2-40B4-BE49-F238E27FC236}">
                <a16:creationId xmlns:a16="http://schemas.microsoft.com/office/drawing/2014/main" id="{3A7F7BCB-A253-139A-7931-1EFB9B34628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223297" y="4334642"/>
            <a:ext cx="711201" cy="78127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E01DD44-0A60-3E9E-5436-D9D614805D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>
            <a:normAutofit/>
          </a:bodyPr>
          <a:lstStyle/>
          <a:p>
            <a:r>
              <a:rPr lang="en-US" dirty="0">
                <a:latin typeface="Roboto"/>
                <a:ea typeface="Roboto"/>
                <a:cs typeface="Arial"/>
              </a:rPr>
              <a:t>Deployable Security</a:t>
            </a:r>
            <a:endParaRPr lang="en-US" dirty="0">
              <a:latin typeface="Roboto"/>
              <a:ea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38271448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9807F97B-D0B0-513C-9BC6-6A0F498A533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847" t="408" r="-741" b="26815"/>
          <a:stretch>
            <a:fillRect/>
          </a:stretch>
        </p:blipFill>
        <p:spPr>
          <a:xfrm>
            <a:off x="1964370" y="1868380"/>
            <a:ext cx="8263260" cy="3123382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70ECB2-F6EF-58E9-1354-5D780E1E084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12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3062A46-591F-80C7-D0AB-12ED6D604FF2}"/>
              </a:ext>
            </a:extLst>
          </p:cNvPr>
          <p:cNvSpPr txBox="1"/>
          <p:nvPr/>
        </p:nvSpPr>
        <p:spPr>
          <a:xfrm>
            <a:off x="1554177" y="5138768"/>
            <a:ext cx="8862130" cy="83099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2400" dirty="0">
                <a:ea typeface="Roboto"/>
              </a:rPr>
              <a:t>Network hardening is the process of training a network with adversarial data to increase its robustness.</a:t>
            </a:r>
            <a:endParaRPr lang="en-US" dirty="0">
              <a:ea typeface="Roboto"/>
            </a:endParaRPr>
          </a:p>
        </p:txBody>
      </p:sp>
      <p:pic>
        <p:nvPicPr>
          <p:cNvPr id="9" name="Graphic 8" descr="Train Subway SVG Vector Icon">
            <a:extLst>
              <a:ext uri="{FF2B5EF4-FFF2-40B4-BE49-F238E27FC236}">
                <a16:creationId xmlns:a16="http://schemas.microsoft.com/office/drawing/2014/main" id="{EACC75FE-BB3F-9A1A-F5A1-79BADA6B38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7365" y="5726465"/>
            <a:ext cx="614856" cy="632374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5BE8CC27-E2FA-2476-C3C5-E021F8D4D690}"/>
              </a:ext>
            </a:extLst>
          </p:cNvPr>
          <p:cNvSpPr/>
          <p:nvPr/>
        </p:nvSpPr>
        <p:spPr>
          <a:xfrm>
            <a:off x="6237514" y="1721374"/>
            <a:ext cx="4288972" cy="3415253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E38F23A5-C335-7B4A-E8A4-47D60CC70459}"/>
              </a:ext>
            </a:extLst>
          </p:cNvPr>
          <p:cNvSpPr txBox="1">
            <a:spLocks/>
          </p:cNvSpPr>
          <p:nvPr/>
        </p:nvSpPr>
        <p:spPr>
          <a:xfrm>
            <a:off x="952499" y="526777"/>
            <a:ext cx="10287001" cy="869089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</a:lstStyle>
          <a:p>
            <a:r>
              <a:rPr lang="en-US">
                <a:latin typeface="Roboto"/>
                <a:ea typeface="Roboto"/>
                <a:cs typeface="Arial"/>
              </a:rPr>
              <a:t>Deployable Security</a:t>
            </a:r>
            <a:endParaRPr lang="en-US" dirty="0">
              <a:latin typeface="Roboto"/>
              <a:ea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29089695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03F9A0-B98C-FE6E-6F62-6E5419512B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94F24B-6901-BEB8-BABD-50AD80125F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latin typeface="Roboto"/>
                <a:ea typeface="Roboto"/>
                <a:cs typeface="Arial"/>
              </a:rPr>
              <a:t>Individual model adversarial attacks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366AFD-1391-ECC7-6018-CFB88A91226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13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CB38DEA-772A-D2AE-B125-F54497BDB8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51" y="2895156"/>
            <a:ext cx="11002911" cy="297221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6C7CBA1-E7AD-C0EA-7803-27B7BFC15986}"/>
              </a:ext>
            </a:extLst>
          </p:cNvPr>
          <p:cNvSpPr txBox="1"/>
          <p:nvPr/>
        </p:nvSpPr>
        <p:spPr>
          <a:xfrm>
            <a:off x="952341" y="1926445"/>
            <a:ext cx="10299040" cy="83099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>
                <a:ea typeface="Roboto"/>
              </a:rPr>
              <a:t>Given a single pass of APSO on a trained network, how many images are successfully poisoned to a target label?</a:t>
            </a:r>
          </a:p>
        </p:txBody>
      </p:sp>
      <p:pic>
        <p:nvPicPr>
          <p:cNvPr id="6" name="Graphic 5" descr="Nose SVG Vector Icon">
            <a:extLst>
              <a:ext uri="{FF2B5EF4-FFF2-40B4-BE49-F238E27FC236}">
                <a16:creationId xmlns:a16="http://schemas.microsoft.com/office/drawing/2014/main" id="{24B55B4C-6243-6702-6EC4-6CCC974C65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2400" y="5832365"/>
            <a:ext cx="553546" cy="500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32527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5A714C-131B-C8A3-A81F-5AFC966123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Roboto"/>
                <a:ea typeface="Roboto"/>
                <a:cs typeface="Arial"/>
              </a:rPr>
              <a:t>Increased Data Complexity</a:t>
            </a:r>
            <a:endParaRPr lang="en-US" b="0" dirty="0"/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38C440-AE8C-63EF-AF25-B6144280C71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14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0AACB78-0A39-802F-A2D4-C34C29D87B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" y="1429225"/>
            <a:ext cx="8997739" cy="4610228"/>
          </a:xfrm>
          <a:prstGeom prst="rect">
            <a:avLst/>
          </a:prstGeom>
        </p:spPr>
      </p:pic>
      <p:pic>
        <p:nvPicPr>
          <p:cNvPr id="5" name="Graphic 4" descr="Nose SVG Vector Icon">
            <a:extLst>
              <a:ext uri="{FF2B5EF4-FFF2-40B4-BE49-F238E27FC236}">
                <a16:creationId xmlns:a16="http://schemas.microsoft.com/office/drawing/2014/main" id="{E43CE769-A88E-4CAB-B522-EEE3D9B73F4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2400" y="5832365"/>
            <a:ext cx="553546" cy="500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8950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7ACD94-992D-CDF5-E4A5-21C4E6BE3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AC6E63-9E88-A242-C7D0-A4B4B172AB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Roboto"/>
                <a:ea typeface="Roboto"/>
                <a:cs typeface="Arial"/>
              </a:rPr>
              <a:t>Increased Data Complexity</a:t>
            </a:r>
            <a:endParaRPr lang="en-US" b="0" dirty="0">
              <a:latin typeface="Roboto"/>
              <a:ea typeface="Roboto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C6BBB-17CA-D740-E3AF-73B32BE09AD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15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5C41E88-5790-D489-5E44-06DD473857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5251" y="2124299"/>
            <a:ext cx="8740497" cy="1564203"/>
          </a:xfrm>
          <a:prstGeom prst="rect">
            <a:avLst/>
          </a:prstGeom>
        </p:spPr>
      </p:pic>
      <p:sp>
        <p:nvSpPr>
          <p:cNvPr id="6" name="Rectangle 2">
            <a:extLst>
              <a:ext uri="{FF2B5EF4-FFF2-40B4-BE49-F238E27FC236}">
                <a16:creationId xmlns:a16="http://schemas.microsoft.com/office/drawing/2014/main" id="{086E5715-AB27-5B38-0228-13CBFAE505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7391" y="4243921"/>
            <a:ext cx="5528609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  <a:latin typeface="Arial"/>
                <a:cs typeface="Arial"/>
              </a:rPr>
              <a:t>Simple models are easy to attack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7245B3E-891B-625E-8203-FBE2DEFADB29}"/>
              </a:ext>
            </a:extLst>
          </p:cNvPr>
          <p:cNvSpPr txBox="1"/>
          <p:nvPr/>
        </p:nvSpPr>
        <p:spPr>
          <a:xfrm>
            <a:off x="6294323" y="4243921"/>
            <a:ext cx="56102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Hardening can increase brittleness</a:t>
            </a:r>
          </a:p>
        </p:txBody>
      </p:sp>
      <p:pic>
        <p:nvPicPr>
          <p:cNvPr id="5" name="Graphic 4" descr="Nose SVG Vector Icon">
            <a:extLst>
              <a:ext uri="{FF2B5EF4-FFF2-40B4-BE49-F238E27FC236}">
                <a16:creationId xmlns:a16="http://schemas.microsoft.com/office/drawing/2014/main" id="{BD8AC99F-1A48-0AF9-7F5F-84FDB169934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2400" y="5832365"/>
            <a:ext cx="553546" cy="50099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F649CD7-8637-3C36-0927-8D35A4A5E5C0}"/>
              </a:ext>
            </a:extLst>
          </p:cNvPr>
          <p:cNvSpPr txBox="1"/>
          <p:nvPr/>
        </p:nvSpPr>
        <p:spPr>
          <a:xfrm>
            <a:off x="4178144" y="5038143"/>
            <a:ext cx="37145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Accuracy ≠ resilience</a:t>
            </a:r>
          </a:p>
        </p:txBody>
      </p:sp>
    </p:spTree>
    <p:extLst>
      <p:ext uri="{BB962C8B-B14F-4D97-AF65-F5344CB8AC3E}">
        <p14:creationId xmlns:p14="http://schemas.microsoft.com/office/powerpoint/2010/main" val="3816281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7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1997FB-5EF5-B171-A4CF-F9AD41A2BF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CF65F6-D738-2A0A-3851-229D99E177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346554"/>
            <a:ext cx="10287001" cy="869089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Roboto"/>
                <a:ea typeface="Roboto"/>
              </a:rPr>
              <a:t>Individual model adversarial attacks</a:t>
            </a:r>
            <a:endParaRPr lang="en-US" sz="3600" b="0" dirty="0">
              <a:latin typeface="Roboto"/>
              <a:ea typeface="Roboto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8E0F1D-7F82-71B5-3679-CF84B71E18F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FACF6B5-D03D-4F0D-E407-69EA2FEDF80A}"/>
              </a:ext>
            </a:extLst>
          </p:cNvPr>
          <p:cNvSpPr txBox="1"/>
          <p:nvPr/>
        </p:nvSpPr>
        <p:spPr>
          <a:xfrm>
            <a:off x="3331578" y="4827491"/>
            <a:ext cx="6650621" cy="83099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n-US" sz="2400" dirty="0"/>
              <a:t>Resilience does not necessarily correlate with amount of perturbation required</a:t>
            </a:r>
            <a:endParaRPr lang="en-US" sz="2400" dirty="0">
              <a:ea typeface="Roboto"/>
            </a:endParaRPr>
          </a:p>
        </p:txBody>
      </p:sp>
      <p:pic>
        <p:nvPicPr>
          <p:cNvPr id="10" name="Picture 9" descr="A table with numbers and text&#10;&#10;AI-generated content may be incorrect.">
            <a:extLst>
              <a:ext uri="{FF2B5EF4-FFF2-40B4-BE49-F238E27FC236}">
                <a16:creationId xmlns:a16="http://schemas.microsoft.com/office/drawing/2014/main" id="{59EC6775-2865-1747-3737-5B0DAA0201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7900" y="2534910"/>
            <a:ext cx="9636347" cy="1788180"/>
          </a:xfrm>
          <a:prstGeom prst="rect">
            <a:avLst/>
          </a:prstGeom>
        </p:spPr>
      </p:pic>
      <p:pic>
        <p:nvPicPr>
          <p:cNvPr id="5" name="Graphic 4" descr="Nose SVG Vector Icon">
            <a:extLst>
              <a:ext uri="{FF2B5EF4-FFF2-40B4-BE49-F238E27FC236}">
                <a16:creationId xmlns:a16="http://schemas.microsoft.com/office/drawing/2014/main" id="{1C448C18-4909-A6E3-E920-BF085651C55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2400" y="5832365"/>
            <a:ext cx="553546" cy="5009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068C303-8A0C-D71F-4A19-9D71DD4F1E8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753" r="77089"/>
          <a:stretch>
            <a:fillRect/>
          </a:stretch>
        </p:blipFill>
        <p:spPr>
          <a:xfrm>
            <a:off x="0" y="1643756"/>
            <a:ext cx="2040110" cy="4014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52191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42BEB1-4BEB-E465-E4C5-66527B0A35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4483" y="416990"/>
            <a:ext cx="10287001" cy="869089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Roboto"/>
                <a:ea typeface="Roboto"/>
              </a:rPr>
              <a:t>Individual model adversarial attacks</a:t>
            </a:r>
            <a:endParaRPr lang="en-US" sz="3600" b="0" dirty="0">
              <a:latin typeface="Roboto"/>
              <a:ea typeface="Roboto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59D154-FD39-F763-0F65-A0216904D36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17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CD30F30-C0C1-0AC3-6F19-61DC2A121D2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339" t="8834" r="30128" b="9520"/>
          <a:stretch>
            <a:fillRect/>
          </a:stretch>
        </p:blipFill>
        <p:spPr>
          <a:xfrm>
            <a:off x="489177" y="1286079"/>
            <a:ext cx="6445023" cy="4613375"/>
          </a:xfrm>
          <a:prstGeom prst="rect">
            <a:avLst/>
          </a:prstGeom>
        </p:spPr>
      </p:pic>
      <p:sp>
        <p:nvSpPr>
          <p:cNvPr id="9" name="Rectangle 2">
            <a:extLst>
              <a:ext uri="{FF2B5EF4-FFF2-40B4-BE49-F238E27FC236}">
                <a16:creationId xmlns:a16="http://schemas.microsoft.com/office/drawing/2014/main" id="{20669EE8-553E-B7C0-58FE-624CA7E0EF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09115" y="2659601"/>
            <a:ext cx="3744686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  <a:latin typeface="+mj-lt"/>
                <a:cs typeface="Arial"/>
              </a:rPr>
              <a:t>Small perturbation ≠ weakest resistance</a:t>
            </a:r>
            <a:endParaRPr lang="en-US" sz="2400" dirty="0">
              <a:latin typeface="+mj-lt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lang="en-US" altLang="en-US" sz="2400" dirty="0">
              <a:latin typeface="+mj-lt"/>
              <a:cs typeface="Arial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  <a:latin typeface="+mj-lt"/>
                <a:cs typeface="Arial"/>
              </a:rPr>
              <a:t>Reliance, performance, and perturbation are not correlated</a:t>
            </a:r>
            <a:endParaRPr lang="en-US" altLang="en-US" sz="2400" b="0" i="0" u="none" strike="noStrike" cap="none" normalizeH="0" baseline="0" dirty="0">
              <a:ln>
                <a:noFill/>
              </a:ln>
              <a:effectLst/>
              <a:latin typeface="+mj-lt"/>
              <a:cs typeface="Arial"/>
            </a:endParaRPr>
          </a:p>
        </p:txBody>
      </p:sp>
      <p:pic>
        <p:nvPicPr>
          <p:cNvPr id="12" name="Picture 11" descr="A black silhouette of a fish&#10;&#10;AI-generated content may be incorrect.">
            <a:extLst>
              <a:ext uri="{FF2B5EF4-FFF2-40B4-BE49-F238E27FC236}">
                <a16:creationId xmlns:a16="http://schemas.microsoft.com/office/drawing/2014/main" id="{6EDF7CD9-CDA5-DAC8-784A-DD6F351528F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46" t="13386" r="-366" b="6667"/>
          <a:stretch>
            <a:fillRect/>
          </a:stretch>
        </p:blipFill>
        <p:spPr>
          <a:xfrm>
            <a:off x="174268" y="5868739"/>
            <a:ext cx="641480" cy="48195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3463D67-EF17-07CC-6035-D26D3CC0870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4392" t="90132" r="30128" b="1077"/>
          <a:stretch>
            <a:fillRect/>
          </a:stretch>
        </p:blipFill>
        <p:spPr>
          <a:xfrm>
            <a:off x="3183451" y="5876716"/>
            <a:ext cx="1675869" cy="496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79973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5E50A9D-295A-DB4C-8F9E-51EB194530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1FE572-0B13-4AC6-BECA-38CF473099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4483" y="416990"/>
            <a:ext cx="10287001" cy="869089"/>
          </a:xfrm>
        </p:spPr>
        <p:txBody>
          <a:bodyPr>
            <a:normAutofit fontScale="90000"/>
          </a:bodyPr>
          <a:lstStyle/>
          <a:p>
            <a:r>
              <a:rPr lang="en-US"/>
              <a:t>How much perturbation is required to poison a true label?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C7BF79-624A-774C-FBCC-2DFAA998CCA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18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DA47896-1713-6C8C-90B0-A0B60C71BEAB}"/>
              </a:ext>
            </a:extLst>
          </p:cNvPr>
          <p:cNvSpPr txBox="1"/>
          <p:nvPr/>
        </p:nvSpPr>
        <p:spPr>
          <a:xfrm>
            <a:off x="4935652" y="2275370"/>
            <a:ext cx="6042815" cy="267765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2400" b="1" dirty="0">
                <a:ea typeface="+mn-lt"/>
                <a:cs typeface="+mn-lt"/>
              </a:rPr>
              <a:t>Label 8</a:t>
            </a:r>
            <a:r>
              <a:rPr lang="en-US" sz="2400" dirty="0">
                <a:ea typeface="+mn-lt"/>
                <a:cs typeface="+mn-lt"/>
              </a:rPr>
              <a:t> demonstrates strong resilience at moderate perturbation levels.</a:t>
            </a:r>
            <a:endParaRPr lang="en-US" dirty="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endParaRPr lang="en-US" sz="2400" dirty="0">
              <a:ea typeface="+mn-lt"/>
              <a:cs typeface="+mn-lt"/>
            </a:endParaRPr>
          </a:p>
          <a:p>
            <a:pPr algn="ctr"/>
            <a:r>
              <a:rPr lang="en-US" sz="2400" b="1" dirty="0">
                <a:ea typeface="Roboto"/>
              </a:rPr>
              <a:t>"The route to poisoning is not always linear, sometimes it is distant and straightforward, other times nearby but requiring a more intricate path."</a:t>
            </a:r>
            <a:endParaRPr lang="en-US" b="1" dirty="0">
              <a:ea typeface="Roboto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6B3EF75-5C6D-B70F-E359-67E640D82C53}"/>
              </a:ext>
            </a:extLst>
          </p:cNvPr>
          <p:cNvGrpSpPr/>
          <p:nvPr/>
        </p:nvGrpSpPr>
        <p:grpSpPr>
          <a:xfrm>
            <a:off x="1027847" y="1469649"/>
            <a:ext cx="2899400" cy="4490132"/>
            <a:chOff x="690053" y="1375381"/>
            <a:chExt cx="2899400" cy="4490132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4D26A88B-6F18-FEC4-015C-59D786E11D0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70360" t="9596" b="8249"/>
            <a:stretch>
              <a:fillRect/>
            </a:stretch>
          </p:blipFill>
          <p:spPr>
            <a:xfrm>
              <a:off x="942066" y="1529604"/>
              <a:ext cx="2647387" cy="3830000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BA07B69E-B75B-E4C2-61E2-1A498CD2E86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3697" t="90404" r="29754" b="-168"/>
            <a:stretch>
              <a:fillRect/>
            </a:stretch>
          </p:blipFill>
          <p:spPr>
            <a:xfrm>
              <a:off x="1531240" y="5410305"/>
              <a:ext cx="1478184" cy="455208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E75035E0-87F3-8366-C1F4-5132413BA7B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10554" t="7515" r="86631" b="10360"/>
            <a:stretch>
              <a:fillRect/>
            </a:stretch>
          </p:blipFill>
          <p:spPr>
            <a:xfrm>
              <a:off x="690053" y="1375381"/>
              <a:ext cx="251405" cy="3828584"/>
            </a:xfrm>
            <a:prstGeom prst="rect">
              <a:avLst/>
            </a:prstGeom>
          </p:spPr>
        </p:pic>
      </p:grpSp>
      <p:pic>
        <p:nvPicPr>
          <p:cNvPr id="11" name="Picture 10" descr="A black silhouette of a fish&#10;&#10;AI-generated content may be incorrect.">
            <a:extLst>
              <a:ext uri="{FF2B5EF4-FFF2-40B4-BE49-F238E27FC236}">
                <a16:creationId xmlns:a16="http://schemas.microsoft.com/office/drawing/2014/main" id="{C1906347-66DC-C80E-C0EE-F2127CA78B3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46" t="13386" r="-366" b="6667"/>
          <a:stretch>
            <a:fillRect/>
          </a:stretch>
        </p:blipFill>
        <p:spPr>
          <a:xfrm>
            <a:off x="174268" y="5868739"/>
            <a:ext cx="641480" cy="481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4438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A1864C-7DE6-47A8-2C79-1AB28103D9A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610600" y="6356350"/>
            <a:ext cx="27432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6684DFB-8BCD-4B6F-9AA1-83F3BA61DF41}" type="slidenum">
              <a:rPr lang="en-US" smtClean="0"/>
              <a:pPr>
                <a:spcAft>
                  <a:spcPts val="600"/>
                </a:spcAft>
              </a:pPr>
              <a:t>19</a:t>
            </a:fld>
            <a:endParaRPr lang="en-US"/>
          </a:p>
        </p:txBody>
      </p:sp>
      <p:pic>
        <p:nvPicPr>
          <p:cNvPr id="7" name="Graphic 6" descr="Transfer Horizontal SVG Vector Icon">
            <a:extLst>
              <a:ext uri="{FF2B5EF4-FFF2-40B4-BE49-F238E27FC236}">
                <a16:creationId xmlns:a16="http://schemas.microsoft.com/office/drawing/2014/main" id="{347FFCDB-567D-5AC9-F8EC-71EAD28298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1206" y="5847097"/>
            <a:ext cx="480293" cy="50418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C937CA5-EBCD-1E3C-EDC4-87DD27C7540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4828"/>
          <a:stretch>
            <a:fillRect/>
          </a:stretch>
        </p:blipFill>
        <p:spPr>
          <a:xfrm>
            <a:off x="1265449" y="136525"/>
            <a:ext cx="9859751" cy="5802511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300BD574-3E68-5B09-E6EF-836F3DA0EDC0}"/>
              </a:ext>
            </a:extLst>
          </p:cNvPr>
          <p:cNvSpPr/>
          <p:nvPr/>
        </p:nvSpPr>
        <p:spPr>
          <a:xfrm>
            <a:off x="1232794" y="1539874"/>
            <a:ext cx="10121006" cy="11144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E2B3D7F-289B-71EB-DBB2-0E0DD39AF7B6}"/>
              </a:ext>
            </a:extLst>
          </p:cNvPr>
          <p:cNvSpPr/>
          <p:nvPr/>
        </p:nvSpPr>
        <p:spPr>
          <a:xfrm>
            <a:off x="1036849" y="2633864"/>
            <a:ext cx="10055693" cy="11144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6FE1B1A-0C50-F4D8-E018-62B5E05D8C67}"/>
              </a:ext>
            </a:extLst>
          </p:cNvPr>
          <p:cNvSpPr/>
          <p:nvPr/>
        </p:nvSpPr>
        <p:spPr>
          <a:xfrm>
            <a:off x="866274" y="3748288"/>
            <a:ext cx="10226267" cy="11144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ED29E88-6E2E-9124-2621-E037493F4C91}"/>
              </a:ext>
            </a:extLst>
          </p:cNvPr>
          <p:cNvSpPr/>
          <p:nvPr/>
        </p:nvSpPr>
        <p:spPr>
          <a:xfrm>
            <a:off x="860099" y="4824612"/>
            <a:ext cx="10232441" cy="11144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A348185-6D75-9BBA-B6CD-601F533A7454}"/>
              </a:ext>
            </a:extLst>
          </p:cNvPr>
          <p:cNvSpPr/>
          <p:nvPr/>
        </p:nvSpPr>
        <p:spPr>
          <a:xfrm>
            <a:off x="750771" y="1049154"/>
            <a:ext cx="587141" cy="58714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96237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8A763D-1B45-F405-5D95-2F76E01801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7D4DFA-93DF-95DA-83A3-5A003949BC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anchor="ctr">
            <a:normAutofit/>
          </a:bodyPr>
          <a:lstStyle/>
          <a:p>
            <a:r>
              <a:rPr lang="en-US" dirty="0"/>
              <a:t>How well does targeted poison transfer?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1AD953-BBCA-85B5-F1D8-12BB0C84E13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732"/>
          <a:stretch>
            <a:fillRect/>
          </a:stretch>
        </p:blipFill>
        <p:spPr>
          <a:xfrm>
            <a:off x="1624925" y="1541044"/>
            <a:ext cx="8586509" cy="4593570"/>
          </a:xfrm>
          <a:prstGeom prst="rect">
            <a:avLst/>
          </a:prstGeom>
          <a:noFill/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37C7F3-6075-77B1-8DCE-3607BA5309C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610600" y="6356350"/>
            <a:ext cx="27432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6684DFB-8BCD-4B6F-9AA1-83F3BA61DF41}" type="slidenum">
              <a:rPr lang="en-US" smtClean="0"/>
              <a:pPr>
                <a:spcAft>
                  <a:spcPts val="600"/>
                </a:spcAft>
              </a:pPr>
              <a:t>20</a:t>
            </a:fld>
            <a:endParaRPr lang="en-US"/>
          </a:p>
        </p:txBody>
      </p:sp>
      <p:pic>
        <p:nvPicPr>
          <p:cNvPr id="5" name="Graphic 4" descr="Transfer Horizontal SVG Vector Icon">
            <a:extLst>
              <a:ext uri="{FF2B5EF4-FFF2-40B4-BE49-F238E27FC236}">
                <a16:creationId xmlns:a16="http://schemas.microsoft.com/office/drawing/2014/main" id="{FA8DC2E4-CA60-C4E3-C75F-086A58C615E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1206" y="5847097"/>
            <a:ext cx="480293" cy="504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57146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0F87C-569B-ED22-0154-3D51632B3C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anchor="ctr">
            <a:normAutofit/>
          </a:bodyPr>
          <a:lstStyle/>
          <a:p>
            <a:r>
              <a:rPr lang="en-US"/>
              <a:t>Real world applications of untargeted attack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A026BD0-72F7-8DC7-6A67-D1CBCA8750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3299" y="1686757"/>
            <a:ext cx="9729925" cy="4256843"/>
          </a:xfrm>
          <a:prstGeom prst="rect">
            <a:avLst/>
          </a:prstGeom>
          <a:noFill/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8D1301-C874-EF7C-D61B-AF5DDF72EDE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610600" y="6356350"/>
            <a:ext cx="27432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6684DFB-8BCD-4B6F-9AA1-83F3BA61DF41}" type="slidenum">
              <a:rPr lang="en-US" smtClean="0"/>
              <a:pPr>
                <a:spcAft>
                  <a:spcPts val="600"/>
                </a:spcAft>
              </a:pPr>
              <a:t>21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D345FCF-E1D6-8D9C-67C7-C51F6820AA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1585" y="1626050"/>
            <a:ext cx="7298113" cy="4500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7010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FEFD92-2199-EB9E-18FB-8BCC33016E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about untargeted attacks?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13E34C-1374-ACD8-00E7-029752D7E47F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en-US"/>
              <a:t>APSO is a stochastic process runs until image has been poisoned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6DC077-90D3-FB80-0E42-82D611E03A2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22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C6CD3A0-2812-ED5D-C5E9-9FEABB9FA6F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311"/>
          <a:stretch>
            <a:fillRect/>
          </a:stretch>
        </p:blipFill>
        <p:spPr>
          <a:xfrm>
            <a:off x="2509607" y="2582667"/>
            <a:ext cx="6963577" cy="3360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10951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EF7E41-64AD-80A3-8C88-B6D05620C7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B57A05-B698-0B69-E854-086AF981D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One Problem, Four Parts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17D6DA-D6BC-1E91-EC92-CE08B6AEE41F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125183" y="4646762"/>
            <a:ext cx="2803075" cy="1459669"/>
          </a:xfrm>
        </p:spPr>
        <p:txBody>
          <a:bodyPr>
            <a:normAutofit/>
          </a:bodyPr>
          <a:lstStyle/>
          <a:p>
            <a:pPr marL="457200" lvl="1" indent="0" algn="ctr">
              <a:buNone/>
            </a:pPr>
            <a:r>
              <a:rPr lang="en-US">
                <a:latin typeface="+mn-lt"/>
              </a:rPr>
              <a:t>Understanding deployed model vulnerability.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75F9ED-CE44-3000-D8F0-97870F403B1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23</a:t>
            </a:fld>
            <a:endParaRPr lang="en-US"/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8A10F365-9E31-CF7E-73A2-44552A8F3C6B}"/>
              </a:ext>
            </a:extLst>
          </p:cNvPr>
          <p:cNvGraphicFramePr/>
          <p:nvPr/>
        </p:nvGraphicFramePr>
        <p:xfrm>
          <a:off x="952499" y="2667000"/>
          <a:ext cx="9550400" cy="211182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1FE5C081-C3D7-E7C2-F10D-F60F842E5D6B}"/>
              </a:ext>
            </a:extLst>
          </p:cNvPr>
          <p:cNvSpPr txBox="1"/>
          <p:nvPr/>
        </p:nvSpPr>
        <p:spPr>
          <a:xfrm>
            <a:off x="2994928" y="1890949"/>
            <a:ext cx="280307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/>
            <a:r>
              <a:rPr lang="en-US" sz="2400" b="1" dirty="0"/>
              <a:t>What happens to the network after pruning?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BDD397-FFE0-90FF-772E-7BECD618B76B}"/>
              </a:ext>
            </a:extLst>
          </p:cNvPr>
          <p:cNvSpPr txBox="1"/>
          <p:nvPr/>
        </p:nvSpPr>
        <p:spPr>
          <a:xfrm>
            <a:off x="5010603" y="4536771"/>
            <a:ext cx="340995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/>
            <a:r>
              <a:rPr lang="en-US" sz="2400"/>
              <a:t>Can we change the structure of a network for better resource efficiency?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3EE5F6B-0CAE-8A13-473D-9F115501BF98}"/>
              </a:ext>
            </a:extLst>
          </p:cNvPr>
          <p:cNvSpPr txBox="1"/>
          <p:nvPr/>
        </p:nvSpPr>
        <p:spPr>
          <a:xfrm>
            <a:off x="7795533" y="1521618"/>
            <a:ext cx="3167742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/>
            <a:r>
              <a:rPr lang="en-US" sz="2400"/>
              <a:t>How safe and deployable are resource efficient neural networks?</a:t>
            </a:r>
          </a:p>
        </p:txBody>
      </p:sp>
    </p:spTree>
    <p:extLst>
      <p:ext uri="{BB962C8B-B14F-4D97-AF65-F5344CB8AC3E}">
        <p14:creationId xmlns:p14="http://schemas.microsoft.com/office/powerpoint/2010/main" val="15248447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A3ABFB-204E-6CA7-E910-A6CC1DC380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3627" y="307321"/>
            <a:ext cx="10843261" cy="869089"/>
          </a:xfrm>
        </p:spPr>
        <p:txBody>
          <a:bodyPr>
            <a:normAutofit/>
          </a:bodyPr>
          <a:lstStyle/>
          <a:p>
            <a:r>
              <a:rPr lang="en-US"/>
              <a:t>Network Efficiency 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B7D924C-2E7A-32E2-2C7F-A8AD28E2FBB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24</a:t>
            </a:fld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54B2A1BD-0815-8C85-4164-CF7E3E4DB12B}"/>
              </a:ext>
            </a:extLst>
          </p:cNvPr>
          <p:cNvGrpSpPr/>
          <p:nvPr/>
        </p:nvGrpSpPr>
        <p:grpSpPr>
          <a:xfrm>
            <a:off x="427161" y="2476738"/>
            <a:ext cx="3383280" cy="2492990"/>
            <a:chOff x="566928" y="1600200"/>
            <a:chExt cx="3383280" cy="2492990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8E11A23-09F9-9BD5-4701-A57A85829B57}"/>
                </a:ext>
              </a:extLst>
            </p:cNvPr>
            <p:cNvSpPr txBox="1"/>
            <p:nvPr/>
          </p:nvSpPr>
          <p:spPr>
            <a:xfrm>
              <a:off x="566928" y="1600200"/>
              <a:ext cx="3383280" cy="2492990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pPr algn="ctr"/>
              <a:r>
                <a:rPr lang="en-US" sz="2000" b="1" dirty="0"/>
                <a:t>Investigation</a:t>
              </a:r>
            </a:p>
            <a:p>
              <a:pPr algn="ctr"/>
              <a:endParaRPr lang="en-US" sz="2000" b="1"/>
            </a:p>
            <a:p>
              <a:pPr algn="ctr"/>
              <a:endParaRPr lang="en-US" sz="2000" b="1"/>
            </a:p>
            <a:p>
              <a:pPr algn="ctr"/>
              <a:endParaRPr lang="en-US" sz="2000" b="1"/>
            </a:p>
            <a:p>
              <a:pPr algn="ctr"/>
              <a:endParaRPr lang="en-US" sz="2000" b="1"/>
            </a:p>
            <a:p>
              <a:pPr algn="ctr"/>
              <a:endParaRPr lang="en-US" sz="2000" b="1"/>
            </a:p>
            <a:p>
              <a:pPr algn="ctr"/>
              <a:endParaRPr lang="en-US" sz="2000" b="1"/>
            </a:p>
            <a:p>
              <a:pPr algn="ctr"/>
              <a:r>
                <a:rPr lang="en-US" sz="1600" dirty="0"/>
                <a:t>Resource Optimization</a:t>
              </a:r>
              <a:endParaRPr lang="en-US" dirty="0" err="1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634505C2-C28D-A7F1-08C3-44F34FAB778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artisticPhotocopy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1687068" y="2342912"/>
              <a:ext cx="1143000" cy="114300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D3356B56-9620-7107-3620-A666A553B93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019300" y="2635669"/>
              <a:ext cx="810768" cy="810768"/>
            </a:xfrm>
            <a:prstGeom prst="rect">
              <a:avLst/>
            </a:prstGeom>
          </p:spPr>
        </p:pic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03587F45-9DFE-4457-A1A9-0A58793C4F89}"/>
              </a:ext>
            </a:extLst>
          </p:cNvPr>
          <p:cNvSpPr txBox="1"/>
          <p:nvPr/>
        </p:nvSpPr>
        <p:spPr>
          <a:xfrm>
            <a:off x="3512861" y="1441407"/>
            <a:ext cx="8462322" cy="52322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lvl="1" algn="ctr"/>
            <a:r>
              <a:rPr lang="en-US" sz="2800" b="1"/>
              <a:t>What happens to the network after pruning?</a:t>
            </a:r>
            <a:endParaRPr lang="en-US" sz="2800" b="1">
              <a:ea typeface="Roboto"/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825D7B1-45B6-8323-231B-7CBC98C4330E}"/>
              </a:ext>
            </a:extLst>
          </p:cNvPr>
          <p:cNvGrpSpPr/>
          <p:nvPr/>
        </p:nvGrpSpPr>
        <p:grpSpPr>
          <a:xfrm>
            <a:off x="3966061" y="2238493"/>
            <a:ext cx="8225939" cy="4090737"/>
            <a:chOff x="3966061" y="1171522"/>
            <a:chExt cx="8225939" cy="4090737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7394CAFF-03D8-A51F-D697-CBDA4545361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966061" y="1171522"/>
              <a:ext cx="8225939" cy="4090737"/>
            </a:xfrm>
            <a:prstGeom prst="rect">
              <a:avLst/>
            </a:prstGeom>
          </p:spPr>
        </p:pic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A1CE1628-80F8-A093-95EB-C9C277DE718D}"/>
                </a:ext>
              </a:extLst>
            </p:cNvPr>
            <p:cNvGrpSpPr/>
            <p:nvPr/>
          </p:nvGrpSpPr>
          <p:grpSpPr>
            <a:xfrm>
              <a:off x="6758865" y="2476738"/>
              <a:ext cx="2640330" cy="742712"/>
              <a:chOff x="6758865" y="2476738"/>
              <a:chExt cx="2640330" cy="742712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CC77B302-6A95-CF04-466A-438B1D0ED714}"/>
                  </a:ext>
                </a:extLst>
              </p:cNvPr>
              <p:cNvSpPr/>
              <p:nvPr/>
            </p:nvSpPr>
            <p:spPr>
              <a:xfrm>
                <a:off x="6758865" y="2720340"/>
                <a:ext cx="2640330" cy="49911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D870AC9-BFDF-8F30-3693-9704DB900841}"/>
                  </a:ext>
                </a:extLst>
              </p:cNvPr>
              <p:cNvSpPr/>
              <p:nvPr/>
            </p:nvSpPr>
            <p:spPr>
              <a:xfrm>
                <a:off x="7744022" y="2476738"/>
                <a:ext cx="1032510" cy="49911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693438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6739FD-1F91-F4B7-EFB4-78E60A572B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anchor="ctr">
            <a:normAutofit/>
          </a:bodyPr>
          <a:lstStyle/>
          <a:p>
            <a:r>
              <a:rPr lang="en-US"/>
              <a:t>Unstructured pruning with IMP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D70CE5-47C5-3D54-E713-D78E1C26F940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811960" y="2196895"/>
            <a:ext cx="5139690" cy="3073692"/>
          </a:xfrm>
        </p:spPr>
        <p:txBody>
          <a:bodyPr>
            <a:normAutofit/>
          </a:bodyPr>
          <a:lstStyle/>
          <a:p>
            <a:pPr marL="971550" lvl="1" indent="-514350">
              <a:lnSpc>
                <a:spcPct val="90000"/>
              </a:lnSpc>
              <a:buAutoNum type="arabicPeriod"/>
            </a:pPr>
            <a:r>
              <a:rPr lang="en-US" sz="2800"/>
              <a:t>Train the network</a:t>
            </a:r>
          </a:p>
          <a:p>
            <a:pPr marL="971550" lvl="1" indent="-514350">
              <a:lnSpc>
                <a:spcPct val="90000"/>
              </a:lnSpc>
              <a:buAutoNum type="arabicPeriod"/>
            </a:pPr>
            <a:r>
              <a:rPr lang="en-US" sz="2800"/>
              <a:t>Saves the weights</a:t>
            </a:r>
          </a:p>
          <a:p>
            <a:pPr marL="971550" lvl="1" indent="-514350">
              <a:lnSpc>
                <a:spcPct val="90000"/>
              </a:lnSpc>
              <a:buAutoNum type="arabicPeriod"/>
            </a:pPr>
            <a:r>
              <a:rPr lang="en-US" sz="2800"/>
              <a:t>Continues training</a:t>
            </a:r>
          </a:p>
          <a:p>
            <a:pPr marL="971550" lvl="1" indent="-514350">
              <a:lnSpc>
                <a:spcPct val="90000"/>
              </a:lnSpc>
              <a:buAutoNum type="arabicPeriod"/>
            </a:pPr>
            <a:r>
              <a:rPr lang="en-US" sz="2800"/>
              <a:t>Removes unneeded weights</a:t>
            </a:r>
          </a:p>
          <a:p>
            <a:pPr marL="971550" lvl="1" indent="-514350">
              <a:lnSpc>
                <a:spcPct val="90000"/>
              </a:lnSpc>
              <a:buAutoNum type="arabicPeriod"/>
            </a:pPr>
            <a:r>
              <a:rPr lang="en-US" sz="2800"/>
              <a:t>Reset remaining weights to (2)</a:t>
            </a:r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208A997-140F-0074-5EDA-5E21C3A3BA14}"/>
              </a:ext>
            </a:extLst>
          </p:cNvPr>
          <p:cNvGrpSpPr/>
          <p:nvPr/>
        </p:nvGrpSpPr>
        <p:grpSpPr>
          <a:xfrm>
            <a:off x="240350" y="1395866"/>
            <a:ext cx="6382427" cy="4675750"/>
            <a:chOff x="2611225" y="1696825"/>
            <a:chExt cx="6127422" cy="4364610"/>
          </a:xfrm>
        </p:grpSpPr>
        <p:pic>
          <p:nvPicPr>
            <p:cNvPr id="5" name="Graphic 4">
              <a:extLst>
                <a:ext uri="{FF2B5EF4-FFF2-40B4-BE49-F238E27FC236}">
                  <a16:creationId xmlns:a16="http://schemas.microsoft.com/office/drawing/2014/main" id="{3F16B819-71CD-3516-4AD4-5158B4C649B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l="722" t="3436" r="54749" b="42385"/>
            <a:stretch>
              <a:fillRect/>
            </a:stretch>
          </p:blipFill>
          <p:spPr>
            <a:xfrm>
              <a:off x="2611225" y="1696825"/>
              <a:ext cx="6127422" cy="4364610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1D788D2-80CC-D4D0-9DB9-7A3966BD3812}"/>
                </a:ext>
              </a:extLst>
            </p:cNvPr>
            <p:cNvSpPr/>
            <p:nvPr/>
          </p:nvSpPr>
          <p:spPr>
            <a:xfrm>
              <a:off x="2611225" y="1696825"/>
              <a:ext cx="305711" cy="22341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E227F9-853E-CE4E-5A65-9E4DA5CD6DF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119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03DB967-23FE-A722-2500-699191F34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BB2671-37ED-876B-FA19-5E47FC5F43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2500" y="2050741"/>
            <a:ext cx="11072627" cy="1650653"/>
          </a:xfrm>
        </p:spPr>
        <p:txBody>
          <a:bodyPr vert="horz" lIns="0" tIns="0" rIns="0" bIns="0" rtlCol="0" anchor="t">
            <a:noAutofit/>
          </a:bodyPr>
          <a:lstStyle/>
          <a:p>
            <a:r>
              <a:rPr lang="en-US" sz="2400" dirty="0">
                <a:latin typeface="Roboto"/>
                <a:ea typeface="Roboto"/>
                <a:cs typeface="Arial"/>
              </a:rPr>
              <a:t>How do we make these models' resource efficient?</a:t>
            </a:r>
          </a:p>
          <a:p>
            <a:pPr lvl="1"/>
            <a:r>
              <a:rPr lang="en-US" dirty="0">
                <a:latin typeface="Roboto"/>
                <a:ea typeface="Roboto"/>
                <a:cs typeface="Arial"/>
              </a:rPr>
              <a:t>Neural Network Pruning &amp; Sparse Matrix representation</a:t>
            </a:r>
          </a:p>
          <a:p>
            <a:endParaRPr lang="en-US" sz="2400" dirty="0"/>
          </a:p>
          <a:p>
            <a:r>
              <a:rPr lang="en-US" sz="2400" dirty="0">
                <a:latin typeface="Roboto"/>
                <a:ea typeface="Roboto"/>
                <a:cs typeface="Arial"/>
              </a:rPr>
              <a:t>Initial lit review showed a speed up after 60% sparsity, we did not see it.</a:t>
            </a:r>
          </a:p>
          <a:p>
            <a:pPr lvl="1"/>
            <a:r>
              <a:rPr lang="en-US" dirty="0">
                <a:latin typeface="Roboto"/>
                <a:ea typeface="Roboto"/>
                <a:cs typeface="Arial"/>
              </a:rPr>
              <a:t>Need for specialized kernel calls on specialized hardware</a:t>
            </a:r>
          </a:p>
          <a:p>
            <a:pPr marL="914400" lvl="2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E78F45-CE7B-32F0-C6B0-119463AF10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26</a:t>
            </a:fld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C302E080-BBB2-3656-252F-CEB1BC97A839}"/>
              </a:ext>
            </a:extLst>
          </p:cNvPr>
          <p:cNvSpPr txBox="1">
            <a:spLocks/>
          </p:cNvSpPr>
          <p:nvPr/>
        </p:nvSpPr>
        <p:spPr>
          <a:xfrm>
            <a:off x="952500" y="385436"/>
            <a:ext cx="10287000" cy="1331865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Related Works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1E792F0-933D-A675-67D0-7B336C92FF7C}"/>
              </a:ext>
            </a:extLst>
          </p:cNvPr>
          <p:cNvGrpSpPr/>
          <p:nvPr/>
        </p:nvGrpSpPr>
        <p:grpSpPr>
          <a:xfrm>
            <a:off x="1835160" y="4535774"/>
            <a:ext cx="7924800" cy="1562237"/>
            <a:chOff x="757646" y="3930614"/>
            <a:chExt cx="7924800" cy="1562237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73FDE9FC-57D7-7587-FD00-FFBFA985D6A0}"/>
                </a:ext>
              </a:extLst>
            </p:cNvPr>
            <p:cNvSpPr/>
            <p:nvPr/>
          </p:nvSpPr>
          <p:spPr>
            <a:xfrm>
              <a:off x="757646" y="3930614"/>
              <a:ext cx="7924800" cy="1562237"/>
            </a:xfrm>
            <a:prstGeom prst="rect">
              <a:avLst/>
            </a:prstGeom>
            <a:noFill/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A1249491-5A6A-6165-254D-81B2FFFB4830}"/>
                </a:ext>
              </a:extLst>
            </p:cNvPr>
            <p:cNvSpPr txBox="1"/>
            <p:nvPr/>
          </p:nvSpPr>
          <p:spPr>
            <a:xfrm>
              <a:off x="1049202" y="4052287"/>
              <a:ext cx="7628758" cy="1384995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lvl="0" algn="ctr" rtl="0"/>
              <a:r>
                <a:rPr lang="en-US" sz="2800" b="1" u="sng" baseline="0" dirty="0">
                  <a:latin typeface="Roboto"/>
                  <a:ea typeface="Arial"/>
                  <a:cs typeface="Arial"/>
                </a:rPr>
                <a:t>Where is the sparsity occurring?</a:t>
              </a:r>
              <a:r>
                <a:rPr lang="en-US" sz="2800" dirty="0">
                  <a:latin typeface="Roboto"/>
                  <a:ea typeface="Arial"/>
                  <a:cs typeface="Arial"/>
                </a:rPr>
                <a:t>​</a:t>
              </a:r>
              <a:endParaRPr lang="en-US" sz="2800" dirty="0">
                <a:ea typeface="Roboto"/>
              </a:endParaRPr>
            </a:p>
            <a:p>
              <a:pPr lvl="0" algn="ctr" rtl="0"/>
              <a:r>
                <a:rPr lang="en-US" sz="2800" b="1" u="sng" baseline="0" dirty="0">
                  <a:latin typeface="Roboto"/>
                  <a:ea typeface="Arial"/>
                  <a:cs typeface="Arial"/>
                </a:rPr>
                <a:t>What was happening inside these pruned models. </a:t>
              </a:r>
              <a:r>
                <a:rPr lang="en-US" sz="2800" dirty="0">
                  <a:latin typeface="Roboto"/>
                  <a:ea typeface="Segoe UI"/>
                  <a:cs typeface="Arial"/>
                </a:rPr>
                <a:t>​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091177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B67C715-D99A-39D2-0685-A209037CAB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583C27-CB03-28A6-EAF7-A38E5EBAB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Related 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471ECD-CD93-C24D-72EB-7DB583F92E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0" tIns="0" rIns="0" bIns="0" rtlCol="0" anchor="t">
            <a:normAutofit/>
          </a:bodyPr>
          <a:lstStyle/>
          <a:p>
            <a:r>
              <a:rPr lang="en-US" sz="2400">
                <a:latin typeface="Roboto"/>
                <a:ea typeface="Roboto"/>
                <a:cs typeface="Arial"/>
              </a:rPr>
              <a:t>Large networks are expensive in compute, memory, and energy.</a:t>
            </a:r>
          </a:p>
          <a:p>
            <a:r>
              <a:rPr lang="en-US" sz="2400">
                <a:latin typeface="Roboto"/>
                <a:ea typeface="Roboto"/>
                <a:cs typeface="Arial"/>
              </a:rPr>
              <a:t>Pruning creates a highly sparse representation of a model that theoretically can be more resource efficient.</a:t>
            </a:r>
          </a:p>
          <a:p>
            <a:pPr lvl="1"/>
            <a:r>
              <a:rPr lang="en-US" sz="2000">
                <a:latin typeface="Roboto"/>
                <a:ea typeface="Roboto"/>
                <a:cs typeface="Arial"/>
              </a:rPr>
              <a:t>These sparse models are not smaller.</a:t>
            </a:r>
          </a:p>
          <a:p>
            <a:pPr lvl="1"/>
            <a:r>
              <a:rPr lang="en-US" sz="2000">
                <a:latin typeface="Roboto"/>
                <a:ea typeface="Roboto"/>
                <a:cs typeface="Arial"/>
              </a:rPr>
              <a:t>The weights are just set to zero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E5D5EC-0C01-40FE-D875-04FD42C617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44161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14AA2D-5B42-5710-0A15-ED7BDC6C3BC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28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1CF37D09-F49C-33B8-633B-4A5EABD8E876}"/>
              </a:ext>
            </a:extLst>
          </p:cNvPr>
          <p:cNvSpPr txBox="1">
            <a:spLocks/>
          </p:cNvSpPr>
          <p:nvPr/>
        </p:nvSpPr>
        <p:spPr>
          <a:xfrm>
            <a:off x="1826732" y="3051966"/>
            <a:ext cx="8532627" cy="75884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–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ctr">
              <a:buNone/>
            </a:pPr>
            <a:r>
              <a:rPr lang="en-US" sz="3200" b="1">
                <a:latin typeface="Roboto"/>
                <a:ea typeface="Roboto"/>
                <a:cs typeface="Arial"/>
              </a:rPr>
              <a:t>What happens to the network after pruning?</a:t>
            </a:r>
          </a:p>
        </p:txBody>
      </p:sp>
    </p:spTree>
    <p:extLst>
      <p:ext uri="{BB962C8B-B14F-4D97-AF65-F5344CB8AC3E}">
        <p14:creationId xmlns:p14="http://schemas.microsoft.com/office/powerpoint/2010/main" val="25496185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E09B89-A89B-A0CD-7734-F2E6C8631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anchor="ctr">
            <a:normAutofit/>
          </a:bodyPr>
          <a:lstStyle/>
          <a:p>
            <a:r>
              <a:rPr lang="en-US"/>
              <a:t>Models/Datasets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22940147-3A6C-897A-E7EE-5F396A320A51}"/>
              </a:ext>
            </a:extLst>
          </p:cNvPr>
          <p:cNvPicPr>
            <a:picLocks noGrp="1" noChangeAspect="1"/>
          </p:cNvPicPr>
          <p:nvPr>
            <p:ph idx="10"/>
          </p:nvPr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36668" y="1700692"/>
            <a:ext cx="9118662" cy="4494198"/>
          </a:xfr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9A33FA-425F-A91B-FC1C-2D934AC2D2B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29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BC5558D-E8DA-C291-3AA5-7A41EC0148D1}"/>
              </a:ext>
            </a:extLst>
          </p:cNvPr>
          <p:cNvSpPr/>
          <p:nvPr/>
        </p:nvSpPr>
        <p:spPr>
          <a:xfrm>
            <a:off x="5681610" y="1602769"/>
            <a:ext cx="4037743" cy="1448656"/>
          </a:xfrm>
          <a:prstGeom prst="rect">
            <a:avLst/>
          </a:prstGeom>
          <a:noFill/>
          <a:ln w="19050">
            <a:solidFill>
              <a:srgbClr val="FFCD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Block Arc 3">
            <a:extLst>
              <a:ext uri="{FF2B5EF4-FFF2-40B4-BE49-F238E27FC236}">
                <a16:creationId xmlns:a16="http://schemas.microsoft.com/office/drawing/2014/main" id="{CB4DF110-D1DE-53E7-6B6F-AF44CD242A12}"/>
              </a:ext>
            </a:extLst>
          </p:cNvPr>
          <p:cNvSpPr/>
          <p:nvPr/>
        </p:nvSpPr>
        <p:spPr>
          <a:xfrm>
            <a:off x="6405612" y="1312064"/>
            <a:ext cx="851838" cy="569089"/>
          </a:xfrm>
          <a:prstGeom prst="blockArc">
            <a:avLst>
              <a:gd name="adj1" fmla="val 10875960"/>
              <a:gd name="adj2" fmla="val 21519074"/>
              <a:gd name="adj3" fmla="val 14832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Block Arc 5">
            <a:extLst>
              <a:ext uri="{FF2B5EF4-FFF2-40B4-BE49-F238E27FC236}">
                <a16:creationId xmlns:a16="http://schemas.microsoft.com/office/drawing/2014/main" id="{5712FF5E-0E77-7F53-1890-5F1B6E7CDBCA}"/>
              </a:ext>
            </a:extLst>
          </p:cNvPr>
          <p:cNvSpPr/>
          <p:nvPr/>
        </p:nvSpPr>
        <p:spPr>
          <a:xfrm>
            <a:off x="7274562" y="1312063"/>
            <a:ext cx="851838" cy="569089"/>
          </a:xfrm>
          <a:prstGeom prst="blockArc">
            <a:avLst>
              <a:gd name="adj1" fmla="val 10875960"/>
              <a:gd name="adj2" fmla="val 21519074"/>
              <a:gd name="adj3" fmla="val 14832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Block Arc 6">
            <a:extLst>
              <a:ext uri="{FF2B5EF4-FFF2-40B4-BE49-F238E27FC236}">
                <a16:creationId xmlns:a16="http://schemas.microsoft.com/office/drawing/2014/main" id="{543A9F5D-17BF-8170-4071-5F5DFF984D7E}"/>
              </a:ext>
            </a:extLst>
          </p:cNvPr>
          <p:cNvSpPr/>
          <p:nvPr/>
        </p:nvSpPr>
        <p:spPr>
          <a:xfrm>
            <a:off x="8126400" y="1312062"/>
            <a:ext cx="851838" cy="569089"/>
          </a:xfrm>
          <a:prstGeom prst="blockArc">
            <a:avLst>
              <a:gd name="adj1" fmla="val 10875960"/>
              <a:gd name="adj2" fmla="val 21519074"/>
              <a:gd name="adj3" fmla="val 14832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14768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4" grpId="0" animBg="1"/>
      <p:bldP spid="6" grpId="0" animBg="1"/>
      <p:bldP spid="7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3CE324-3D19-4C63-125B-B4A9FB69B0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Preferential Pruning of Deep Layers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C22065-97ED-BACC-37CE-FDA617A2B2F4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en-US" dirty="0"/>
              <a:t>Later stages are pruned more than early stages. 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This pattern emerges early in the unstructured pruning process. 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2C6F0CB-B35C-E638-42C2-349167108A1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2111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CE7E71-4C94-F22E-F3EA-6B299B9C5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747302-CD83-C40B-ED63-662298913D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Preferential Pruning of Deep Layers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90B4B6E0-CD59-256F-AEA3-34956EC37BD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50443" b="52294"/>
          <a:stretch>
            <a:fillRect/>
          </a:stretch>
        </p:blipFill>
        <p:spPr>
          <a:xfrm>
            <a:off x="3690107" y="1395866"/>
            <a:ext cx="8203849" cy="4310977"/>
          </a:xfrm>
          <a:prstGeom prst="rect">
            <a:avLst/>
          </a:prstGeom>
        </p:spPr>
      </p:pic>
      <p:sp>
        <p:nvSpPr>
          <p:cNvPr id="4" name="Arrow: Right 3">
            <a:extLst>
              <a:ext uri="{FF2B5EF4-FFF2-40B4-BE49-F238E27FC236}">
                <a16:creationId xmlns:a16="http://schemas.microsoft.com/office/drawing/2014/main" id="{4DF503C9-A82D-531A-238B-976839B2B3A2}"/>
              </a:ext>
            </a:extLst>
          </p:cNvPr>
          <p:cNvSpPr/>
          <p:nvPr/>
        </p:nvSpPr>
        <p:spPr>
          <a:xfrm>
            <a:off x="6419462" y="5788561"/>
            <a:ext cx="2890345" cy="16636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56C6369-8949-94BF-644E-F65ED558AB0F}"/>
              </a:ext>
            </a:extLst>
          </p:cNvPr>
          <p:cNvSpPr txBox="1"/>
          <p:nvPr/>
        </p:nvSpPr>
        <p:spPr>
          <a:xfrm>
            <a:off x="9396434" y="5702464"/>
            <a:ext cx="33002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More Network Sparse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2EC90B0-4EF3-5884-152D-2F98483BCC95}"/>
              </a:ext>
            </a:extLst>
          </p:cNvPr>
          <p:cNvSpPr txBox="1"/>
          <p:nvPr/>
        </p:nvSpPr>
        <p:spPr>
          <a:xfrm>
            <a:off x="4230600" y="5702464"/>
            <a:ext cx="33002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Less Network Sparse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873B5BC-2C99-0CA7-8B32-1DD81C87ED4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31</a:t>
            </a:fld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49C60DE-F3EA-93E7-E7FA-6DBAF72580B6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952498" y="1686757"/>
            <a:ext cx="2443845" cy="425684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Later stages are pruned more than early stages. 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This pattern emerges early in the unstructured pruning process. </a:t>
            </a:r>
          </a:p>
        </p:txBody>
      </p:sp>
    </p:spTree>
    <p:extLst>
      <p:ext uri="{BB962C8B-B14F-4D97-AF65-F5344CB8AC3E}">
        <p14:creationId xmlns:p14="http://schemas.microsoft.com/office/powerpoint/2010/main" val="26665685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/>
      <p:bldP spid="7" grpId="0"/>
      <p:bldP spid="9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B6FB29-5127-1313-B339-BCCCE0889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8" y="376909"/>
            <a:ext cx="10287001" cy="869089"/>
          </a:xfrm>
        </p:spPr>
        <p:txBody>
          <a:bodyPr>
            <a:normAutofit/>
          </a:bodyPr>
          <a:lstStyle/>
          <a:p>
            <a:r>
              <a:rPr lang="en-US"/>
              <a:t>Persistence of Sparse Neurons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54D421-77DD-3A14-0AE5-693EDB556526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 vert="horz" lIns="0" tIns="0" rIns="0" bIns="0" rtlCol="0" anchor="t">
            <a:normAutofit/>
          </a:bodyPr>
          <a:lstStyle/>
          <a:p>
            <a:r>
              <a:rPr lang="en-US" dirty="0">
                <a:latin typeface="Roboto"/>
                <a:ea typeface="Roboto"/>
                <a:cs typeface="Arial"/>
              </a:rPr>
              <a:t>Even at high sparsity's there are </a:t>
            </a:r>
            <a:r>
              <a:rPr lang="en-US" b="1" u="sng" dirty="0">
                <a:latin typeface="Roboto"/>
                <a:ea typeface="Roboto"/>
                <a:cs typeface="Arial"/>
              </a:rPr>
              <a:t>NO</a:t>
            </a:r>
            <a:r>
              <a:rPr lang="en-US" dirty="0">
                <a:latin typeface="Roboto"/>
                <a:ea typeface="Roboto"/>
                <a:cs typeface="Arial"/>
              </a:rPr>
              <a:t> Neurons that are completely removed. </a:t>
            </a:r>
          </a:p>
          <a:p>
            <a:endParaRPr lang="en-US" dirty="0"/>
          </a:p>
          <a:p>
            <a:r>
              <a:rPr lang="en-US" dirty="0">
                <a:latin typeface="Roboto"/>
                <a:ea typeface="Roboto"/>
                <a:cs typeface="Arial"/>
              </a:rPr>
              <a:t>The remaining weights in a neuron undergo larger gradient updates, decreasing the probability of their future removal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A02358-CB94-3C8D-5DA2-7BB9161784E4}"/>
              </a:ext>
            </a:extLst>
          </p:cNvPr>
          <p:cNvSpPr/>
          <p:nvPr/>
        </p:nvSpPr>
        <p:spPr>
          <a:xfrm>
            <a:off x="1650124" y="5381297"/>
            <a:ext cx="367862" cy="56230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A2DDB466-0349-510E-845F-57F9DBA1CB3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46273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3" grpId="1" uiExpand="1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65B64-37C0-0CBC-D2F4-662BAF920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5F7A6E-DC41-5CB5-DFD7-E6AD9137C0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8" y="376909"/>
            <a:ext cx="10287001" cy="869089"/>
          </a:xfrm>
        </p:spPr>
        <p:txBody>
          <a:bodyPr>
            <a:normAutofit/>
          </a:bodyPr>
          <a:lstStyle/>
          <a:p>
            <a:r>
              <a:rPr lang="en-US"/>
              <a:t>Persistence of Sparse Neurons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8439084-7926-77F1-EB39-A4C2A5D0A88F}"/>
              </a:ext>
            </a:extLst>
          </p:cNvPr>
          <p:cNvGrpSpPr/>
          <p:nvPr/>
        </p:nvGrpSpPr>
        <p:grpSpPr>
          <a:xfrm>
            <a:off x="3885351" y="1381861"/>
            <a:ext cx="7927901" cy="4480989"/>
            <a:chOff x="1279161" y="1279388"/>
            <a:chExt cx="8211360" cy="4895711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680ABDCF-AFFD-A14D-7946-304640345E65}"/>
                </a:ext>
              </a:extLst>
            </p:cNvPr>
            <p:cNvGrpSpPr/>
            <p:nvPr/>
          </p:nvGrpSpPr>
          <p:grpSpPr>
            <a:xfrm>
              <a:off x="1279161" y="1648720"/>
              <a:ext cx="8211360" cy="4526379"/>
              <a:chOff x="1782081" y="4385259"/>
              <a:chExt cx="8211360" cy="4526379"/>
            </a:xfrm>
          </p:grpSpPr>
          <p:pic>
            <p:nvPicPr>
              <p:cNvPr id="5" name="Graphic 4">
                <a:extLst>
                  <a:ext uri="{FF2B5EF4-FFF2-40B4-BE49-F238E27FC236}">
                    <a16:creationId xmlns:a16="http://schemas.microsoft.com/office/drawing/2014/main" id="{1C26CACF-9EF5-BFCE-63E7-F6F741FA08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rcRect l="2797" t="65370"/>
              <a:stretch>
                <a:fillRect/>
              </a:stretch>
            </p:blipFill>
            <p:spPr>
              <a:xfrm>
                <a:off x="1782081" y="4385259"/>
                <a:ext cx="8211360" cy="4526379"/>
              </a:xfrm>
              <a:prstGeom prst="rect">
                <a:avLst/>
              </a:prstGeom>
            </p:spPr>
          </p:pic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6077E14E-AB17-B144-974C-3CB57A9CC4F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42160" y="4385260"/>
                <a:ext cx="7951281" cy="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F01CDCA-BED7-85A0-63F1-C4E2320FAF91}"/>
                </a:ext>
              </a:extLst>
            </p:cNvPr>
            <p:cNvSpPr txBox="1"/>
            <p:nvPr/>
          </p:nvSpPr>
          <p:spPr>
            <a:xfrm>
              <a:off x="4516048" y="1279388"/>
              <a:ext cx="19976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ResNet20 Cifar10</a:t>
              </a:r>
            </a:p>
          </p:txBody>
        </p:sp>
      </p:grpSp>
      <p:sp>
        <p:nvSpPr>
          <p:cNvPr id="4" name="Rectangle 3">
            <a:extLst>
              <a:ext uri="{FF2B5EF4-FFF2-40B4-BE49-F238E27FC236}">
                <a16:creationId xmlns:a16="http://schemas.microsoft.com/office/drawing/2014/main" id="{E5988771-5B95-CCC4-F911-BCC54E0EB316}"/>
              </a:ext>
            </a:extLst>
          </p:cNvPr>
          <p:cNvSpPr/>
          <p:nvPr/>
        </p:nvSpPr>
        <p:spPr>
          <a:xfrm>
            <a:off x="3772838" y="5367292"/>
            <a:ext cx="367862" cy="56230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69B6007B-D268-AE0A-5908-F46519F47382}"/>
              </a:ext>
            </a:extLst>
          </p:cNvPr>
          <p:cNvGrpSpPr/>
          <p:nvPr/>
        </p:nvGrpSpPr>
        <p:grpSpPr>
          <a:xfrm>
            <a:off x="4072036" y="5837014"/>
            <a:ext cx="7760039" cy="383472"/>
            <a:chOff x="1849819" y="5648308"/>
            <a:chExt cx="7760039" cy="383472"/>
          </a:xfrm>
        </p:grpSpPr>
        <p:sp>
          <p:nvSpPr>
            <p:cNvPr id="7" name="Arrow: Right 6">
              <a:extLst>
                <a:ext uri="{FF2B5EF4-FFF2-40B4-BE49-F238E27FC236}">
                  <a16:creationId xmlns:a16="http://schemas.microsoft.com/office/drawing/2014/main" id="{8674A3F0-0BF7-8414-0848-7E4D1FCE5D89}"/>
                </a:ext>
              </a:extLst>
            </p:cNvPr>
            <p:cNvSpPr/>
            <p:nvPr/>
          </p:nvSpPr>
          <p:spPr>
            <a:xfrm>
              <a:off x="2697454" y="5699864"/>
              <a:ext cx="5780690" cy="290891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4C6885C-A8FA-341D-DEA1-357A5BC41F38}"/>
                </a:ext>
              </a:extLst>
            </p:cNvPr>
            <p:cNvSpPr txBox="1"/>
            <p:nvPr/>
          </p:nvSpPr>
          <p:spPr>
            <a:xfrm>
              <a:off x="8558824" y="5662448"/>
              <a:ext cx="105103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/>
                <a:t>Deeper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5D81F6F-4FDC-7D9B-4418-EAB43D3743E8}"/>
                </a:ext>
              </a:extLst>
            </p:cNvPr>
            <p:cNvSpPr txBox="1"/>
            <p:nvPr/>
          </p:nvSpPr>
          <p:spPr>
            <a:xfrm>
              <a:off x="1849819" y="5648308"/>
              <a:ext cx="105103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/>
                <a:t>Earlier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93E0BF1E-DC40-D34F-001A-D453FD499BC8}"/>
              </a:ext>
            </a:extLst>
          </p:cNvPr>
          <p:cNvGrpSpPr/>
          <p:nvPr/>
        </p:nvGrpSpPr>
        <p:grpSpPr>
          <a:xfrm>
            <a:off x="2708043" y="1807440"/>
            <a:ext cx="1544478" cy="2748104"/>
            <a:chOff x="990398" y="1788438"/>
            <a:chExt cx="1544478" cy="2748104"/>
          </a:xfrm>
        </p:grpSpPr>
        <p:sp>
          <p:nvSpPr>
            <p:cNvPr id="13" name="Arrow: Up 12">
              <a:extLst>
                <a:ext uri="{FF2B5EF4-FFF2-40B4-BE49-F238E27FC236}">
                  <a16:creationId xmlns:a16="http://schemas.microsoft.com/office/drawing/2014/main" id="{450776ED-1A5E-6CEF-49B5-C550C81F06A7}"/>
                </a:ext>
              </a:extLst>
            </p:cNvPr>
            <p:cNvSpPr/>
            <p:nvPr/>
          </p:nvSpPr>
          <p:spPr>
            <a:xfrm>
              <a:off x="1534510" y="2123090"/>
              <a:ext cx="228127" cy="1996965"/>
            </a:xfrm>
            <a:prstGeom prst="up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F3A6031-1154-D52A-F425-FC39DE30F24F}"/>
                </a:ext>
              </a:extLst>
            </p:cNvPr>
            <p:cNvSpPr txBox="1"/>
            <p:nvPr/>
          </p:nvSpPr>
          <p:spPr>
            <a:xfrm>
              <a:off x="990398" y="1788438"/>
              <a:ext cx="154447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/>
                <a:t>More sparse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2B2766F7-CE99-6594-F6B2-AD03775A81B2}"/>
                </a:ext>
              </a:extLst>
            </p:cNvPr>
            <p:cNvSpPr txBox="1"/>
            <p:nvPr/>
          </p:nvSpPr>
          <p:spPr>
            <a:xfrm>
              <a:off x="990398" y="4167210"/>
              <a:ext cx="154447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/>
                <a:t>Less sparse</a:t>
              </a:r>
            </a:p>
          </p:txBody>
        </p:sp>
      </p:grpSp>
      <p:sp>
        <p:nvSpPr>
          <p:cNvPr id="20" name="Block Arc 19">
            <a:extLst>
              <a:ext uri="{FF2B5EF4-FFF2-40B4-BE49-F238E27FC236}">
                <a16:creationId xmlns:a16="http://schemas.microsoft.com/office/drawing/2014/main" id="{3B7FD258-126C-FDF7-6B9A-DD3C314E5666}"/>
              </a:ext>
            </a:extLst>
          </p:cNvPr>
          <p:cNvSpPr/>
          <p:nvPr/>
        </p:nvSpPr>
        <p:spPr>
          <a:xfrm rot="10800000">
            <a:off x="5323113" y="2865026"/>
            <a:ext cx="2305050" cy="549969"/>
          </a:xfrm>
          <a:prstGeom prst="blockArc">
            <a:avLst>
              <a:gd name="adj1" fmla="val 10875960"/>
              <a:gd name="adj2" fmla="val 0"/>
              <a:gd name="adj3" fmla="val 25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1" name="Block Arc 20">
            <a:extLst>
              <a:ext uri="{FF2B5EF4-FFF2-40B4-BE49-F238E27FC236}">
                <a16:creationId xmlns:a16="http://schemas.microsoft.com/office/drawing/2014/main" id="{BEC24FC9-A62F-1523-4C82-110BEB3B3E02}"/>
              </a:ext>
            </a:extLst>
          </p:cNvPr>
          <p:cNvSpPr/>
          <p:nvPr/>
        </p:nvSpPr>
        <p:spPr>
          <a:xfrm rot="10800000">
            <a:off x="7908364" y="2503578"/>
            <a:ext cx="2061677" cy="549945"/>
          </a:xfrm>
          <a:prstGeom prst="blockArc">
            <a:avLst>
              <a:gd name="adj1" fmla="val 10875960"/>
              <a:gd name="adj2" fmla="val 0"/>
              <a:gd name="adj3" fmla="val 25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2" name="Block Arc 21">
            <a:extLst>
              <a:ext uri="{FF2B5EF4-FFF2-40B4-BE49-F238E27FC236}">
                <a16:creationId xmlns:a16="http://schemas.microsoft.com/office/drawing/2014/main" id="{0C9FF6AD-B68C-1565-C67E-A2AAA784BB70}"/>
              </a:ext>
            </a:extLst>
          </p:cNvPr>
          <p:cNvSpPr/>
          <p:nvPr/>
        </p:nvSpPr>
        <p:spPr>
          <a:xfrm rot="10800000">
            <a:off x="10319461" y="2143765"/>
            <a:ext cx="1242527" cy="549910"/>
          </a:xfrm>
          <a:prstGeom prst="blockArc">
            <a:avLst>
              <a:gd name="adj1" fmla="val 10875960"/>
              <a:gd name="adj2" fmla="val 0"/>
              <a:gd name="adj3" fmla="val 25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8D1C094-0F23-65DC-4AE0-700EF43A14F8}"/>
              </a:ext>
            </a:extLst>
          </p:cNvPr>
          <p:cNvSpPr/>
          <p:nvPr/>
        </p:nvSpPr>
        <p:spPr>
          <a:xfrm>
            <a:off x="11264518" y="1814795"/>
            <a:ext cx="367943" cy="54991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D452F169-D072-70ED-FC02-25ED1EA0B83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33</a:t>
            </a:fld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1A54202-82D1-6E4F-0090-1FE8E3B63F8E}"/>
              </a:ext>
            </a:extLst>
          </p:cNvPr>
          <p:cNvSpPr/>
          <p:nvPr/>
        </p:nvSpPr>
        <p:spPr>
          <a:xfrm>
            <a:off x="9960780" y="2791427"/>
            <a:ext cx="414330" cy="112956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A9114DF-2252-87B2-41E4-DCA10E635880}"/>
              </a:ext>
            </a:extLst>
          </p:cNvPr>
          <p:cNvSpPr/>
          <p:nvPr/>
        </p:nvSpPr>
        <p:spPr>
          <a:xfrm>
            <a:off x="7703239" y="2865026"/>
            <a:ext cx="414330" cy="112956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FA11A7-186F-CB88-3A46-9708D2BD92F2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189668" y="1686757"/>
            <a:ext cx="2782287" cy="4256843"/>
          </a:xfrm>
        </p:spPr>
        <p:txBody>
          <a:bodyPr vert="horz" lIns="0" tIns="0" rIns="0" bIns="0" rtlCol="0" anchor="t">
            <a:noAutofit/>
          </a:bodyPr>
          <a:lstStyle/>
          <a:p>
            <a:r>
              <a:rPr lang="en-US" sz="2400" dirty="0">
                <a:latin typeface="Roboto"/>
                <a:ea typeface="Roboto"/>
                <a:cs typeface="Arial"/>
              </a:rPr>
              <a:t>There are </a:t>
            </a:r>
            <a:r>
              <a:rPr lang="en-US" sz="2400" b="1" u="sng" dirty="0">
                <a:latin typeface="Roboto"/>
                <a:ea typeface="Roboto"/>
                <a:cs typeface="Arial"/>
              </a:rPr>
              <a:t>NO</a:t>
            </a:r>
            <a:r>
              <a:rPr lang="en-US" sz="2400" dirty="0">
                <a:latin typeface="Roboto"/>
                <a:ea typeface="Roboto"/>
                <a:cs typeface="Arial"/>
              </a:rPr>
              <a:t> neurons that are completely removed. </a:t>
            </a:r>
          </a:p>
          <a:p>
            <a:pPr marL="0" indent="0">
              <a:buNone/>
            </a:pPr>
            <a:endParaRPr lang="en-US" sz="2400" dirty="0"/>
          </a:p>
          <a:p>
            <a:r>
              <a:rPr lang="en-US" sz="2400" dirty="0">
                <a:latin typeface="Roboto"/>
                <a:ea typeface="Roboto"/>
                <a:cs typeface="Arial"/>
              </a:rPr>
              <a:t>The remaining weights have larger gradients.</a:t>
            </a:r>
          </a:p>
        </p:txBody>
      </p:sp>
    </p:spTree>
    <p:extLst>
      <p:ext uri="{BB962C8B-B14F-4D97-AF65-F5344CB8AC3E}">
        <p14:creationId xmlns:p14="http://schemas.microsoft.com/office/powerpoint/2010/main" val="1799906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19" grpId="0" animBg="1"/>
      <p:bldP spid="24" grpId="0" animBg="1"/>
      <p:bldP spid="3" grpId="0" uiExpand="1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437AA3-E982-CD20-2ED1-349F0A854D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Stable Neuron-Level Sensitivity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378490-5E1A-858D-32BB-7A2533E1A67A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952499" y="1686757"/>
            <a:ext cx="5143502" cy="4256843"/>
          </a:xfrm>
        </p:spPr>
        <p:txBody>
          <a:bodyPr vert="horz" lIns="0" tIns="0" rIns="0" bIns="0" rtlCol="0" anchor="t">
            <a:normAutofit/>
          </a:bodyPr>
          <a:lstStyle/>
          <a:p>
            <a:r>
              <a:rPr lang="en-US" dirty="0">
                <a:latin typeface="Roboto"/>
                <a:ea typeface="Roboto"/>
                <a:cs typeface="Arial"/>
              </a:rPr>
              <a:t>Neuron Zeroing: Ablation study of each neuron for change in accuracy.</a:t>
            </a:r>
          </a:p>
          <a:p>
            <a:endParaRPr lang="en-US"/>
          </a:p>
          <a:p>
            <a:r>
              <a:rPr lang="en-US" dirty="0">
                <a:latin typeface="Roboto"/>
                <a:ea typeface="Roboto"/>
                <a:cs typeface="Arial"/>
              </a:rPr>
              <a:t>As stages/neurons get sparser – their impact grows.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BFF2942-3D48-4572-766F-63419D41C6D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1" r="47753"/>
          <a:stretch>
            <a:fillRect/>
          </a:stretch>
        </p:blipFill>
        <p:spPr>
          <a:xfrm>
            <a:off x="6642538" y="0"/>
            <a:ext cx="5174981" cy="6396888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FE404BE-0ABE-661A-51C0-690D84AE9F8C}"/>
              </a:ext>
            </a:extLst>
          </p:cNvPr>
          <p:cNvCxnSpPr>
            <a:cxnSpLocks/>
          </p:cNvCxnSpPr>
          <p:nvPr/>
        </p:nvCxnSpPr>
        <p:spPr>
          <a:xfrm>
            <a:off x="7493876" y="1344337"/>
            <a:ext cx="4177424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999D380E-99F5-2747-3A4E-A1A7903E452D}"/>
              </a:ext>
            </a:extLst>
          </p:cNvPr>
          <p:cNvCxnSpPr>
            <a:cxnSpLocks/>
          </p:cNvCxnSpPr>
          <p:nvPr/>
        </p:nvCxnSpPr>
        <p:spPr>
          <a:xfrm>
            <a:off x="7456705" y="3598423"/>
            <a:ext cx="424422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0FFD7678-55DF-3944-1600-C791BA76CA2F}"/>
              </a:ext>
            </a:extLst>
          </p:cNvPr>
          <p:cNvCxnSpPr>
            <a:cxnSpLocks/>
          </p:cNvCxnSpPr>
          <p:nvPr/>
        </p:nvCxnSpPr>
        <p:spPr>
          <a:xfrm>
            <a:off x="7456705" y="5638326"/>
            <a:ext cx="4214595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6BDCFC46-D060-7DF4-F51D-DE5AC1DDC3AF}"/>
              </a:ext>
            </a:extLst>
          </p:cNvPr>
          <p:cNvSpPr/>
          <p:nvPr/>
        </p:nvSpPr>
        <p:spPr>
          <a:xfrm>
            <a:off x="11000449" y="325016"/>
            <a:ext cx="817070" cy="600620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88FFC091-EF76-1D92-173A-CBFF0EEFE2DF}"/>
              </a:ext>
            </a:extLst>
          </p:cNvPr>
          <p:cNvSpPr/>
          <p:nvPr/>
        </p:nvSpPr>
        <p:spPr>
          <a:xfrm>
            <a:off x="7847294" y="5985343"/>
            <a:ext cx="2890345" cy="16636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FB10DD-EEEA-C7AB-D077-C7108C0CC26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545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1" grpId="0" animBg="1"/>
      <p:bldP spid="19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7E05C8-3508-239D-14D7-A1E09C7EA9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629901" cy="869089"/>
          </a:xfrm>
        </p:spPr>
        <p:txBody>
          <a:bodyPr>
            <a:normAutofit/>
          </a:bodyPr>
          <a:lstStyle/>
          <a:p>
            <a:r>
              <a:rPr lang="en-US"/>
              <a:t>Preservation of Feature Representations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B8334A6E-A36F-76A7-A2AC-4BB1EE955DE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35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A91DD63-371E-987D-D633-A6DE7764BC1C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969884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78DAE7-1A9D-B7D4-A8EC-AB16D1B841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C35361-3509-84FD-B810-EF8BB72F34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629901" cy="869089"/>
          </a:xfrm>
        </p:spPr>
        <p:txBody>
          <a:bodyPr>
            <a:normAutofit/>
          </a:bodyPr>
          <a:lstStyle/>
          <a:p>
            <a:r>
              <a:rPr lang="en-US"/>
              <a:t>Preservation of Feature Representations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89D8A931-4728-C223-6B4B-D425ABD114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47930" b="53819"/>
          <a:stretch>
            <a:fillRect/>
          </a:stretch>
        </p:blipFill>
        <p:spPr>
          <a:xfrm>
            <a:off x="1963617" y="1456224"/>
            <a:ext cx="8229288" cy="4086669"/>
          </a:xfrm>
          <a:prstGeom prst="rect">
            <a:avLst/>
          </a:prstGeom>
        </p:spPr>
      </p:pic>
      <p:sp>
        <p:nvSpPr>
          <p:cNvPr id="4" name="Arrow: Right 3">
            <a:extLst>
              <a:ext uri="{FF2B5EF4-FFF2-40B4-BE49-F238E27FC236}">
                <a16:creationId xmlns:a16="http://schemas.microsoft.com/office/drawing/2014/main" id="{23B91206-8C3F-9C61-BA01-E4C3B9243FF8}"/>
              </a:ext>
            </a:extLst>
          </p:cNvPr>
          <p:cNvSpPr/>
          <p:nvPr/>
        </p:nvSpPr>
        <p:spPr>
          <a:xfrm>
            <a:off x="3026980" y="5689440"/>
            <a:ext cx="6390289" cy="29089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FE051E-8DAF-AA17-F3F4-ADB9D94E8AEE}"/>
              </a:ext>
            </a:extLst>
          </p:cNvPr>
          <p:cNvSpPr txBox="1"/>
          <p:nvPr/>
        </p:nvSpPr>
        <p:spPr>
          <a:xfrm>
            <a:off x="9417269" y="5689440"/>
            <a:ext cx="20810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High sparsity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55895E-7F43-1EC0-322C-79E46E7FFF3C}"/>
              </a:ext>
            </a:extLst>
          </p:cNvPr>
          <p:cNvSpPr txBox="1"/>
          <p:nvPr/>
        </p:nvSpPr>
        <p:spPr>
          <a:xfrm>
            <a:off x="1760637" y="5660863"/>
            <a:ext cx="20810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Low sparsity</a:t>
            </a: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DB4D1941-82D3-C688-F5D7-B5327F4A7F6F}"/>
              </a:ext>
            </a:extLst>
          </p:cNvPr>
          <p:cNvSpPr/>
          <p:nvPr/>
        </p:nvSpPr>
        <p:spPr>
          <a:xfrm rot="16200000">
            <a:off x="318462" y="3282979"/>
            <a:ext cx="2279193" cy="26275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346703-00BB-A176-322B-C6BA8421BEDB}"/>
              </a:ext>
            </a:extLst>
          </p:cNvPr>
          <p:cNvSpPr txBox="1"/>
          <p:nvPr/>
        </p:nvSpPr>
        <p:spPr>
          <a:xfrm>
            <a:off x="417532" y="4583237"/>
            <a:ext cx="20810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Low </a:t>
            </a:r>
          </a:p>
          <a:p>
            <a:pPr algn="ctr"/>
            <a:r>
              <a:rPr lang="en-US" sz="1400"/>
              <a:t>similarity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59AC08A-0410-E42A-1EB4-AA1CCCC5B0FC}"/>
              </a:ext>
            </a:extLst>
          </p:cNvPr>
          <p:cNvSpPr txBox="1"/>
          <p:nvPr/>
        </p:nvSpPr>
        <p:spPr>
          <a:xfrm>
            <a:off x="417532" y="1751543"/>
            <a:ext cx="20810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High </a:t>
            </a:r>
          </a:p>
          <a:p>
            <a:pPr algn="ctr"/>
            <a:r>
              <a:rPr lang="en-US" sz="1400"/>
              <a:t>similarity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115B0B4D-5487-7DE0-14EA-1E8D0F12CDD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39294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/>
      <p:bldP spid="7" grpId="0"/>
      <p:bldP spid="8" grpId="0" animBg="1"/>
      <p:bldP spid="9" grpId="0"/>
      <p:bldP spid="10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34378E-0B45-1F42-4242-8E125B1832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43D9CA-57E1-96A5-50C4-F552AD74C1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64387" y="404918"/>
            <a:ext cx="11729544" cy="869089"/>
          </a:xfrm>
        </p:spPr>
        <p:txBody>
          <a:bodyPr>
            <a:noAutofit/>
          </a:bodyPr>
          <a:lstStyle/>
          <a:p>
            <a:pPr marL="457200" lvl="1" indent="0" algn="l">
              <a:buNone/>
            </a:pPr>
            <a:r>
              <a:rPr lang="en-US" sz="3200" b="1"/>
              <a:t>What internal changes occur when networks are pruned?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578B0A-CDAB-30F9-8A90-B6708022E3D2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>
            <a:normAutofit/>
          </a:bodyPr>
          <a:lstStyle/>
          <a:p>
            <a:r>
              <a:rPr lang="en-US"/>
              <a:t>How does unstructured pruning redistribute weights across layers/neurons?</a:t>
            </a:r>
          </a:p>
          <a:p>
            <a:pPr lvl="1"/>
            <a:r>
              <a:rPr lang="en-US"/>
              <a:t>Deeper layers get pruned more.</a:t>
            </a:r>
          </a:p>
          <a:p>
            <a:r>
              <a:rPr lang="en-US"/>
              <a:t>Do neurons get effectively removed?</a:t>
            </a:r>
          </a:p>
          <a:p>
            <a:pPr lvl="1"/>
            <a:r>
              <a:rPr lang="en-US"/>
              <a:t>No, there always exists some small weights.</a:t>
            </a:r>
          </a:p>
          <a:p>
            <a:r>
              <a:rPr lang="en-US"/>
              <a:t>How important are the remaining neurons?</a:t>
            </a:r>
          </a:p>
          <a:p>
            <a:pPr lvl="1"/>
            <a:r>
              <a:rPr lang="en-US"/>
              <a:t>Increase in importance as you go deeper into the network.</a:t>
            </a:r>
          </a:p>
          <a:p>
            <a:r>
              <a:rPr lang="en-US"/>
              <a:t>How stable are activations and representations under pruning?</a:t>
            </a:r>
          </a:p>
          <a:p>
            <a:pPr lvl="1"/>
            <a:r>
              <a:rPr lang="en-US"/>
              <a:t>Front layers have the highest feature similarity.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197867-3888-C2DF-44E6-0647816B7A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89254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FF8FB-9A13-4D46-448C-2BA13B863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happens to the network after pruning?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22FBD9-8392-E206-E02A-D28032D69F90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>
            <a:normAutofit/>
          </a:bodyPr>
          <a:lstStyle/>
          <a:p>
            <a:r>
              <a:rPr lang="en-US" dirty="0"/>
              <a:t>IMP creates a surprising amount of internal structure</a:t>
            </a:r>
          </a:p>
          <a:p>
            <a:pPr lvl="1"/>
            <a:r>
              <a:rPr lang="en-US" dirty="0"/>
              <a:t>Preferential pruning of deep layers, preservation of feature representations. </a:t>
            </a:r>
          </a:p>
          <a:p>
            <a:pPr lvl="1"/>
            <a:endParaRPr lang="en-US" dirty="0"/>
          </a:p>
          <a:p>
            <a:r>
              <a:rPr lang="en-US" dirty="0"/>
              <a:t>We can reach around 97% sparsity without drop in accuracy, but it is difficult to take advantage of the sparsity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Under review to the Journal of Applied Intelligence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DBE560-5ACF-1AB4-6592-CB996F8C01B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38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EF98021-3D95-263E-898B-29BB5272964D}"/>
              </a:ext>
            </a:extLst>
          </p:cNvPr>
          <p:cNvSpPr txBox="1"/>
          <p:nvPr/>
        </p:nvSpPr>
        <p:spPr>
          <a:xfrm>
            <a:off x="2388283" y="5782603"/>
            <a:ext cx="909721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/>
              <a:t>This work was authored by the National Renewable Energy Laboratory for the U.S. Department of Energy (DOE) under Contract No. DE-AC36-08GO28308.</a:t>
            </a:r>
          </a:p>
        </p:txBody>
      </p:sp>
    </p:spTree>
    <p:extLst>
      <p:ext uri="{BB962C8B-B14F-4D97-AF65-F5344CB8AC3E}">
        <p14:creationId xmlns:p14="http://schemas.microsoft.com/office/powerpoint/2010/main" val="3026152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7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0C96C-032B-481A-1EE0-85F234814F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727E8-4010-C359-C127-944D295D33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One Problem, Four Parts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9E10D6-C906-3CD6-7D9E-22E4ECA10B3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125183" y="4646762"/>
            <a:ext cx="2803075" cy="1459669"/>
          </a:xfrm>
        </p:spPr>
        <p:txBody>
          <a:bodyPr>
            <a:normAutofit/>
          </a:bodyPr>
          <a:lstStyle/>
          <a:p>
            <a:pPr marL="457200" lvl="1" indent="0" algn="ctr">
              <a:buNone/>
            </a:pPr>
            <a:r>
              <a:rPr lang="en-US">
                <a:latin typeface="+mn-lt"/>
              </a:rPr>
              <a:t>Understanding deployed model vulnerability.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9B1782-D317-3866-2783-782C96D6043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39</a:t>
            </a:fld>
            <a:endParaRPr lang="en-US"/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BDAA9B25-33A2-902D-BAE8-A0AFB6A5DA97}"/>
              </a:ext>
            </a:extLst>
          </p:cNvPr>
          <p:cNvGraphicFramePr/>
          <p:nvPr/>
        </p:nvGraphicFramePr>
        <p:xfrm>
          <a:off x="952499" y="2667000"/>
          <a:ext cx="9550400" cy="211182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1CD59D31-6BA3-5A40-E806-F081ABFAFCAC}"/>
              </a:ext>
            </a:extLst>
          </p:cNvPr>
          <p:cNvSpPr txBox="1"/>
          <p:nvPr/>
        </p:nvSpPr>
        <p:spPr>
          <a:xfrm>
            <a:off x="2928690" y="1800681"/>
            <a:ext cx="291374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/>
            <a:r>
              <a:rPr lang="en-US" sz="2400" dirty="0"/>
              <a:t>What happens to the network after pruning?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50A3EA3-46A1-8950-4C50-551A32D36D10}"/>
              </a:ext>
            </a:extLst>
          </p:cNvPr>
          <p:cNvSpPr txBox="1"/>
          <p:nvPr/>
        </p:nvSpPr>
        <p:spPr>
          <a:xfrm>
            <a:off x="5010603" y="4536771"/>
            <a:ext cx="3710131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/>
            <a:r>
              <a:rPr lang="en-US" sz="2400" b="1"/>
              <a:t>Can we change the structure of a network for better resource efficiency?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7C7B96E-A35F-4AF0-53E8-2B9CD7B42CA9}"/>
              </a:ext>
            </a:extLst>
          </p:cNvPr>
          <p:cNvSpPr txBox="1"/>
          <p:nvPr/>
        </p:nvSpPr>
        <p:spPr>
          <a:xfrm>
            <a:off x="7795533" y="1521618"/>
            <a:ext cx="3167742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/>
            <a:r>
              <a:rPr lang="en-US" sz="2400"/>
              <a:t>How safe and deployable are resource efficient neural networks?</a:t>
            </a:r>
          </a:p>
        </p:txBody>
      </p:sp>
    </p:spTree>
    <p:extLst>
      <p:ext uri="{BB962C8B-B14F-4D97-AF65-F5344CB8AC3E}">
        <p14:creationId xmlns:p14="http://schemas.microsoft.com/office/powerpoint/2010/main" val="240264543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ECD236-DDB7-AC7B-FE1F-6BBA7A4854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500" y="1020129"/>
            <a:ext cx="10287000" cy="683728"/>
          </a:xfrm>
        </p:spPr>
        <p:txBody>
          <a:bodyPr/>
          <a:lstStyle/>
          <a:p>
            <a:r>
              <a:rPr lang="en-US">
                <a:latin typeface="Roboto"/>
                <a:ea typeface="Roboto"/>
                <a:cs typeface="Arial"/>
              </a:rPr>
              <a:t>"Blind" Pruning vs. Structural Insight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00069-0434-7A3E-859F-DF43A9A6C1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40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7585E6-B01A-8F5D-74C4-A77AEBB892BA}"/>
              </a:ext>
            </a:extLst>
          </p:cNvPr>
          <p:cNvSpPr txBox="1"/>
          <p:nvPr/>
        </p:nvSpPr>
        <p:spPr>
          <a:xfrm>
            <a:off x="952500" y="2137277"/>
            <a:ext cx="1101634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Can we identify entire architectural blocks that are functionally redundant using only cheap, zero-shot diagnostics?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05292799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4B94D-ADF2-4009-49DE-1FE008ED60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D4EBF0-6BE5-7D03-43A6-D7DE57CB8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500" y="718876"/>
            <a:ext cx="10287000" cy="1331865"/>
          </a:xfrm>
        </p:spPr>
        <p:txBody>
          <a:bodyPr/>
          <a:lstStyle/>
          <a:p>
            <a:r>
              <a:rPr lang="en-US" dirty="0">
                <a:latin typeface="Roboto"/>
                <a:ea typeface="Roboto"/>
                <a:cs typeface="Arial"/>
              </a:rPr>
              <a:t>Zero-Shot Heuristic Profiling</a:t>
            </a:r>
            <a:endParaRPr lang="en-US" dirty="0">
              <a:cs typeface="Arial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43E603-7CAD-D2F4-1070-C17CF6788A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0" tIns="0" rIns="0" bIns="0" rtlCol="0" anchor="t">
            <a:normAutofit lnSpcReduction="10000"/>
          </a:bodyPr>
          <a:lstStyle/>
          <a:p>
            <a:r>
              <a:rPr lang="en-US" sz="2400" dirty="0">
                <a:latin typeface="Roboto"/>
                <a:ea typeface="Roboto"/>
                <a:cs typeface="Arial"/>
              </a:rPr>
              <a:t>We need to find an optimal way to identify sections of the network to remove</a:t>
            </a:r>
          </a:p>
          <a:p>
            <a:endParaRPr lang="en-US" sz="2400" dirty="0">
              <a:latin typeface="Roboto"/>
              <a:ea typeface="Roboto"/>
              <a:cs typeface="Arial"/>
            </a:endParaRPr>
          </a:p>
          <a:p>
            <a:r>
              <a:rPr lang="en-US" sz="2400" b="1" dirty="0">
                <a:latin typeface="Roboto"/>
                <a:ea typeface="Roboto"/>
                <a:cs typeface="Arial"/>
              </a:rPr>
              <a:t>The Diagnostic Tool:</a:t>
            </a:r>
          </a:p>
          <a:p>
            <a:pPr lvl="1"/>
            <a:r>
              <a:rPr lang="en-US" sz="2000" b="1" dirty="0">
                <a:latin typeface="Roboto"/>
                <a:ea typeface="Roboto"/>
                <a:cs typeface="Arial"/>
              </a:rPr>
              <a:t>Activation Variance &amp; Depth:</a:t>
            </a:r>
            <a:r>
              <a:rPr lang="en-US" sz="2000" dirty="0">
                <a:latin typeface="Roboto"/>
                <a:ea typeface="Roboto"/>
                <a:cs typeface="Arial"/>
              </a:rPr>
              <a:t> Measures the dynamic range of a layer. Low variance indicates "dead" or static features. High variance indicates important features.</a:t>
            </a:r>
          </a:p>
          <a:p>
            <a:pPr lvl="1"/>
            <a:endParaRPr lang="en-US" sz="2000" dirty="0">
              <a:latin typeface="Roboto"/>
              <a:ea typeface="Roboto"/>
              <a:cs typeface="Arial"/>
            </a:endParaRPr>
          </a:p>
          <a:p>
            <a:pPr>
              <a:buFont typeface="Arial" panose="02000000000000000000" pitchFamily="2" charset="0"/>
              <a:buChar char="•"/>
            </a:pPr>
            <a:r>
              <a:rPr lang="en-US" sz="2400" dirty="0">
                <a:latin typeface="Roboto"/>
                <a:ea typeface="Roboto"/>
                <a:cs typeface="Arial"/>
              </a:rPr>
              <a:t>Preserve the feature manifold and gradient flow while removing the computational cost of spatial filtering and non-linearities.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8B2A60-7A01-9C8C-77DF-BFE5C4D1995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60929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D6049A-84C5-C90B-AFD2-223A53299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Layer-by-Layer Collapse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3A09D1-9EBD-22CB-01F7-055FB7C1EA5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42</a:t>
            </a:fld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5445299-7690-2F6D-A3C9-C47558F5F7FF}"/>
              </a:ext>
            </a:extLst>
          </p:cNvPr>
          <p:cNvGrpSpPr/>
          <p:nvPr/>
        </p:nvGrpSpPr>
        <p:grpSpPr>
          <a:xfrm>
            <a:off x="4716379" y="4377285"/>
            <a:ext cx="7036067" cy="1600201"/>
            <a:chOff x="4716379" y="4377285"/>
            <a:chExt cx="7036067" cy="1600201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14148C18-E838-C04A-C603-E6A17BC74F2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790175" y="4645134"/>
              <a:ext cx="6792544" cy="1064502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97079D4-2517-FA11-0D26-F5B8402438C6}"/>
                </a:ext>
              </a:extLst>
            </p:cNvPr>
            <p:cNvSpPr/>
            <p:nvPr/>
          </p:nvSpPr>
          <p:spPr>
            <a:xfrm>
              <a:off x="4716379" y="4377285"/>
              <a:ext cx="7036067" cy="1600201"/>
            </a:xfrm>
            <a:prstGeom prst="rect">
              <a:avLst/>
            </a:prstGeom>
            <a:noFill/>
            <a:ln w="28575">
              <a:solidFill>
                <a:srgbClr val="FFCD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A66115DE-CB57-3497-8570-FA3E26361185}"/>
              </a:ext>
            </a:extLst>
          </p:cNvPr>
          <p:cNvGrpSpPr/>
          <p:nvPr/>
        </p:nvGrpSpPr>
        <p:grpSpPr>
          <a:xfrm>
            <a:off x="6096000" y="1480008"/>
            <a:ext cx="5656446" cy="2594231"/>
            <a:chOff x="6096000" y="1480008"/>
            <a:chExt cx="5656446" cy="2594231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092B5CC7-D7F8-8B22-0415-9A6BDD0DA53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61678"/>
            <a:stretch>
              <a:fillRect/>
            </a:stretch>
          </p:blipFill>
          <p:spPr>
            <a:xfrm>
              <a:off x="6279609" y="1546913"/>
              <a:ext cx="2572160" cy="2527326"/>
            </a:xfrm>
            <a:prstGeom prst="rect">
              <a:avLst/>
            </a:prstGeom>
          </p:spPr>
        </p:pic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F227090-C0D3-8156-21E4-687E5F48FA33}"/>
                </a:ext>
              </a:extLst>
            </p:cNvPr>
            <p:cNvSpPr/>
            <p:nvPr/>
          </p:nvSpPr>
          <p:spPr>
            <a:xfrm>
              <a:off x="6096000" y="1480008"/>
              <a:ext cx="5656446" cy="2594231"/>
            </a:xfrm>
            <a:prstGeom prst="rect">
              <a:avLst/>
            </a:prstGeom>
            <a:noFill/>
            <a:ln w="28575">
              <a:solidFill>
                <a:srgbClr val="FFCD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D9A96818-B00C-1222-541E-0E27606E18F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0914" t="9023" b="9664"/>
            <a:stretch>
              <a:fillRect/>
            </a:stretch>
          </p:blipFill>
          <p:spPr>
            <a:xfrm>
              <a:off x="10072748" y="1783054"/>
              <a:ext cx="1281052" cy="2055045"/>
            </a:xfrm>
            <a:prstGeom prst="rect">
              <a:avLst/>
            </a:prstGeom>
          </p:spPr>
        </p:pic>
        <p:sp>
          <p:nvSpPr>
            <p:cNvPr id="12" name="Arrow: Right 11">
              <a:extLst>
                <a:ext uri="{FF2B5EF4-FFF2-40B4-BE49-F238E27FC236}">
                  <a16:creationId xmlns:a16="http://schemas.microsoft.com/office/drawing/2014/main" id="{69D532B4-F9A3-78EA-A26B-D931A2C8EA8F}"/>
                </a:ext>
              </a:extLst>
            </p:cNvPr>
            <p:cNvSpPr/>
            <p:nvPr/>
          </p:nvSpPr>
          <p:spPr>
            <a:xfrm>
              <a:off x="9127607" y="2593759"/>
              <a:ext cx="669303" cy="433633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F48E6CDF-0C5A-5512-7E06-A2B716117979}"/>
              </a:ext>
            </a:extLst>
          </p:cNvPr>
          <p:cNvSpPr txBox="1"/>
          <p:nvPr/>
        </p:nvSpPr>
        <p:spPr>
          <a:xfrm>
            <a:off x="677368" y="1945273"/>
            <a:ext cx="3714161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Given a subset of adjacent layers, we collapse them into a 1x1 convolution projection feature space without changing spatial resolution, halting unnecessary expansion.</a:t>
            </a:r>
          </a:p>
          <a:p>
            <a:endParaRPr lang="en-US" sz="2400" dirty="0"/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186366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20E1DE-C71C-95DF-5ACB-4DF4EF6D41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33107" y="2763067"/>
            <a:ext cx="4925786" cy="1331865"/>
          </a:xfrm>
        </p:spPr>
        <p:txBody>
          <a:bodyPr/>
          <a:lstStyle/>
          <a:p>
            <a:r>
              <a:rPr lang="en-US"/>
              <a:t>Preliminary Results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114399-C221-72D0-B61C-D95825DDC10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334183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6A3A8-0EB8-5038-214F-7DFED6661D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Activation Variance Heuristic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B95759-1FC7-2DD3-6626-3D59CD7CC61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44</a:t>
            </a:fld>
            <a:endParaRPr lang="en-US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C10C37F4-C5A1-97C0-BDBD-AF46875A25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9257" y="2424653"/>
            <a:ext cx="5631543" cy="32932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Zero-shot diagnostic: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800100" lvl="1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Predicts “crash sites”</a:t>
            </a:r>
          </a:p>
          <a:p>
            <a:pPr marL="800100" lvl="1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No training, no gradients</a:t>
            </a:r>
          </a:p>
          <a:p>
            <a:pPr marL="800100" lvl="1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Acts like an EKG of network health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Signal interpretation: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800100" lvl="1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High variance → critical feature extraction → do not prune</a:t>
            </a:r>
          </a:p>
          <a:p>
            <a:pPr marL="800100" lvl="1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Low variance → dead / static features → safe to collapse</a:t>
            </a:r>
          </a:p>
        </p:txBody>
      </p:sp>
    </p:spTree>
    <p:extLst>
      <p:ext uri="{BB962C8B-B14F-4D97-AF65-F5344CB8AC3E}">
        <p14:creationId xmlns:p14="http://schemas.microsoft.com/office/powerpoint/2010/main" val="324113743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0272F-8D37-A224-B070-CD7AFF03E8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7534" y="2701785"/>
            <a:ext cx="5136932" cy="1323107"/>
          </a:xfrm>
        </p:spPr>
        <p:txBody>
          <a:bodyPr/>
          <a:lstStyle/>
          <a:p>
            <a:r>
              <a:rPr lang="en-US"/>
              <a:t>Legacy Architectures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5BF6AD-5996-2B37-3766-DD8D7B4B873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45</a:t>
            </a:fld>
            <a:endParaRPr lang="en-US"/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FAD21D90-7319-BE8C-E406-95CFDB6988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0900" y="3808029"/>
            <a:ext cx="6240648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lang="en-US" altLang="en-US" sz="2400" b="1" i="0" u="none" strike="noStrike" cap="none" normalizeH="0" baseline="0" dirty="0">
              <a:ln>
                <a:noFill/>
              </a:ln>
              <a:effectLst/>
              <a:latin typeface="+mj-lt"/>
              <a:ea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17929561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88EF82-2756-EB76-333D-DA282201EA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Roboto"/>
                <a:ea typeface="Roboto"/>
                <a:cs typeface="Arial"/>
              </a:rPr>
              <a:t>VGG-16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2B6188-31E8-9879-16B6-404DBEB5249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46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3FBACC9-757C-DE2E-C97C-DF08770099A8}"/>
              </a:ext>
            </a:extLst>
          </p:cNvPr>
          <p:cNvSpPr/>
          <p:nvPr/>
        </p:nvSpPr>
        <p:spPr>
          <a:xfrm>
            <a:off x="10747529" y="2143760"/>
            <a:ext cx="1196425" cy="32126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995A0CB-408C-F1B4-E479-1B7D2338A7CE}"/>
              </a:ext>
            </a:extLst>
          </p:cNvPr>
          <p:cNvSpPr/>
          <p:nvPr/>
        </p:nvSpPr>
        <p:spPr>
          <a:xfrm>
            <a:off x="10756285" y="1732103"/>
            <a:ext cx="5255" cy="41761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19A3122-106E-91F5-481E-51008F7F80A2}"/>
              </a:ext>
            </a:extLst>
          </p:cNvPr>
          <p:cNvSpPr/>
          <p:nvPr/>
        </p:nvSpPr>
        <p:spPr>
          <a:xfrm>
            <a:off x="10765046" y="1399277"/>
            <a:ext cx="1196425" cy="32126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859A734-C505-A0AB-8446-AC65271359EE}"/>
              </a:ext>
            </a:extLst>
          </p:cNvPr>
          <p:cNvSpPr/>
          <p:nvPr/>
        </p:nvSpPr>
        <p:spPr>
          <a:xfrm>
            <a:off x="11868630" y="1723343"/>
            <a:ext cx="75323" cy="42637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8DFF684A-5367-0C6F-E1E7-BEAEA38B48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0408" y="1559910"/>
            <a:ext cx="8621728" cy="4328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747426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47F274-E7EE-65B6-DE4C-86897A11B1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anchor="ctr">
            <a:normAutofit/>
          </a:bodyPr>
          <a:lstStyle/>
          <a:p>
            <a:r>
              <a:rPr lang="en-US" err="1"/>
              <a:t>InceptionNet</a:t>
            </a:r>
            <a:endParaRPr lang="en-US" dirty="0" err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78F11D-842C-1ABC-DD6A-F928987B4E3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610600" y="6356350"/>
            <a:ext cx="27432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6684DFB-8BCD-4B6F-9AA1-83F3BA61DF41}" type="slidenum">
              <a:rPr lang="en-US" smtClean="0"/>
              <a:pPr>
                <a:spcAft>
                  <a:spcPts val="600"/>
                </a:spcAft>
              </a:pPr>
              <a:t>47</a:t>
            </a:fld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9DCC15C8-0DF2-7016-9C95-C489A89DA3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499" y="2159000"/>
            <a:ext cx="10106450" cy="33275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289847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CC281-335E-E02C-EDC2-573853475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dirty="0">
                <a:latin typeface="Roboto"/>
                <a:ea typeface="Roboto"/>
                <a:cs typeface="Arial"/>
              </a:rPr>
              <a:t>Legacy Architectures </a:t>
            </a:r>
            <a:endParaRPr lang="en-US" sz="3600" dirty="0">
              <a:cs typeface="Arial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78035D-7ACB-373C-9111-E3793FC55AA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48</a:t>
            </a:fld>
            <a:endParaRPr lang="en-US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97AB5357-E20C-6F36-8063-37E5EFB00F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952500" y="2884701"/>
            <a:ext cx="9492343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en-US" sz="2400" dirty="0"/>
              <a:t>Both architectures exhibit significant structural slack in the final convolutional layers</a:t>
            </a:r>
          </a:p>
          <a:p>
            <a:pPr marL="342900" indent="-342900">
              <a:buFont typeface="Arial"/>
              <a:buChar char="•"/>
            </a:pPr>
            <a:endParaRPr lang="en-US" sz="2400" dirty="0"/>
          </a:p>
          <a:p>
            <a:pPr marL="342900" indent="-342900">
              <a:buFont typeface="Arial"/>
              <a:buChar char="•"/>
            </a:pPr>
            <a:r>
              <a:rPr lang="en-US" sz="2400" dirty="0"/>
              <a:t>In both models, stages with the lowest average activation variance consistently proved safe or beneficial to prune</a:t>
            </a:r>
          </a:p>
          <a:p>
            <a:pPr lvl="1"/>
            <a:endParaRPr lang="en-US" altLang="en-US" sz="2400" b="1" i="0" u="none" strike="noStrike" cap="none" normalizeH="0" baseline="0" dirty="0">
              <a:ln>
                <a:noFill/>
              </a:ln>
              <a:effectLst/>
              <a:latin typeface="+mj-lt"/>
              <a:ea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391730270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F156E6-B93D-3DA2-729D-37006AA70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500" y="2763095"/>
            <a:ext cx="10287000" cy="1331865"/>
          </a:xfrm>
        </p:spPr>
        <p:txBody>
          <a:bodyPr/>
          <a:lstStyle/>
          <a:p>
            <a:pPr algn="ctr"/>
            <a:r>
              <a:rPr lang="en-US" dirty="0">
                <a:latin typeface="Roboto"/>
                <a:ea typeface="Roboto"/>
                <a:cs typeface="Arial"/>
              </a:rPr>
              <a:t>Resource Efficient Networks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161548-F3D0-7166-1152-882AF4EE9CE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732389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0BEA23-D74D-523B-DC20-5A0EDBA6C0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Roboto"/>
                <a:ea typeface="Roboto"/>
                <a:cs typeface="Arial"/>
              </a:rPr>
              <a:t>MobileNet</a:t>
            </a:r>
            <a:r>
              <a:rPr lang="en-US" dirty="0">
                <a:latin typeface="Roboto"/>
                <a:ea typeface="Roboto"/>
                <a:cs typeface="Arial"/>
              </a:rPr>
              <a:t> 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85272E-BC4D-53C1-B261-89B42E3582D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50</a:t>
            </a:fld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6CAEFF0-21BB-E4E3-18CF-3E57684681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6390" y="1435100"/>
            <a:ext cx="8323070" cy="47087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660603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8E550D-6F5E-E576-942F-E7EA5DC47F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62D755-A68B-AE23-4B17-B6BCF3FF1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Roboto"/>
                <a:ea typeface="Roboto"/>
                <a:cs typeface="Arial"/>
              </a:rPr>
              <a:t>MobileNet</a:t>
            </a:r>
            <a:r>
              <a:rPr lang="en-US" dirty="0">
                <a:latin typeface="Roboto"/>
                <a:ea typeface="Roboto"/>
                <a:cs typeface="Arial"/>
              </a:rPr>
              <a:t> 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44110F-7C2F-7D04-2C55-7D8B58D429D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51</a:t>
            </a:fld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5832BA3-2FD6-69B4-0852-819CF40035D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8468"/>
          <a:stretch>
            <a:fillRect/>
          </a:stretch>
        </p:blipFill>
        <p:spPr>
          <a:xfrm>
            <a:off x="870876" y="2024743"/>
            <a:ext cx="11032636" cy="3840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615818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F46119-C5FB-A394-1A17-B4840464CB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Roboto"/>
                <a:ea typeface="Roboto"/>
                <a:cs typeface="Arial"/>
              </a:rPr>
              <a:t>Key take aways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473F5B-F640-564A-10CF-5294C523EB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0" tIns="0" rIns="0" bIns="0" rtlCol="0" anchor="t">
            <a:normAutofit/>
          </a:bodyPr>
          <a:lstStyle/>
          <a:p>
            <a:r>
              <a:rPr lang="en-US" dirty="0" err="1"/>
              <a:t>MobileNet's</a:t>
            </a:r>
            <a:r>
              <a:rPr lang="en-US" dirty="0"/>
              <a:t> variance is remarkably consistent and low, hovering between </a:t>
            </a:r>
            <a:r>
              <a:rPr lang="en-US" b="1" dirty="0"/>
              <a:t>0.20 and 0.35</a:t>
            </a:r>
            <a:r>
              <a:rPr lang="en-US" dirty="0"/>
              <a:t> across the board.</a:t>
            </a:r>
          </a:p>
          <a:p>
            <a:endParaRPr lang="en-US" dirty="0"/>
          </a:p>
          <a:p>
            <a:r>
              <a:rPr lang="en-US" dirty="0"/>
              <a:t>There is no single stage where pruning causes a disproportionate drop. Accuracy remains stable (~44–46%) for all single-stage pruning experiments.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7A243F-EE69-3FBA-8AC5-C7B89A0931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500210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CCAF64-E306-7730-FE94-F3ABE23D3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C1B81-907A-27AC-2514-D5919C05B8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One Problem, Four Parts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3A9661-1030-0E73-A7BB-416D9128A9B0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125183" y="4646762"/>
            <a:ext cx="2803075" cy="1459669"/>
          </a:xfrm>
        </p:spPr>
        <p:txBody>
          <a:bodyPr>
            <a:normAutofit/>
          </a:bodyPr>
          <a:lstStyle/>
          <a:p>
            <a:pPr marL="457200" lvl="1" indent="0" algn="ctr">
              <a:buNone/>
            </a:pPr>
            <a:r>
              <a:rPr lang="en-US">
                <a:latin typeface="+mn-lt"/>
              </a:rPr>
              <a:t>Understanding deployed model vulnerability.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2DBB41-C819-11FF-FA5F-0F40A775B24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53</a:t>
            </a:fld>
            <a:endParaRPr lang="en-US"/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A44D2987-0B1D-5044-FB06-BC414A1575C5}"/>
              </a:ext>
            </a:extLst>
          </p:cNvPr>
          <p:cNvGraphicFramePr/>
          <p:nvPr/>
        </p:nvGraphicFramePr>
        <p:xfrm>
          <a:off x="952499" y="2667000"/>
          <a:ext cx="9550400" cy="211182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2D380693-0CF9-001B-AB05-A22EB4EF1A9E}"/>
              </a:ext>
            </a:extLst>
          </p:cNvPr>
          <p:cNvSpPr txBox="1"/>
          <p:nvPr/>
        </p:nvSpPr>
        <p:spPr>
          <a:xfrm>
            <a:off x="2790145" y="1846863"/>
            <a:ext cx="316774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/>
            <a:r>
              <a:rPr lang="en-US" sz="2400"/>
              <a:t>What happens to the network after pruning?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6F3BD07-73A0-7E40-F0FA-BFD22E9EA175}"/>
              </a:ext>
            </a:extLst>
          </p:cNvPr>
          <p:cNvSpPr txBox="1"/>
          <p:nvPr/>
        </p:nvSpPr>
        <p:spPr>
          <a:xfrm>
            <a:off x="5010603" y="4536771"/>
            <a:ext cx="340995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/>
            <a:r>
              <a:rPr lang="en-US" sz="2400"/>
              <a:t>Can we change the structure of a network for better resource efficiency?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40C5129-4927-9526-A52F-C1DD18DABFCE}"/>
              </a:ext>
            </a:extLst>
          </p:cNvPr>
          <p:cNvSpPr txBox="1"/>
          <p:nvPr/>
        </p:nvSpPr>
        <p:spPr>
          <a:xfrm>
            <a:off x="7795533" y="1521618"/>
            <a:ext cx="3167742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/>
            <a:r>
              <a:rPr lang="en-US" sz="2400" b="1"/>
              <a:t>How safe and deployable are resource efficient neural networks?</a:t>
            </a:r>
          </a:p>
        </p:txBody>
      </p:sp>
    </p:spTree>
    <p:extLst>
      <p:ext uri="{BB962C8B-B14F-4D97-AF65-F5344CB8AC3E}">
        <p14:creationId xmlns:p14="http://schemas.microsoft.com/office/powerpoint/2010/main" val="406735468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E54A16-16CD-6099-A338-20C01F2D14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Where are we?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603CB4-6EC5-EE79-2DC5-295476D0A32E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Poison is more effective against architecture that it arose from</a:t>
            </a:r>
          </a:p>
          <a:p>
            <a:r>
              <a:rPr lang="en-US" dirty="0"/>
              <a:t>Poison generated from more complex defenses/architecture are more effective</a:t>
            </a:r>
          </a:p>
          <a:p>
            <a:endParaRPr lang="en-US" dirty="0"/>
          </a:p>
          <a:p>
            <a:r>
              <a:rPr lang="en-US" dirty="0"/>
              <a:t>Network pruning targets later layers but needs specialized hardware</a:t>
            </a:r>
          </a:p>
          <a:p>
            <a:endParaRPr lang="en-US" dirty="0"/>
          </a:p>
          <a:p>
            <a:r>
              <a:rPr lang="en-US" dirty="0"/>
              <a:t>You can optimize the network by utilizing LBL and Activation Variance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A518AC-A70E-91F0-9E0A-1AF85CA7627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4799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53E362-11FC-615F-808D-6621E6E35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4FE743-AC49-5A5B-987B-FF722FE572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500" y="2763067"/>
            <a:ext cx="10287000" cy="1331865"/>
          </a:xfrm>
        </p:spPr>
        <p:txBody>
          <a:bodyPr/>
          <a:lstStyle/>
          <a:p>
            <a:pPr algn="ctr"/>
            <a:r>
              <a:rPr lang="en-US" dirty="0"/>
              <a:t>How Safe and Deployable are Resource Efficient Neural Network?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5AA942-D5AE-F86F-9F3A-5670CCC426D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55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CEBE86-B100-8F07-254E-0C141420636F}"/>
              </a:ext>
            </a:extLst>
          </p:cNvPr>
          <p:cNvSpPr txBox="1"/>
          <p:nvPr/>
        </p:nvSpPr>
        <p:spPr>
          <a:xfrm>
            <a:off x="9804400" y="5892800"/>
            <a:ext cx="2578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To be Continued…</a:t>
            </a:r>
          </a:p>
        </p:txBody>
      </p:sp>
    </p:spTree>
    <p:extLst>
      <p:ext uri="{BB962C8B-B14F-4D97-AF65-F5344CB8AC3E}">
        <p14:creationId xmlns:p14="http://schemas.microsoft.com/office/powerpoint/2010/main" val="67906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1F7983-0A39-2AD7-DAE6-5AA85D79FE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6711" y="559207"/>
            <a:ext cx="10287001" cy="869089"/>
          </a:xfrm>
        </p:spPr>
        <p:txBody>
          <a:bodyPr/>
          <a:lstStyle/>
          <a:p>
            <a:r>
              <a:rPr lang="en-US"/>
              <a:t>Acknowledgements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85BD15-D213-FB58-FA53-1FAFA47B931F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06674" y="1883511"/>
            <a:ext cx="3587971" cy="109848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u="sng"/>
              <a:t>UI/Goddard Lab</a:t>
            </a:r>
            <a:endParaRPr lang="en-US" sz="240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87ADF70-85AE-3181-D06E-59990755564C}"/>
              </a:ext>
            </a:extLst>
          </p:cNvPr>
          <p:cNvSpPr txBox="1">
            <a:spLocks/>
          </p:cNvSpPr>
          <p:nvPr/>
        </p:nvSpPr>
        <p:spPr>
          <a:xfrm>
            <a:off x="449762" y="3131175"/>
            <a:ext cx="3693074" cy="108424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―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None/>
            </a:pPr>
            <a:r>
              <a:rPr lang="en-US" sz="2000"/>
              <a:t>Dr. Kevin Griffin</a:t>
            </a:r>
          </a:p>
          <a:p>
            <a:pPr marL="457200" lvl="1" indent="0">
              <a:buNone/>
            </a:pPr>
            <a:r>
              <a:rPr lang="en-US" sz="2000"/>
              <a:t>Dr. Nicholas Wimer</a:t>
            </a:r>
          </a:p>
        </p:txBody>
      </p:sp>
      <p:pic>
        <p:nvPicPr>
          <p:cNvPr id="1026" name="Picture 2" descr="National Renewable Energy Laboratory Logo">
            <a:extLst>
              <a:ext uri="{FF2B5EF4-FFF2-40B4-BE49-F238E27FC236}">
                <a16:creationId xmlns:a16="http://schemas.microsoft.com/office/drawing/2014/main" id="{0B7F3C55-C736-C738-6E7C-5C97D894528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9813" r="3856" b="9596"/>
          <a:stretch>
            <a:fillRect/>
          </a:stretch>
        </p:blipFill>
        <p:spPr bwMode="auto">
          <a:xfrm>
            <a:off x="4556619" y="5756398"/>
            <a:ext cx="2118611" cy="6311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Logos &amp; Lockups | Vanderbilt Brand Style Guide | Vanderbilt ...">
            <a:extLst>
              <a:ext uri="{FF2B5EF4-FFF2-40B4-BE49-F238E27FC236}">
                <a16:creationId xmlns:a16="http://schemas.microsoft.com/office/drawing/2014/main" id="{A84B62D9-8363-050B-A0A5-3B1DA5D837D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645" t="17012" r="1921" b="66971"/>
          <a:stretch>
            <a:fillRect/>
          </a:stretch>
        </p:blipFill>
        <p:spPr bwMode="auto">
          <a:xfrm>
            <a:off x="6675230" y="5767776"/>
            <a:ext cx="2186152" cy="6311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1F6FA30-E3EA-F95D-90E3-B8136C130FFA}"/>
              </a:ext>
            </a:extLst>
          </p:cNvPr>
          <p:cNvSpPr txBox="1">
            <a:spLocks/>
          </p:cNvSpPr>
          <p:nvPr/>
        </p:nvSpPr>
        <p:spPr>
          <a:xfrm>
            <a:off x="502313" y="5094466"/>
            <a:ext cx="3587971" cy="60939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―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None/>
            </a:pPr>
            <a:r>
              <a:rPr lang="en-US" sz="2000"/>
              <a:t>Max </a:t>
            </a:r>
            <a:r>
              <a:rPr lang="en-US" sz="2000" err="1"/>
              <a:t>Milkert</a:t>
            </a:r>
            <a:r>
              <a:rPr lang="en-US" sz="2000"/>
              <a:t> 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3293AE15-1073-9BD8-A51F-AE500F88999E}"/>
              </a:ext>
            </a:extLst>
          </p:cNvPr>
          <p:cNvSpPr txBox="1">
            <a:spLocks/>
          </p:cNvSpPr>
          <p:nvPr/>
        </p:nvSpPr>
        <p:spPr>
          <a:xfrm>
            <a:off x="3587995" y="1509679"/>
            <a:ext cx="3587971" cy="1098484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―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/>
              <a:t>Collaborators:</a:t>
            </a:r>
            <a:endParaRPr lang="en-US" sz="2400"/>
          </a:p>
          <a:p>
            <a:pPr lvl="1"/>
            <a:endParaRPr lang="en-US" sz="2000"/>
          </a:p>
        </p:txBody>
      </p:sp>
      <p:pic>
        <p:nvPicPr>
          <p:cNvPr id="1032" name="Picture 8" descr="@EpiGenomicsCode">
            <a:extLst>
              <a:ext uri="{FF2B5EF4-FFF2-40B4-BE49-F238E27FC236}">
                <a16:creationId xmlns:a16="http://schemas.microsoft.com/office/drawing/2014/main" id="{6C5E378D-BF83-3DE2-B57E-81B38E617C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49911" y="5572229"/>
            <a:ext cx="820103" cy="8201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12" descr="University Mark and Shield | Penn State Brand Book">
            <a:extLst>
              <a:ext uri="{FF2B5EF4-FFF2-40B4-BE49-F238E27FC236}">
                <a16:creationId xmlns:a16="http://schemas.microsoft.com/office/drawing/2014/main" id="{3B252371-A4BE-8FE0-E79E-45C3EDC34FF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625" t="-1098" r="32055" b="28550"/>
          <a:stretch>
            <a:fillRect/>
          </a:stretch>
        </p:blipFill>
        <p:spPr bwMode="auto">
          <a:xfrm>
            <a:off x="10879539" y="5692018"/>
            <a:ext cx="635369" cy="7226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93684CE9-AE42-F929-65E4-F457B1F9292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17327" y="5631564"/>
            <a:ext cx="1162212" cy="752580"/>
          </a:xfrm>
          <a:prstGeom prst="rect">
            <a:avLst/>
          </a:prstGeom>
        </p:spPr>
      </p:pic>
      <p:pic>
        <p:nvPicPr>
          <p:cNvPr id="1040" name="Picture 16" descr="Salem Laboratory of Advanced Drug and Gene Delivery | The University of Iowa">
            <a:extLst>
              <a:ext uri="{FF2B5EF4-FFF2-40B4-BE49-F238E27FC236}">
                <a16:creationId xmlns:a16="http://schemas.microsoft.com/office/drawing/2014/main" id="{5E5E42E3-532D-CE19-C29A-4E44E683C5E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61" t="25673" r="66177" b="19989"/>
          <a:stretch>
            <a:fillRect/>
          </a:stretch>
        </p:blipFill>
        <p:spPr bwMode="auto">
          <a:xfrm>
            <a:off x="11489066" y="5664679"/>
            <a:ext cx="702934" cy="7194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766F1646-4A53-7385-200F-628515A96087}"/>
              </a:ext>
            </a:extLst>
          </p:cNvPr>
          <p:cNvSpPr txBox="1">
            <a:spLocks/>
          </p:cNvSpPr>
          <p:nvPr/>
        </p:nvSpPr>
        <p:spPr>
          <a:xfrm>
            <a:off x="645644" y="2666710"/>
            <a:ext cx="3587971" cy="1098484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―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u="sng"/>
              <a:t>NREL</a:t>
            </a:r>
            <a:endParaRPr lang="en-US" sz="2400" u="sng"/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AB910AA8-6578-019A-477B-E21595FAC261}"/>
              </a:ext>
            </a:extLst>
          </p:cNvPr>
          <p:cNvSpPr txBox="1">
            <a:spLocks/>
          </p:cNvSpPr>
          <p:nvPr/>
        </p:nvSpPr>
        <p:spPr>
          <a:xfrm>
            <a:off x="696711" y="3816436"/>
            <a:ext cx="3587971" cy="1098484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―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u="sng"/>
              <a:t>Zazzle</a:t>
            </a:r>
            <a:endParaRPr lang="en-US" sz="2400" u="sng"/>
          </a:p>
        </p:txBody>
      </p:sp>
      <p:sp>
        <p:nvSpPr>
          <p:cNvPr id="34" name="Content Placeholder 2">
            <a:extLst>
              <a:ext uri="{FF2B5EF4-FFF2-40B4-BE49-F238E27FC236}">
                <a16:creationId xmlns:a16="http://schemas.microsoft.com/office/drawing/2014/main" id="{801BAA6F-BE28-DD9F-944B-7514E40717A5}"/>
              </a:ext>
            </a:extLst>
          </p:cNvPr>
          <p:cNvSpPr txBox="1">
            <a:spLocks/>
          </p:cNvSpPr>
          <p:nvPr/>
        </p:nvSpPr>
        <p:spPr>
          <a:xfrm>
            <a:off x="472694" y="4247156"/>
            <a:ext cx="3693074" cy="108424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―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None/>
            </a:pPr>
            <a:r>
              <a:rPr lang="en-US" sz="2000"/>
              <a:t>Dr. Charles Tripp</a:t>
            </a:r>
          </a:p>
        </p:txBody>
      </p:sp>
      <p:sp>
        <p:nvSpPr>
          <p:cNvPr id="37" name="Content Placeholder 2">
            <a:extLst>
              <a:ext uri="{FF2B5EF4-FFF2-40B4-BE49-F238E27FC236}">
                <a16:creationId xmlns:a16="http://schemas.microsoft.com/office/drawing/2014/main" id="{8287EB56-E291-2C5B-5619-AFCFF73B511C}"/>
              </a:ext>
            </a:extLst>
          </p:cNvPr>
          <p:cNvSpPr txBox="1">
            <a:spLocks/>
          </p:cNvSpPr>
          <p:nvPr/>
        </p:nvSpPr>
        <p:spPr>
          <a:xfrm>
            <a:off x="705348" y="4646143"/>
            <a:ext cx="3587971" cy="1098484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―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u="sng"/>
              <a:t>Vanderbilt U.</a:t>
            </a:r>
            <a:endParaRPr lang="en-US" sz="2400" u="sng"/>
          </a:p>
        </p:txBody>
      </p:sp>
      <p:sp>
        <p:nvSpPr>
          <p:cNvPr id="38" name="Content Placeholder 2">
            <a:extLst>
              <a:ext uri="{FF2B5EF4-FFF2-40B4-BE49-F238E27FC236}">
                <a16:creationId xmlns:a16="http://schemas.microsoft.com/office/drawing/2014/main" id="{F194564B-B8D2-1D9E-F293-5978CEF0AF21}"/>
              </a:ext>
            </a:extLst>
          </p:cNvPr>
          <p:cNvSpPr txBox="1">
            <a:spLocks/>
          </p:cNvSpPr>
          <p:nvPr/>
        </p:nvSpPr>
        <p:spPr>
          <a:xfrm>
            <a:off x="414063" y="2312968"/>
            <a:ext cx="3693074" cy="108424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―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None/>
            </a:pPr>
            <a:r>
              <a:rPr lang="en-US" sz="2000"/>
              <a:t>Dr. Steve Goddard</a:t>
            </a:r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7704F537-285D-4769-A677-861CC3DDE6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56</a:t>
            </a:fld>
            <a:endParaRPr lang="en-US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819E2BE5-4E47-02E6-BA70-14BA7287E848}"/>
              </a:ext>
            </a:extLst>
          </p:cNvPr>
          <p:cNvSpPr txBox="1">
            <a:spLocks/>
          </p:cNvSpPr>
          <p:nvPr/>
        </p:nvSpPr>
        <p:spPr>
          <a:xfrm>
            <a:off x="285062" y="1458834"/>
            <a:ext cx="3587971" cy="1098484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―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/>
              <a:t>Coauthors:</a:t>
            </a:r>
            <a:endParaRPr lang="en-US" sz="2400"/>
          </a:p>
          <a:p>
            <a:pPr lvl="1"/>
            <a:endParaRPr lang="en-US" sz="2000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C1CE69E2-70EB-2CD7-183E-1DF894853039}"/>
              </a:ext>
            </a:extLst>
          </p:cNvPr>
          <p:cNvGrpSpPr/>
          <p:nvPr/>
        </p:nvGrpSpPr>
        <p:grpSpPr>
          <a:xfrm>
            <a:off x="4002034" y="1960996"/>
            <a:ext cx="8489262" cy="2533990"/>
            <a:chOff x="4184559" y="1961887"/>
            <a:chExt cx="8489262" cy="2533990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62EA0C3B-2ADA-1451-4E89-D30F406876E0}"/>
                </a:ext>
              </a:extLst>
            </p:cNvPr>
            <p:cNvGrpSpPr/>
            <p:nvPr/>
          </p:nvGrpSpPr>
          <p:grpSpPr>
            <a:xfrm>
              <a:off x="4184559" y="1961887"/>
              <a:ext cx="8489262" cy="2533990"/>
              <a:chOff x="4029696" y="1884621"/>
              <a:chExt cx="8489262" cy="2533990"/>
            </a:xfrm>
          </p:grpSpPr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9918B5AB-C567-CDE0-2119-18B3117F2055}"/>
                  </a:ext>
                </a:extLst>
              </p:cNvPr>
              <p:cNvGrpSpPr/>
              <p:nvPr/>
            </p:nvGrpSpPr>
            <p:grpSpPr>
              <a:xfrm>
                <a:off x="4029696" y="1884621"/>
                <a:ext cx="4895434" cy="1490411"/>
                <a:chOff x="3694597" y="2089794"/>
                <a:chExt cx="4895434" cy="1490411"/>
              </a:xfrm>
            </p:grpSpPr>
            <p:sp>
              <p:nvSpPr>
                <p:cNvPr id="7" name="Content Placeholder 2">
                  <a:extLst>
                    <a:ext uri="{FF2B5EF4-FFF2-40B4-BE49-F238E27FC236}">
                      <a16:creationId xmlns:a16="http://schemas.microsoft.com/office/drawing/2014/main" id="{9C0E8F77-D49D-8F86-31CC-0650EEB7C99B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3694597" y="2089794"/>
                  <a:ext cx="4895434" cy="333885"/>
                </a:xfrm>
                <a:prstGeom prst="rect">
                  <a:avLst/>
                </a:prstGeom>
              </p:spPr>
              <p:txBody>
                <a:bodyPr vert="horz" lIns="0" tIns="0" rIns="0" bIns="0" rtlCol="0">
                  <a:noAutofit/>
                </a:bodyPr>
                <a:lstStyle>
                  <a:lvl1pPr marL="228600" indent="-228600" algn="l" defTabSz="914400" rtl="0" eaLnBrk="1" latinLnBrk="0" hangingPunct="1">
                    <a:lnSpc>
                      <a:spcPct val="100000"/>
                    </a:lnSpc>
                    <a:spcBef>
                      <a:spcPts val="1000"/>
                    </a:spcBef>
                    <a:buClr>
                      <a:schemeClr val="tx2"/>
                    </a:buClr>
                    <a:buSzPct val="95000"/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1pPr>
                  <a:lvl2pPr marL="685800" indent="-228600" algn="l" defTabSz="914400" rtl="0" eaLnBrk="1" latinLnBrk="0" hangingPunct="1">
                    <a:lnSpc>
                      <a:spcPct val="100000"/>
                    </a:lnSpc>
                    <a:spcBef>
                      <a:spcPts val="500"/>
                    </a:spcBef>
                    <a:buClr>
                      <a:schemeClr val="tx2"/>
                    </a:buClr>
                    <a:buSzPct val="100000"/>
                    <a:buFont typeface="Arial" panose="020B0604020202020204" pitchFamily="34" charset="0"/>
                    <a:buChar char="‒"/>
                    <a:defRPr sz="24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2pPr>
                  <a:lvl3pPr marL="1143000" indent="-228600" algn="l" defTabSz="914400" rtl="0" eaLnBrk="1" latinLnBrk="0" hangingPunct="1">
                    <a:lnSpc>
                      <a:spcPct val="100000"/>
                    </a:lnSpc>
                    <a:spcBef>
                      <a:spcPts val="500"/>
                    </a:spcBef>
                    <a:buClr>
                      <a:schemeClr val="tx2"/>
                    </a:buClr>
                    <a:buSzPct val="100000"/>
                    <a:buFont typeface="Roboto" panose="02000000000000000000" pitchFamily="2" charset="0"/>
                    <a:buChar char="•"/>
                    <a:defRPr sz="20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3pPr>
                  <a:lvl4pPr marL="1600200" indent="-228600" algn="l" defTabSz="914400" rtl="0" eaLnBrk="1" latinLnBrk="0" hangingPunct="1">
                    <a:lnSpc>
                      <a:spcPct val="100000"/>
                    </a:lnSpc>
                    <a:spcBef>
                      <a:spcPts val="500"/>
                    </a:spcBef>
                    <a:buClr>
                      <a:schemeClr val="tx2"/>
                    </a:buClr>
                    <a:buSzPct val="100000"/>
                    <a:buFont typeface="Roboto" panose="02000000000000000000" pitchFamily="2" charset="0"/>
                    <a:buChar char="―"/>
                    <a:defRPr sz="18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4pPr>
                  <a:lvl5pPr marL="2057400" indent="-228600" algn="l" defTabSz="914400" rtl="0" eaLnBrk="1" latinLnBrk="0" hangingPunct="1">
                    <a:lnSpc>
                      <a:spcPct val="100000"/>
                    </a:lnSpc>
                    <a:spcBef>
                      <a:spcPts val="500"/>
                    </a:spcBef>
                    <a:buClr>
                      <a:schemeClr val="tx2"/>
                    </a:buClr>
                    <a:buSzPct val="100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457200" lvl="1" indent="0">
                    <a:buNone/>
                  </a:pPr>
                  <a:r>
                    <a:rPr lang="en-US" sz="2000" b="1" u="sng"/>
                    <a:t>Cornell U./ </a:t>
                  </a:r>
                  <a:r>
                    <a:rPr lang="en-US" sz="2000" b="1" u="sng" err="1"/>
                    <a:t>EpiGenomics</a:t>
                  </a:r>
                  <a:r>
                    <a:rPr lang="en-US" sz="2000" b="1" u="sng"/>
                    <a:t> Core Lai Lab</a:t>
                  </a:r>
                </a:p>
                <a:p>
                  <a:pPr marL="457200" lvl="1" indent="0">
                    <a:buNone/>
                  </a:pPr>
                  <a:endParaRPr lang="en-US" sz="2000" u="sng"/>
                </a:p>
              </p:txBody>
            </p:sp>
            <p:sp>
              <p:nvSpPr>
                <p:cNvPr id="8" name="Content Placeholder 2">
                  <a:extLst>
                    <a:ext uri="{FF2B5EF4-FFF2-40B4-BE49-F238E27FC236}">
                      <a16:creationId xmlns:a16="http://schemas.microsoft.com/office/drawing/2014/main" id="{AE61D198-8F6A-557F-2E7F-888F36F1B3F0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3928700" y="2531597"/>
                  <a:ext cx="2275949" cy="1048608"/>
                </a:xfrm>
                <a:prstGeom prst="rect">
                  <a:avLst/>
                </a:prstGeom>
              </p:spPr>
              <p:txBody>
                <a:bodyPr vert="horz" lIns="0" tIns="0" rIns="0" bIns="0" rtlCol="0">
                  <a:noAutofit/>
                </a:bodyPr>
                <a:lstStyle>
                  <a:lvl1pPr marL="228600" indent="-228600" algn="l" defTabSz="914400" rtl="0" eaLnBrk="1" latinLnBrk="0" hangingPunct="1">
                    <a:lnSpc>
                      <a:spcPct val="100000"/>
                    </a:lnSpc>
                    <a:spcBef>
                      <a:spcPts val="1000"/>
                    </a:spcBef>
                    <a:buClr>
                      <a:schemeClr val="tx2"/>
                    </a:buClr>
                    <a:buSzPct val="95000"/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1pPr>
                  <a:lvl2pPr marL="685800" indent="-228600" algn="l" defTabSz="914400" rtl="0" eaLnBrk="1" latinLnBrk="0" hangingPunct="1">
                    <a:lnSpc>
                      <a:spcPct val="100000"/>
                    </a:lnSpc>
                    <a:spcBef>
                      <a:spcPts val="500"/>
                    </a:spcBef>
                    <a:buClr>
                      <a:schemeClr val="tx2"/>
                    </a:buClr>
                    <a:buSzPct val="100000"/>
                    <a:buFont typeface="Arial" panose="020B0604020202020204" pitchFamily="34" charset="0"/>
                    <a:buChar char="‒"/>
                    <a:defRPr sz="24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2pPr>
                  <a:lvl3pPr marL="1143000" indent="-228600" algn="l" defTabSz="914400" rtl="0" eaLnBrk="1" latinLnBrk="0" hangingPunct="1">
                    <a:lnSpc>
                      <a:spcPct val="100000"/>
                    </a:lnSpc>
                    <a:spcBef>
                      <a:spcPts val="500"/>
                    </a:spcBef>
                    <a:buClr>
                      <a:schemeClr val="tx2"/>
                    </a:buClr>
                    <a:buSzPct val="100000"/>
                    <a:buFont typeface="Roboto" panose="02000000000000000000" pitchFamily="2" charset="0"/>
                    <a:buChar char="•"/>
                    <a:defRPr sz="20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3pPr>
                  <a:lvl4pPr marL="1600200" indent="-228600" algn="l" defTabSz="914400" rtl="0" eaLnBrk="1" latinLnBrk="0" hangingPunct="1">
                    <a:lnSpc>
                      <a:spcPct val="100000"/>
                    </a:lnSpc>
                    <a:spcBef>
                      <a:spcPts val="500"/>
                    </a:spcBef>
                    <a:buClr>
                      <a:schemeClr val="tx2"/>
                    </a:buClr>
                    <a:buSzPct val="100000"/>
                    <a:buFont typeface="Roboto" panose="02000000000000000000" pitchFamily="2" charset="0"/>
                    <a:buChar char="―"/>
                    <a:defRPr sz="18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4pPr>
                  <a:lvl5pPr marL="2057400" indent="-228600" algn="l" defTabSz="914400" rtl="0" eaLnBrk="1" latinLnBrk="0" hangingPunct="1">
                    <a:lnSpc>
                      <a:spcPct val="100000"/>
                    </a:lnSpc>
                    <a:spcBef>
                      <a:spcPts val="500"/>
                    </a:spcBef>
                    <a:buClr>
                      <a:schemeClr val="tx2"/>
                    </a:buClr>
                    <a:buSzPct val="100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457200" lvl="1" indent="0">
                    <a:buNone/>
                  </a:pPr>
                  <a:r>
                    <a:rPr lang="en-US" sz="2000"/>
                    <a:t>Dr. William Lai</a:t>
                  </a:r>
                </a:p>
                <a:p>
                  <a:pPr marL="457200" lvl="1" indent="0">
                    <a:buNone/>
                  </a:pPr>
                  <a:r>
                    <a:rPr lang="en-US" sz="2000"/>
                    <a:t>Dr. Olivia Lang</a:t>
                  </a:r>
                </a:p>
                <a:p>
                  <a:pPr marL="457200" lvl="1" indent="0">
                    <a:buNone/>
                  </a:pPr>
                  <a:r>
                    <a:rPr lang="en-US" sz="2000"/>
                    <a:t>Justin Cha</a:t>
                  </a:r>
                </a:p>
              </p:txBody>
            </p:sp>
          </p:grpSp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599D9554-1F1D-5717-AC74-0EC34D0BA120}"/>
                  </a:ext>
                </a:extLst>
              </p:cNvPr>
              <p:cNvGrpSpPr/>
              <p:nvPr/>
            </p:nvGrpSpPr>
            <p:grpSpPr>
              <a:xfrm>
                <a:off x="8591780" y="1888265"/>
                <a:ext cx="3927178" cy="1902817"/>
                <a:chOff x="11612888" y="-540520"/>
                <a:chExt cx="3927178" cy="1902817"/>
              </a:xfrm>
            </p:grpSpPr>
            <p:sp>
              <p:nvSpPr>
                <p:cNvPr id="9" name="Content Placeholder 2">
                  <a:extLst>
                    <a:ext uri="{FF2B5EF4-FFF2-40B4-BE49-F238E27FC236}">
                      <a16:creationId xmlns:a16="http://schemas.microsoft.com/office/drawing/2014/main" id="{621BB09B-D294-881D-9649-7AB2EB57E881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1612888" y="-540520"/>
                  <a:ext cx="2838683" cy="274625"/>
                </a:xfrm>
                <a:prstGeom prst="rect">
                  <a:avLst/>
                </a:prstGeom>
              </p:spPr>
              <p:txBody>
                <a:bodyPr vert="horz" lIns="0" tIns="0" rIns="0" bIns="0" rtlCol="0">
                  <a:noAutofit/>
                </a:bodyPr>
                <a:lstStyle>
                  <a:lvl1pPr marL="228600" indent="-228600" algn="l" defTabSz="914400" rtl="0" eaLnBrk="1" latinLnBrk="0" hangingPunct="1">
                    <a:lnSpc>
                      <a:spcPct val="100000"/>
                    </a:lnSpc>
                    <a:spcBef>
                      <a:spcPts val="1000"/>
                    </a:spcBef>
                    <a:buClr>
                      <a:schemeClr val="tx2"/>
                    </a:buClr>
                    <a:buSzPct val="95000"/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1pPr>
                  <a:lvl2pPr marL="685800" indent="-228600" algn="l" defTabSz="914400" rtl="0" eaLnBrk="1" latinLnBrk="0" hangingPunct="1">
                    <a:lnSpc>
                      <a:spcPct val="100000"/>
                    </a:lnSpc>
                    <a:spcBef>
                      <a:spcPts val="500"/>
                    </a:spcBef>
                    <a:buClr>
                      <a:schemeClr val="tx2"/>
                    </a:buClr>
                    <a:buSzPct val="100000"/>
                    <a:buFont typeface="Arial" panose="020B0604020202020204" pitchFamily="34" charset="0"/>
                    <a:buChar char="‒"/>
                    <a:defRPr sz="24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2pPr>
                  <a:lvl3pPr marL="1143000" indent="-228600" algn="l" defTabSz="914400" rtl="0" eaLnBrk="1" latinLnBrk="0" hangingPunct="1">
                    <a:lnSpc>
                      <a:spcPct val="100000"/>
                    </a:lnSpc>
                    <a:spcBef>
                      <a:spcPts val="500"/>
                    </a:spcBef>
                    <a:buClr>
                      <a:schemeClr val="tx2"/>
                    </a:buClr>
                    <a:buSzPct val="100000"/>
                    <a:buFont typeface="Roboto" panose="02000000000000000000" pitchFamily="2" charset="0"/>
                    <a:buChar char="•"/>
                    <a:defRPr sz="20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3pPr>
                  <a:lvl4pPr marL="1600200" indent="-228600" algn="l" defTabSz="914400" rtl="0" eaLnBrk="1" latinLnBrk="0" hangingPunct="1">
                    <a:lnSpc>
                      <a:spcPct val="100000"/>
                    </a:lnSpc>
                    <a:spcBef>
                      <a:spcPts val="500"/>
                    </a:spcBef>
                    <a:buClr>
                      <a:schemeClr val="tx2"/>
                    </a:buClr>
                    <a:buSzPct val="100000"/>
                    <a:buFont typeface="Roboto" panose="02000000000000000000" pitchFamily="2" charset="0"/>
                    <a:buChar char="―"/>
                    <a:defRPr sz="18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4pPr>
                  <a:lvl5pPr marL="2057400" indent="-228600" algn="l" defTabSz="914400" rtl="0" eaLnBrk="1" latinLnBrk="0" hangingPunct="1">
                    <a:lnSpc>
                      <a:spcPct val="100000"/>
                    </a:lnSpc>
                    <a:spcBef>
                      <a:spcPts val="500"/>
                    </a:spcBef>
                    <a:buClr>
                      <a:schemeClr val="tx2"/>
                    </a:buClr>
                    <a:buSzPct val="100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457200" lvl="1" indent="0">
                    <a:buNone/>
                  </a:pPr>
                  <a:r>
                    <a:rPr lang="en-US" sz="2000" b="1" u="sng"/>
                    <a:t>Cornell U./Pugh Lab</a:t>
                  </a:r>
                </a:p>
              </p:txBody>
            </p:sp>
            <p:sp>
              <p:nvSpPr>
                <p:cNvPr id="10" name="Content Placeholder 2">
                  <a:extLst>
                    <a:ext uri="{FF2B5EF4-FFF2-40B4-BE49-F238E27FC236}">
                      <a16:creationId xmlns:a16="http://schemas.microsoft.com/office/drawing/2014/main" id="{417D11FB-8FF7-8934-4C7D-5DB0480B2411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1846992" y="-98717"/>
                  <a:ext cx="3693074" cy="1461014"/>
                </a:xfrm>
                <a:prstGeom prst="rect">
                  <a:avLst/>
                </a:prstGeom>
              </p:spPr>
              <p:txBody>
                <a:bodyPr vert="horz" lIns="0" tIns="0" rIns="0" bIns="0" rtlCol="0">
                  <a:noAutofit/>
                </a:bodyPr>
                <a:lstStyle>
                  <a:lvl1pPr marL="228600" indent="-228600" algn="l" defTabSz="914400" rtl="0" eaLnBrk="1" latinLnBrk="0" hangingPunct="1">
                    <a:lnSpc>
                      <a:spcPct val="100000"/>
                    </a:lnSpc>
                    <a:spcBef>
                      <a:spcPts val="1000"/>
                    </a:spcBef>
                    <a:buClr>
                      <a:schemeClr val="tx2"/>
                    </a:buClr>
                    <a:buSzPct val="95000"/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1pPr>
                  <a:lvl2pPr marL="685800" indent="-228600" algn="l" defTabSz="914400" rtl="0" eaLnBrk="1" latinLnBrk="0" hangingPunct="1">
                    <a:lnSpc>
                      <a:spcPct val="100000"/>
                    </a:lnSpc>
                    <a:spcBef>
                      <a:spcPts val="500"/>
                    </a:spcBef>
                    <a:buClr>
                      <a:schemeClr val="tx2"/>
                    </a:buClr>
                    <a:buSzPct val="100000"/>
                    <a:buFont typeface="Arial" panose="020B0604020202020204" pitchFamily="34" charset="0"/>
                    <a:buChar char="‒"/>
                    <a:defRPr sz="24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2pPr>
                  <a:lvl3pPr marL="1143000" indent="-228600" algn="l" defTabSz="914400" rtl="0" eaLnBrk="1" latinLnBrk="0" hangingPunct="1">
                    <a:lnSpc>
                      <a:spcPct val="100000"/>
                    </a:lnSpc>
                    <a:spcBef>
                      <a:spcPts val="500"/>
                    </a:spcBef>
                    <a:buClr>
                      <a:schemeClr val="tx2"/>
                    </a:buClr>
                    <a:buSzPct val="100000"/>
                    <a:buFont typeface="Roboto" panose="02000000000000000000" pitchFamily="2" charset="0"/>
                    <a:buChar char="•"/>
                    <a:defRPr sz="20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3pPr>
                  <a:lvl4pPr marL="1600200" indent="-228600" algn="l" defTabSz="914400" rtl="0" eaLnBrk="1" latinLnBrk="0" hangingPunct="1">
                    <a:lnSpc>
                      <a:spcPct val="100000"/>
                    </a:lnSpc>
                    <a:spcBef>
                      <a:spcPts val="500"/>
                    </a:spcBef>
                    <a:buClr>
                      <a:schemeClr val="tx2"/>
                    </a:buClr>
                    <a:buSzPct val="100000"/>
                    <a:buFont typeface="Roboto" panose="02000000000000000000" pitchFamily="2" charset="0"/>
                    <a:buChar char="―"/>
                    <a:defRPr sz="18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4pPr>
                  <a:lvl5pPr marL="2057400" indent="-228600" algn="l" defTabSz="914400" rtl="0" eaLnBrk="1" latinLnBrk="0" hangingPunct="1">
                    <a:lnSpc>
                      <a:spcPct val="100000"/>
                    </a:lnSpc>
                    <a:spcBef>
                      <a:spcPts val="500"/>
                    </a:spcBef>
                    <a:buClr>
                      <a:schemeClr val="tx2"/>
                    </a:buClr>
                    <a:buSzPct val="100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457200" lvl="1" indent="0">
                    <a:buNone/>
                  </a:pPr>
                  <a:r>
                    <a:rPr lang="en-US" sz="2000"/>
                    <a:t>Dr. </a:t>
                  </a:r>
                  <a:r>
                    <a:rPr lang="en-US" sz="2000" err="1"/>
                    <a:t>Ruihao</a:t>
                  </a:r>
                  <a:r>
                    <a:rPr lang="en-US" sz="2000"/>
                    <a:t> Li</a:t>
                  </a:r>
                </a:p>
                <a:p>
                  <a:pPr marL="457200" lvl="1" indent="0">
                    <a:buNone/>
                  </a:pPr>
                  <a:r>
                    <a:rPr lang="en-US" sz="2000"/>
                    <a:t>Zimo Zhu</a:t>
                  </a:r>
                </a:p>
                <a:p>
                  <a:pPr marL="457200" lvl="1" indent="0">
                    <a:buNone/>
                  </a:pPr>
                  <a:r>
                    <a:rPr lang="en-US" sz="2000"/>
                    <a:t>Kritika Grover</a:t>
                  </a:r>
                </a:p>
              </p:txBody>
            </p:sp>
          </p:grpSp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E719055C-285C-B661-8F29-77A4FD497B5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263799" y="3945243"/>
                <a:ext cx="2374622" cy="473368"/>
              </a:xfrm>
              <a:prstGeom prst="rect">
                <a:avLst/>
              </a:prstGeom>
            </p:spPr>
            <p:txBody>
              <a:bodyPr vert="horz" lIns="0" tIns="0" rIns="0" bIns="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tx2"/>
                  </a:buClr>
                  <a:buSzPct val="95000"/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Arial" panose="020B0604020202020204" pitchFamily="34" charset="0"/>
                  </a:defRPr>
                </a:lvl1pPr>
                <a:lvl2pPr marL="685800" indent="-2286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Clr>
                    <a:schemeClr val="tx2"/>
                  </a:buClr>
                  <a:buSzPct val="100000"/>
                  <a:buFont typeface="Arial" panose="020B0604020202020204" pitchFamily="34" charset="0"/>
                  <a:buChar char="‒"/>
                  <a:defRPr sz="2400" kern="120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Arial" panose="020B0604020202020204" pitchFamily="34" charset="0"/>
                  </a:defRPr>
                </a:lvl2pPr>
                <a:lvl3pPr marL="1143000" indent="-2286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Clr>
                    <a:schemeClr val="tx2"/>
                  </a:buClr>
                  <a:buSzPct val="100000"/>
                  <a:buFont typeface="Roboto" panose="02000000000000000000" pitchFamily="2" charset="0"/>
                  <a:buChar char="•"/>
                  <a:defRPr sz="2000" kern="120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Arial" panose="020B0604020202020204" pitchFamily="34" charset="0"/>
                  </a:defRPr>
                </a:lvl3pPr>
                <a:lvl4pPr marL="1600200" indent="-2286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Clr>
                    <a:schemeClr val="tx2"/>
                  </a:buClr>
                  <a:buSzPct val="100000"/>
                  <a:buFont typeface="Roboto" panose="02000000000000000000" pitchFamily="2" charset="0"/>
                  <a:buChar char="―"/>
                  <a:defRPr sz="1800" kern="120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Arial" panose="020B0604020202020204" pitchFamily="34" charset="0"/>
                  </a:defRPr>
                </a:lvl4pPr>
                <a:lvl5pPr marL="2057400" indent="-2286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Clr>
                    <a:schemeClr val="tx2"/>
                  </a:buClr>
                  <a:buSzPct val="100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Arial" panose="020B0604020202020204" pitchFamily="34" charset="0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457200" lvl="1" indent="0">
                  <a:buNone/>
                </a:pPr>
                <a:r>
                  <a:rPr lang="en-US" sz="2000"/>
                  <a:t>Gretta Kellogg</a:t>
                </a:r>
              </a:p>
            </p:txBody>
          </p:sp>
          <p:sp>
            <p:nvSpPr>
              <p:cNvPr id="18" name="Content Placeholder 2">
                <a:extLst>
                  <a:ext uri="{FF2B5EF4-FFF2-40B4-BE49-F238E27FC236}">
                    <a16:creationId xmlns:a16="http://schemas.microsoft.com/office/drawing/2014/main" id="{CE409A8A-2980-415A-4714-C63FCC31840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520367" y="3507092"/>
                <a:ext cx="4813836" cy="280346"/>
              </a:xfrm>
              <a:prstGeom prst="rect">
                <a:avLst/>
              </a:prstGeom>
            </p:spPr>
            <p:txBody>
              <a:bodyPr vert="horz" lIns="0" tIns="0" rIns="0" bIns="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tx2"/>
                  </a:buClr>
                  <a:buSzPct val="95000"/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Arial" panose="020B0604020202020204" pitchFamily="34" charset="0"/>
                  </a:defRPr>
                </a:lvl1pPr>
                <a:lvl2pPr marL="685800" indent="-2286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Clr>
                    <a:schemeClr val="tx2"/>
                  </a:buClr>
                  <a:buSzPct val="100000"/>
                  <a:buFont typeface="Arial" panose="020B0604020202020204" pitchFamily="34" charset="0"/>
                  <a:buChar char="‒"/>
                  <a:defRPr sz="2400" kern="120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Arial" panose="020B0604020202020204" pitchFamily="34" charset="0"/>
                  </a:defRPr>
                </a:lvl2pPr>
                <a:lvl3pPr marL="1143000" indent="-2286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Clr>
                    <a:schemeClr val="tx2"/>
                  </a:buClr>
                  <a:buSzPct val="100000"/>
                  <a:buFont typeface="Roboto" panose="02000000000000000000" pitchFamily="2" charset="0"/>
                  <a:buChar char="•"/>
                  <a:defRPr sz="2000" kern="120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Arial" panose="020B0604020202020204" pitchFamily="34" charset="0"/>
                  </a:defRPr>
                </a:lvl3pPr>
                <a:lvl4pPr marL="1600200" indent="-2286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Clr>
                    <a:schemeClr val="tx2"/>
                  </a:buClr>
                  <a:buSzPct val="100000"/>
                  <a:buFont typeface="Roboto" panose="02000000000000000000" pitchFamily="2" charset="0"/>
                  <a:buChar char="―"/>
                  <a:defRPr sz="1800" kern="120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Arial" panose="020B0604020202020204" pitchFamily="34" charset="0"/>
                  </a:defRPr>
                </a:lvl4pPr>
                <a:lvl5pPr marL="2057400" indent="-2286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Clr>
                    <a:schemeClr val="tx2"/>
                  </a:buClr>
                  <a:buSzPct val="100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Arial" panose="020B0604020202020204" pitchFamily="34" charset="0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457200" lvl="1" indent="0">
                  <a:buNone/>
                </a:pPr>
                <a:r>
                  <a:rPr lang="en-US" sz="2000" b="1" u="sng"/>
                  <a:t>UI/Adv. Drug and Gene Delivery Lab</a:t>
                </a:r>
              </a:p>
              <a:p>
                <a:pPr marL="457200" lvl="1" indent="0">
                  <a:buNone/>
                </a:pPr>
                <a:endParaRPr lang="en-US" sz="2000" b="1" u="sng"/>
              </a:p>
            </p:txBody>
          </p:sp>
          <p:sp>
            <p:nvSpPr>
              <p:cNvPr id="19" name="Content Placeholder 2">
                <a:extLst>
                  <a:ext uri="{FF2B5EF4-FFF2-40B4-BE49-F238E27FC236}">
                    <a16:creationId xmlns:a16="http://schemas.microsoft.com/office/drawing/2014/main" id="{AF2CE6F9-AE3C-AD92-AF97-50CCD971608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638421" y="3902644"/>
                <a:ext cx="2670756" cy="473368"/>
              </a:xfrm>
              <a:prstGeom prst="rect">
                <a:avLst/>
              </a:prstGeom>
            </p:spPr>
            <p:txBody>
              <a:bodyPr vert="horz" lIns="0" tIns="0" rIns="0" bIns="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tx2"/>
                  </a:buClr>
                  <a:buSzPct val="95000"/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Arial" panose="020B0604020202020204" pitchFamily="34" charset="0"/>
                  </a:defRPr>
                </a:lvl1pPr>
                <a:lvl2pPr marL="685800" indent="-2286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Clr>
                    <a:schemeClr val="tx2"/>
                  </a:buClr>
                  <a:buSzPct val="100000"/>
                  <a:buFont typeface="Arial" panose="020B0604020202020204" pitchFamily="34" charset="0"/>
                  <a:buChar char="‒"/>
                  <a:defRPr sz="2400" kern="120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Arial" panose="020B0604020202020204" pitchFamily="34" charset="0"/>
                  </a:defRPr>
                </a:lvl2pPr>
                <a:lvl3pPr marL="1143000" indent="-2286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Clr>
                    <a:schemeClr val="tx2"/>
                  </a:buClr>
                  <a:buSzPct val="100000"/>
                  <a:buFont typeface="Roboto" panose="02000000000000000000" pitchFamily="2" charset="0"/>
                  <a:buChar char="•"/>
                  <a:defRPr sz="2000" kern="120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Arial" panose="020B0604020202020204" pitchFamily="34" charset="0"/>
                  </a:defRPr>
                </a:lvl3pPr>
                <a:lvl4pPr marL="1600200" indent="-2286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Clr>
                    <a:schemeClr val="tx2"/>
                  </a:buClr>
                  <a:buSzPct val="100000"/>
                  <a:buFont typeface="Roboto" panose="02000000000000000000" pitchFamily="2" charset="0"/>
                  <a:buChar char="―"/>
                  <a:defRPr sz="1800" kern="120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Arial" panose="020B0604020202020204" pitchFamily="34" charset="0"/>
                  </a:defRPr>
                </a:lvl4pPr>
                <a:lvl5pPr marL="2057400" indent="-2286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Clr>
                    <a:schemeClr val="tx2"/>
                  </a:buClr>
                  <a:buSzPct val="100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Arial" panose="020B0604020202020204" pitchFamily="34" charset="0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457200" lvl="1" indent="0">
                  <a:buNone/>
                </a:pPr>
                <a:r>
                  <a:rPr lang="en-US" sz="2000"/>
                  <a:t>Esraa Mohamed</a:t>
                </a:r>
              </a:p>
            </p:txBody>
          </p:sp>
        </p:grpSp>
        <p:sp>
          <p:nvSpPr>
            <p:cNvPr id="21" name="Content Placeholder 2">
              <a:extLst>
                <a:ext uri="{FF2B5EF4-FFF2-40B4-BE49-F238E27FC236}">
                  <a16:creationId xmlns:a16="http://schemas.microsoft.com/office/drawing/2014/main" id="{6C823E90-35AA-12AC-E6AD-81D6934CB504}"/>
                </a:ext>
              </a:extLst>
            </p:cNvPr>
            <p:cNvSpPr txBox="1">
              <a:spLocks/>
            </p:cNvSpPr>
            <p:nvPr/>
          </p:nvSpPr>
          <p:spPr>
            <a:xfrm>
              <a:off x="4252063" y="3590966"/>
              <a:ext cx="2442548" cy="396792"/>
            </a:xfrm>
            <a:prstGeom prst="rect">
              <a:avLst/>
            </a:prstGeom>
          </p:spPr>
          <p:txBody>
            <a:bodyPr vert="horz" lIns="0" tIns="0" rIns="0" bIns="0" rtlCol="0">
              <a:noAutofit/>
            </a:bodyPr>
            <a:lstStyle>
              <a:lvl1pPr marL="2286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tx2"/>
                </a:buClr>
                <a:buSzPct val="95000"/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Arial" panose="020B0604020202020204" pitchFamily="34" charset="0"/>
                </a:defRPr>
              </a:lvl1pPr>
              <a:lvl2pPr marL="685800" indent="-228600" algn="l" defTabSz="914400" rtl="0" eaLnBrk="1" latinLnBrk="0" hangingPunct="1">
                <a:lnSpc>
                  <a:spcPct val="100000"/>
                </a:lnSpc>
                <a:spcBef>
                  <a:spcPts val="500"/>
                </a:spcBef>
                <a:buClr>
                  <a:schemeClr val="tx2"/>
                </a:buClr>
                <a:buSzPct val="100000"/>
                <a:buFont typeface="Arial" panose="020B0604020202020204" pitchFamily="34" charset="0"/>
                <a:buChar char="‒"/>
                <a:defRPr sz="24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Arial" panose="020B0604020202020204" pitchFamily="34" charset="0"/>
                </a:defRPr>
              </a:lvl2pPr>
              <a:lvl3pPr marL="1143000" indent="-228600" algn="l" defTabSz="914400" rtl="0" eaLnBrk="1" latinLnBrk="0" hangingPunct="1">
                <a:lnSpc>
                  <a:spcPct val="100000"/>
                </a:lnSpc>
                <a:spcBef>
                  <a:spcPts val="500"/>
                </a:spcBef>
                <a:buClr>
                  <a:schemeClr val="tx2"/>
                </a:buClr>
                <a:buSzPct val="100000"/>
                <a:buFont typeface="Roboto" panose="02000000000000000000" pitchFamily="2" charset="0"/>
                <a:buChar char="•"/>
                <a:defRPr sz="20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Arial" panose="020B0604020202020204" pitchFamily="34" charset="0"/>
                </a:defRPr>
              </a:lvl3pPr>
              <a:lvl4pPr marL="1600200" indent="-228600" algn="l" defTabSz="914400" rtl="0" eaLnBrk="1" latinLnBrk="0" hangingPunct="1">
                <a:lnSpc>
                  <a:spcPct val="100000"/>
                </a:lnSpc>
                <a:spcBef>
                  <a:spcPts val="500"/>
                </a:spcBef>
                <a:buClr>
                  <a:schemeClr val="tx2"/>
                </a:buClr>
                <a:buSzPct val="100000"/>
                <a:buFont typeface="Roboto" panose="02000000000000000000" pitchFamily="2" charset="0"/>
                <a:buChar char="―"/>
                <a:defRPr sz="1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Arial" panose="020B0604020202020204" pitchFamily="34" charset="0"/>
                </a:defRPr>
              </a:lvl4pPr>
              <a:lvl5pPr marL="2057400" indent="-228600" algn="l" defTabSz="914400" rtl="0" eaLnBrk="1" latinLnBrk="0" hangingPunct="1">
                <a:lnSpc>
                  <a:spcPct val="100000"/>
                </a:lnSpc>
                <a:spcBef>
                  <a:spcPts val="500"/>
                </a:spcBef>
                <a:buClr>
                  <a:schemeClr val="tx2"/>
                </a:buClr>
                <a:buSzPct val="100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Arial" panose="020B0604020202020204" pitchFamily="34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457200" lvl="1" indent="0">
                <a:buNone/>
              </a:pPr>
              <a:r>
                <a:rPr lang="en-US" sz="2000" b="1" u="sng"/>
                <a:t>Penn State ICDS</a:t>
              </a:r>
            </a:p>
          </p:txBody>
        </p:sp>
        <p:sp>
          <p:nvSpPr>
            <p:cNvPr id="24" name="Content Placeholder 2">
              <a:extLst>
                <a:ext uri="{FF2B5EF4-FFF2-40B4-BE49-F238E27FC236}">
                  <a16:creationId xmlns:a16="http://schemas.microsoft.com/office/drawing/2014/main" id="{DD6B2B65-23C8-C16D-13C1-25993E92CB43}"/>
                </a:ext>
              </a:extLst>
            </p:cNvPr>
            <p:cNvSpPr txBox="1">
              <a:spLocks/>
            </p:cNvSpPr>
            <p:nvPr/>
          </p:nvSpPr>
          <p:spPr>
            <a:xfrm>
              <a:off x="6418834" y="2415002"/>
              <a:ext cx="2442548" cy="1188715"/>
            </a:xfrm>
            <a:prstGeom prst="rect">
              <a:avLst/>
            </a:prstGeom>
          </p:spPr>
          <p:txBody>
            <a:bodyPr vert="horz" lIns="0" tIns="0" rIns="0" bIns="0" rtlCol="0">
              <a:noAutofit/>
            </a:bodyPr>
            <a:lstStyle>
              <a:lvl1pPr marL="2286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tx2"/>
                </a:buClr>
                <a:buSzPct val="95000"/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Arial" panose="020B0604020202020204" pitchFamily="34" charset="0"/>
                </a:defRPr>
              </a:lvl1pPr>
              <a:lvl2pPr marL="685800" indent="-228600" algn="l" defTabSz="914400" rtl="0" eaLnBrk="1" latinLnBrk="0" hangingPunct="1">
                <a:lnSpc>
                  <a:spcPct val="100000"/>
                </a:lnSpc>
                <a:spcBef>
                  <a:spcPts val="500"/>
                </a:spcBef>
                <a:buClr>
                  <a:schemeClr val="tx2"/>
                </a:buClr>
                <a:buSzPct val="100000"/>
                <a:buFont typeface="Arial" panose="020B0604020202020204" pitchFamily="34" charset="0"/>
                <a:buChar char="‒"/>
                <a:defRPr sz="24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Arial" panose="020B0604020202020204" pitchFamily="34" charset="0"/>
                </a:defRPr>
              </a:lvl2pPr>
              <a:lvl3pPr marL="1143000" indent="-228600" algn="l" defTabSz="914400" rtl="0" eaLnBrk="1" latinLnBrk="0" hangingPunct="1">
                <a:lnSpc>
                  <a:spcPct val="100000"/>
                </a:lnSpc>
                <a:spcBef>
                  <a:spcPts val="500"/>
                </a:spcBef>
                <a:buClr>
                  <a:schemeClr val="tx2"/>
                </a:buClr>
                <a:buSzPct val="100000"/>
                <a:buFont typeface="Roboto" panose="02000000000000000000" pitchFamily="2" charset="0"/>
                <a:buChar char="•"/>
                <a:defRPr sz="20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Arial" panose="020B0604020202020204" pitchFamily="34" charset="0"/>
                </a:defRPr>
              </a:lvl3pPr>
              <a:lvl4pPr marL="1600200" indent="-228600" algn="l" defTabSz="914400" rtl="0" eaLnBrk="1" latinLnBrk="0" hangingPunct="1">
                <a:lnSpc>
                  <a:spcPct val="100000"/>
                </a:lnSpc>
                <a:spcBef>
                  <a:spcPts val="500"/>
                </a:spcBef>
                <a:buClr>
                  <a:schemeClr val="tx2"/>
                </a:buClr>
                <a:buSzPct val="100000"/>
                <a:buFont typeface="Roboto" panose="02000000000000000000" pitchFamily="2" charset="0"/>
                <a:buChar char="―"/>
                <a:defRPr sz="1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Arial" panose="020B0604020202020204" pitchFamily="34" charset="0"/>
                </a:defRPr>
              </a:lvl4pPr>
              <a:lvl5pPr marL="2057400" indent="-228600" algn="l" defTabSz="914400" rtl="0" eaLnBrk="1" latinLnBrk="0" hangingPunct="1">
                <a:lnSpc>
                  <a:spcPct val="100000"/>
                </a:lnSpc>
                <a:spcBef>
                  <a:spcPts val="500"/>
                </a:spcBef>
                <a:buClr>
                  <a:schemeClr val="tx2"/>
                </a:buClr>
                <a:buSzPct val="100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Arial" panose="020B0604020202020204" pitchFamily="34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457200" lvl="1" indent="0">
                <a:buNone/>
              </a:pPr>
              <a:r>
                <a:rPr lang="en-US" sz="2000"/>
                <a:t>Amy Lyndaker</a:t>
              </a:r>
            </a:p>
            <a:p>
              <a:pPr marL="457200" lvl="1" indent="0">
                <a:buNone/>
              </a:pPr>
              <a:r>
                <a:rPr lang="en-US" sz="2000"/>
                <a:t>Devin </a:t>
              </a:r>
              <a:r>
                <a:rPr lang="en-US" sz="2000" err="1"/>
                <a:t>Mellini</a:t>
              </a:r>
              <a:endParaRPr lang="en-US" sz="2000"/>
            </a:p>
            <a:p>
              <a:pPr marL="457200" lvl="1" indent="0">
                <a:buNone/>
              </a:pPr>
              <a:r>
                <a:rPr lang="en-US" sz="2000"/>
                <a:t>Catie </a:t>
              </a:r>
              <a:r>
                <a:rPr lang="en-US" sz="2000" err="1"/>
                <a:t>Smugereski</a:t>
              </a:r>
              <a:endParaRPr lang="en-US" sz="2000"/>
            </a:p>
            <a:p>
              <a:pPr marL="457200" lvl="1" indent="0">
                <a:buNone/>
              </a:pPr>
              <a:endParaRPr lang="en-US" sz="2000"/>
            </a:p>
          </p:txBody>
        </p:sp>
      </p:grp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C081BF74-DE26-4691-178C-6EDAA0BA996D}"/>
              </a:ext>
            </a:extLst>
          </p:cNvPr>
          <p:cNvSpPr txBox="1">
            <a:spLocks/>
          </p:cNvSpPr>
          <p:nvPr/>
        </p:nvSpPr>
        <p:spPr>
          <a:xfrm>
            <a:off x="3991356" y="4539063"/>
            <a:ext cx="3184610" cy="4184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―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None/>
            </a:pPr>
            <a:r>
              <a:rPr lang="en-US" sz="2000" b="1" u="sng"/>
              <a:t>Special Thanks/LANL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127985FB-7E48-A21D-9327-954C9CE9948F}"/>
              </a:ext>
            </a:extLst>
          </p:cNvPr>
          <p:cNvSpPr txBox="1">
            <a:spLocks/>
          </p:cNvSpPr>
          <p:nvPr/>
        </p:nvSpPr>
        <p:spPr>
          <a:xfrm>
            <a:off x="4652900" y="4935854"/>
            <a:ext cx="3119500" cy="49801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―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None/>
            </a:pPr>
            <a:r>
              <a:rPr lang="en-US" sz="2000"/>
              <a:t>Patrick Diehl</a:t>
            </a:r>
          </a:p>
          <a:p>
            <a:pPr marL="457200" lvl="1" indent="0">
              <a:buNone/>
            </a:pPr>
            <a:r>
              <a:rPr lang="en-US" sz="2000"/>
              <a:t>Philipp Edelmann</a:t>
            </a:r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DC314FCF-4E84-C9EA-A9B3-E32B348B849D}"/>
              </a:ext>
            </a:extLst>
          </p:cNvPr>
          <p:cNvSpPr txBox="1">
            <a:spLocks/>
          </p:cNvSpPr>
          <p:nvPr/>
        </p:nvSpPr>
        <p:spPr>
          <a:xfrm>
            <a:off x="6862700" y="4935853"/>
            <a:ext cx="3119500" cy="49801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―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None/>
            </a:pPr>
            <a:r>
              <a:rPr lang="en-US" sz="2000" dirty="0"/>
              <a:t>Hailey Marie Lloyd</a:t>
            </a:r>
          </a:p>
        </p:txBody>
      </p:sp>
      <p:pic>
        <p:nvPicPr>
          <p:cNvPr id="27" name="Picture 2">
            <a:extLst>
              <a:ext uri="{FF2B5EF4-FFF2-40B4-BE49-F238E27FC236}">
                <a16:creationId xmlns:a16="http://schemas.microsoft.com/office/drawing/2014/main" id="{3991D89F-9528-05F4-A548-26751AC6BA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0166" y="5635102"/>
            <a:ext cx="1560124" cy="7176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0478379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E44D6-DBC5-B97F-9BD9-A6CDF4BB76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08764" y="2994455"/>
            <a:ext cx="2574472" cy="869089"/>
          </a:xfrm>
        </p:spPr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78AD04-4AFE-5049-3404-BD39DDA7144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29835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IOWA BRAND COLORS">
      <a:dk1>
        <a:srgbClr val="000000"/>
      </a:dk1>
      <a:lt1>
        <a:srgbClr val="FFFFFF"/>
      </a:lt1>
      <a:dk2>
        <a:srgbClr val="62666A"/>
      </a:dk2>
      <a:lt2>
        <a:srgbClr val="BBBCBC"/>
      </a:lt2>
      <a:accent1>
        <a:srgbClr val="FFCD00"/>
      </a:accent1>
      <a:accent2>
        <a:srgbClr val="616669"/>
      </a:accent2>
      <a:accent3>
        <a:srgbClr val="BBBCBC"/>
      </a:accent3>
      <a:accent4>
        <a:srgbClr val="00A9E0"/>
      </a:accent4>
      <a:accent5>
        <a:srgbClr val="00AF66"/>
      </a:accent5>
      <a:accent6>
        <a:srgbClr val="FF8200"/>
      </a:accent6>
      <a:hlink>
        <a:srgbClr val="00558C"/>
      </a:hlink>
      <a:folHlink>
        <a:srgbClr val="636669"/>
      </a:folHlink>
    </a:clrScheme>
    <a:fontScheme name="University of Iowa">
      <a:majorFont>
        <a:latin typeface="Roboto"/>
        <a:ea typeface=""/>
        <a:cs typeface=""/>
      </a:majorFont>
      <a:minorFont>
        <a:latin typeface="Robot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6A04F62C455FF4DAA3519D26B9045B8" ma:contentTypeVersion="18" ma:contentTypeDescription="Create a new document." ma:contentTypeScope="" ma:versionID="67107b62173fe4461d23b2530e5f303d">
  <xsd:schema xmlns:xsd="http://www.w3.org/2001/XMLSchema" xmlns:xs="http://www.w3.org/2001/XMLSchema" xmlns:p="http://schemas.microsoft.com/office/2006/metadata/properties" xmlns:ns3="51508d77-5234-4dc4-a286-4ae4c9d349ea" xmlns:ns4="dc196e29-963a-419b-96b7-986ed0fb11b1" targetNamespace="http://schemas.microsoft.com/office/2006/metadata/properties" ma:root="true" ma:fieldsID="b6a8d05dafcc3f2edc93078eb0c718cb" ns3:_="" ns4:_="">
    <xsd:import namespace="51508d77-5234-4dc4-a286-4ae4c9d349ea"/>
    <xsd:import namespace="dc196e29-963a-419b-96b7-986ed0fb11b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AutoKeyPoints" minOccurs="0"/>
                <xsd:element ref="ns3:MediaServiceKeyPoints" minOccurs="0"/>
                <xsd:element ref="ns3:MediaLengthInSeconds" minOccurs="0"/>
                <xsd:element ref="ns3:MediaServiceOCR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Location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1508d77-5234-4dc4-a286-4ae4c9d349e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4" nillable="true" ma:displayName="Tags" ma:internalName="MediaServiceAutoTags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_activity" ma:index="21" nillable="true" ma:displayName="_activity" ma:hidden="true" ma:internalName="_activity">
      <xsd:simpleType>
        <xsd:restriction base="dms:Note"/>
      </xsd:simpleType>
    </xsd:element>
    <xsd:element name="MediaServiceObjectDetectorVersions" ma:index="2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2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Location" ma:index="24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c196e29-963a-419b-96b7-986ed0fb11b1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51508d77-5234-4dc4-a286-4ae4c9d349ea" xsi:nil="true"/>
  </documentManagement>
</p:properties>
</file>

<file path=customXml/itemProps1.xml><?xml version="1.0" encoding="utf-8"?>
<ds:datastoreItem xmlns:ds="http://schemas.openxmlformats.org/officeDocument/2006/customXml" ds:itemID="{7597162E-1F7C-4D28-90B3-BA67B494465C}">
  <ds:schemaRefs>
    <ds:schemaRef ds:uri="51508d77-5234-4dc4-a286-4ae4c9d349ea"/>
    <ds:schemaRef ds:uri="dc196e29-963a-419b-96b7-986ed0fb11b1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A14B8143-C3D6-460D-830C-A8DBEE85511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97FFD54-27B0-415C-8654-D843242BD071}">
  <ds:schemaRefs>
    <ds:schemaRef ds:uri="http://schemas.microsoft.com/office/2006/documentManagement/types"/>
    <ds:schemaRef ds:uri="http://purl.org/dc/elements/1.1/"/>
    <ds:schemaRef ds:uri="http://schemas.openxmlformats.org/package/2006/metadata/core-properties"/>
    <ds:schemaRef ds:uri="http://purl.org/dc/dcmitype/"/>
    <ds:schemaRef ds:uri="http://schemas.microsoft.com/office/infopath/2007/PartnerControls"/>
    <ds:schemaRef ds:uri="http://purl.org/dc/terms/"/>
    <ds:schemaRef ds:uri="51508d77-5234-4dc4-a286-4ae4c9d349ea"/>
    <ds:schemaRef ds:uri="dc196e29-963a-419b-96b7-986ed0fb11b1"/>
    <ds:schemaRef ds:uri="http://schemas.microsoft.com/office/2006/metadata/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133</TotalTime>
  <Words>1698</Words>
  <Application>Microsoft Office PowerPoint</Application>
  <PresentationFormat>Widescreen</PresentationFormat>
  <Paragraphs>345</Paragraphs>
  <Slides>57</Slides>
  <Notes>9</Notes>
  <HiddenSlides>10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2" baseType="lpstr">
      <vt:lpstr>Arial</vt:lpstr>
      <vt:lpstr>Calibri</vt:lpstr>
      <vt:lpstr>Roboto</vt:lpstr>
      <vt:lpstr>Roboto Black</vt:lpstr>
      <vt:lpstr>Office Theme</vt:lpstr>
      <vt:lpstr>Building Safe &amp; Resource Efficient NN through architectural collapse</vt:lpstr>
      <vt:lpstr>The Big Picture</vt:lpstr>
      <vt:lpstr>One Problem, Four Parts</vt:lpstr>
      <vt:lpstr>Deployable Security</vt:lpstr>
      <vt:lpstr>Deployable Security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Deployable Security</vt:lpstr>
      <vt:lpstr>PowerPoint Presentation</vt:lpstr>
      <vt:lpstr>Individual model adversarial attacks</vt:lpstr>
      <vt:lpstr>Increased Data Complexity </vt:lpstr>
      <vt:lpstr>Increased Data Complexity</vt:lpstr>
      <vt:lpstr>Individual model adversarial attacks</vt:lpstr>
      <vt:lpstr>Individual model adversarial attacks</vt:lpstr>
      <vt:lpstr>How much perturbation is required to poison a true label?</vt:lpstr>
      <vt:lpstr>PowerPoint Presentation</vt:lpstr>
      <vt:lpstr>How well does targeted poison transfer?</vt:lpstr>
      <vt:lpstr>Real world applications of untargeted attack</vt:lpstr>
      <vt:lpstr>What about untargeted attacks?</vt:lpstr>
      <vt:lpstr>One Problem, Four Parts</vt:lpstr>
      <vt:lpstr>Network Efficiency  </vt:lpstr>
      <vt:lpstr>Unstructured pruning with IMP</vt:lpstr>
      <vt:lpstr>PowerPoint Presentation</vt:lpstr>
      <vt:lpstr>Related Works</vt:lpstr>
      <vt:lpstr>PowerPoint Presentation</vt:lpstr>
      <vt:lpstr>Models/Datasets</vt:lpstr>
      <vt:lpstr>Preferential Pruning of Deep Layers</vt:lpstr>
      <vt:lpstr>Preferential Pruning of Deep Layers</vt:lpstr>
      <vt:lpstr>Persistence of Sparse Neurons</vt:lpstr>
      <vt:lpstr>Persistence of Sparse Neurons</vt:lpstr>
      <vt:lpstr>Stable Neuron-Level Sensitivity</vt:lpstr>
      <vt:lpstr>Preservation of Feature Representations</vt:lpstr>
      <vt:lpstr>Preservation of Feature Representations</vt:lpstr>
      <vt:lpstr>What internal changes occur when networks are pruned?</vt:lpstr>
      <vt:lpstr>What happens to the network after pruning?</vt:lpstr>
      <vt:lpstr>One Problem, Four Parts</vt:lpstr>
      <vt:lpstr>"Blind" Pruning vs. Structural Insight</vt:lpstr>
      <vt:lpstr>Zero-Shot Heuristic Profiling</vt:lpstr>
      <vt:lpstr>Layer-by-Layer Collapse</vt:lpstr>
      <vt:lpstr>Preliminary Results</vt:lpstr>
      <vt:lpstr>Activation Variance Heuristic</vt:lpstr>
      <vt:lpstr>Legacy Architectures</vt:lpstr>
      <vt:lpstr>VGG-16</vt:lpstr>
      <vt:lpstr>InceptionNet</vt:lpstr>
      <vt:lpstr>Legacy Architectures </vt:lpstr>
      <vt:lpstr>Resource Efficient Networks</vt:lpstr>
      <vt:lpstr>MobileNet </vt:lpstr>
      <vt:lpstr>MobileNet </vt:lpstr>
      <vt:lpstr>Key take aways</vt:lpstr>
      <vt:lpstr>One Problem, Four Parts</vt:lpstr>
      <vt:lpstr>Where are we?</vt:lpstr>
      <vt:lpstr>How Safe and Deployable are Resource Efficient Neural Network?</vt:lpstr>
      <vt:lpstr>Acknowledgements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jamil-gafur@uiowa.edu</dc:creator>
  <cp:lastModifiedBy>Gafur, Jamil</cp:lastModifiedBy>
  <cp:revision>315</cp:revision>
  <dcterms:created xsi:type="dcterms:W3CDTF">2020-01-21T18:13:39Z</dcterms:created>
  <dcterms:modified xsi:type="dcterms:W3CDTF">2026-02-04T17:14:27Z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0x01010086A04F62C455FF4DAA3519D26B9045B8</vt:lpwstr>
  </property>
</Properties>
</file>